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8" d="100"/>
          <a:sy n="98" d="100"/>
        </p:scale>
        <p:origin x="10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Days</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E47C-4C79-A5F6-16F702ED3DA2}"/>
              </c:ext>
            </c:extLst>
          </c:dPt>
          <c:dPt>
            <c:idx val="1"/>
            <c:invertIfNegative val="0"/>
            <c:bubble3D val="0"/>
            <c:spPr>
              <a:solidFill>
                <a:srgbClr val="D98A0B"/>
              </a:solidFill>
              <a:effectLst/>
            </c:spPr>
            <c:extLst>
              <c:ext xmlns:c16="http://schemas.microsoft.com/office/drawing/2014/chart" uri="{C3380CC4-5D6E-409C-BE32-E72D297353CC}">
                <c16:uniqueId val="{00000003-E47C-4C79-A5F6-16F702ED3DA2}"/>
              </c:ext>
            </c:extLst>
          </c:dPt>
          <c:dPt>
            <c:idx val="2"/>
            <c:invertIfNegative val="0"/>
            <c:bubble3D val="0"/>
            <c:spPr>
              <a:solidFill>
                <a:srgbClr val="2E8B57"/>
              </a:solidFill>
              <a:effectLst/>
            </c:spPr>
            <c:extLst>
              <c:ext xmlns:c16="http://schemas.microsoft.com/office/drawing/2014/chart" uri="{C3380CC4-5D6E-409C-BE32-E72D297353CC}">
                <c16:uniqueId val="{00000005-E47C-4C79-A5F6-16F702ED3DA2}"/>
              </c:ext>
            </c:extLst>
          </c:dPt>
          <c:dLbls>
            <c:numFmt formatCode="0.0" sourceLinked="0"/>
            <c:spPr>
              <a:noFill/>
              <a:ln>
                <a:noFill/>
              </a:ln>
              <a:effectLst/>
            </c:spPr>
            <c:txPr>
              <a:bodyPr/>
              <a:lstStyle/>
              <a:p>
                <a:pPr>
                  <a:defRPr sz="1300" b="1" i="0" u="none" strike="noStrike">
                    <a:solidFill>
                      <a:srgbClr val="0E2541"/>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High</c:v>
                </c:pt>
                <c:pt idx="1">
                  <c:v>Medium</c:v>
                </c:pt>
                <c:pt idx="2">
                  <c:v>Low</c:v>
                </c:pt>
              </c:strCache>
            </c:strRef>
          </c:cat>
          <c:val>
            <c:numRef>
              <c:f>Sheet1!$B$2:$B$4</c:f>
              <c:numCache>
                <c:formatCode>General</c:formatCode>
                <c:ptCount val="3"/>
                <c:pt idx="0">
                  <c:v>11.25</c:v>
                </c:pt>
                <c:pt idx="1">
                  <c:v>15.13</c:v>
                </c:pt>
                <c:pt idx="2">
                  <c:v>12.86</c:v>
                </c:pt>
              </c:numCache>
            </c:numRef>
          </c:val>
          <c:extLst>
            <c:ext xmlns:c16="http://schemas.microsoft.com/office/drawing/2014/chart" uri="{C3380CC4-5D6E-409C-BE32-E72D297353CC}">
              <c16:uniqueId val="{00000006-E47C-4C79-A5F6-16F702ED3DA2}"/>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B"/>
                </a:solidFill>
                <a:latin typeface="Segoe UI"/>
              </a:defRPr>
            </a:pPr>
            <a:endParaRPr lang="en-US"/>
          </a:p>
        </c:txPr>
        <c:crossAx val="2094734552"/>
        <c:crosses val="autoZero"/>
        <c:auto val="1"/>
        <c:lblAlgn val="ctr"/>
        <c:lblOffset val="100"/>
        <c:noMultiLvlLbl val="1"/>
      </c:catAx>
      <c:valAx>
        <c:axId val="2094734552"/>
        <c:scaling>
          <c:orientation val="minMax"/>
          <c:max val="18"/>
          <c:min val="0"/>
        </c:scaling>
        <c:delete val="1"/>
        <c:axPos val="l"/>
        <c:numFmt formatCode="General" sourceLinked="0"/>
        <c:majorTickMark val="out"/>
        <c:minorTickMark val="none"/>
        <c:tickLblPos val="nextTo"/>
        <c:crossAx val="2094734554"/>
        <c:crosses val="autoZero"/>
        <c:crossBetween val="between"/>
      </c:valAx>
      <c:spPr>
        <a:solidFill>
          <a:srgbClr val="F6F9FC"/>
        </a:solidFill>
        <a:ln>
          <a:noFill/>
        </a:ln>
        <a:effectLst/>
      </c:spPr>
    </c:plotArea>
    <c:plotVisOnly val="1"/>
    <c:dispBlanksAs val="span"/>
    <c:showDLblsOverMax val="1"/>
  </c:chart>
  <c:spPr>
    <a:solidFill>
      <a:srgbClr val="F6F9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On-time %</c:v>
                </c:pt>
              </c:strCache>
            </c:strRef>
          </c:tx>
          <c:spPr>
            <a:solidFill>
              <a:srgbClr val="1F4E79"/>
            </a:solidFill>
            <a:effectLst/>
          </c:spPr>
          <c:invertIfNegative val="0"/>
          <c:dPt>
            <c:idx val="0"/>
            <c:invertIfNegative val="0"/>
            <c:bubble3D val="0"/>
            <c:extLst>
              <c:ext xmlns:c16="http://schemas.microsoft.com/office/drawing/2014/chart" uri="{C3380CC4-5D6E-409C-BE32-E72D297353CC}">
                <c16:uniqueId val="{00000001-C1B7-4B60-8685-E323D3BDB6AC}"/>
              </c:ext>
            </c:extLst>
          </c:dPt>
          <c:dPt>
            <c:idx val="1"/>
            <c:invertIfNegative val="0"/>
            <c:bubble3D val="0"/>
            <c:spPr>
              <a:solidFill>
                <a:srgbClr val="2E6CA4"/>
              </a:solidFill>
              <a:effectLst/>
            </c:spPr>
            <c:extLst>
              <c:ext xmlns:c16="http://schemas.microsoft.com/office/drawing/2014/chart" uri="{C3380CC4-5D6E-409C-BE32-E72D297353CC}">
                <c16:uniqueId val="{00000003-C1B7-4B60-8685-E323D3BDB6AC}"/>
              </c:ext>
            </c:extLst>
          </c:dPt>
          <c:dPt>
            <c:idx val="2"/>
            <c:invertIfNegative val="0"/>
            <c:bubble3D val="0"/>
            <c:spPr>
              <a:solidFill>
                <a:srgbClr val="5B9BD5"/>
              </a:solidFill>
              <a:effectLst/>
            </c:spPr>
            <c:extLst>
              <c:ext xmlns:c16="http://schemas.microsoft.com/office/drawing/2014/chart" uri="{C3380CC4-5D6E-409C-BE32-E72D297353CC}">
                <c16:uniqueId val="{00000005-C1B7-4B60-8685-E323D3BDB6AC}"/>
              </c:ext>
            </c:extLst>
          </c:dPt>
          <c:dLbls>
            <c:numFmt formatCode="0.0" sourceLinked="0"/>
            <c:spPr>
              <a:noFill/>
              <a:ln>
                <a:noFill/>
              </a:ln>
              <a:effectLst/>
            </c:spPr>
            <c:txPr>
              <a:bodyPr/>
              <a:lstStyle/>
              <a:p>
                <a:pPr>
                  <a:defRPr sz="1200" b="1" i="0" u="none" strike="noStrike">
                    <a:solidFill>
                      <a:srgbClr val="0E2541"/>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BIND567</c:v>
                </c:pt>
                <c:pt idx="1">
                  <c:v>CARB123</c:v>
                </c:pt>
                <c:pt idx="2">
                  <c:v>COAT890</c:v>
                </c:pt>
              </c:strCache>
            </c:strRef>
          </c:cat>
          <c:val>
            <c:numRef>
              <c:f>Sheet1!$B$2:$B$4</c:f>
              <c:numCache>
                <c:formatCode>General</c:formatCode>
                <c:ptCount val="3"/>
                <c:pt idx="0">
                  <c:v>99</c:v>
                </c:pt>
                <c:pt idx="1">
                  <c:v>90.25</c:v>
                </c:pt>
                <c:pt idx="2">
                  <c:v>84.2</c:v>
                </c:pt>
              </c:numCache>
            </c:numRef>
          </c:val>
          <c:extLst>
            <c:ext xmlns:c16="http://schemas.microsoft.com/office/drawing/2014/chart" uri="{C3380CC4-5D6E-409C-BE32-E72D297353CC}">
              <c16:uniqueId val="{00000006-C1B7-4B60-8685-E323D3BDB6A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E2541"/>
                </a:solidFill>
                <a:latin typeface="Segoe UI"/>
              </a:defRPr>
            </a:pPr>
            <a:endParaRPr lang="en-US"/>
          </a:p>
        </c:txPr>
        <c:crossAx val="2094734552"/>
        <c:crosses val="autoZero"/>
        <c:auto val="1"/>
        <c:lblAlgn val="ctr"/>
        <c:lblOffset val="100"/>
        <c:noMultiLvlLbl val="1"/>
      </c:catAx>
      <c:valAx>
        <c:axId val="2094734552"/>
        <c:scaling>
          <c:orientation val="minMax"/>
          <c:max val="118"/>
          <c:min val="0"/>
        </c:scaling>
        <c:delete val="1"/>
        <c:axPos val="b"/>
        <c:numFmt formatCode="General" sourceLinked="0"/>
        <c:majorTickMark val="out"/>
        <c:minorTickMark val="none"/>
        <c:tickLblPos val="low"/>
        <c:crossAx val="2094734554"/>
        <c:crosses val="autoZero"/>
        <c:crossBetween val="between"/>
      </c:valAx>
      <c:spPr>
        <a:solidFill>
          <a:srgbClr val="F6F9FC"/>
        </a:solidFill>
        <a:ln>
          <a:noFill/>
        </a:ln>
        <a:effectLst/>
      </c:spPr>
    </c:plotArea>
    <c:plotVisOnly val="1"/>
    <c:dispBlanksAs val="span"/>
    <c:showDLblsOverMax val="1"/>
  </c:chart>
  <c:spPr>
    <a:solidFill>
      <a:srgbClr val="F6F9F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reliability %</c:v>
                </c:pt>
              </c:strCache>
            </c:strRef>
          </c:tx>
          <c:spPr>
            <a:solidFill>
              <a:srgbClr val="1F4E79"/>
            </a:solidFill>
            <a:effectLst/>
          </c:spPr>
          <c:invertIfNegative val="0"/>
          <c:dLbls>
            <c:numFmt formatCode="#,##0" sourceLinked="0"/>
            <c:spPr>
              <a:noFill/>
              <a:ln>
                <a:noFill/>
              </a:ln>
              <a:effectLst/>
            </c:spPr>
            <c:txPr>
              <a:bodyPr/>
              <a:lstStyle/>
              <a:p>
                <a:pPr>
                  <a:defRPr sz="900" b="1" i="0" u="none" strike="noStrike">
                    <a:solidFill>
                      <a:srgbClr val="0E2541"/>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EcoSupply</c:v>
                </c:pt>
                <c:pt idx="1">
                  <c:v>RawMatPlus</c:v>
                </c:pt>
                <c:pt idx="2">
                  <c:v>GlobalChem</c:v>
                </c:pt>
                <c:pt idx="3">
                  <c:v>NextGen</c:v>
                </c:pt>
                <c:pt idx="4">
                  <c:v>PrimeLog.</c:v>
                </c:pt>
              </c:strCache>
            </c:strRef>
          </c:cat>
          <c:val>
            <c:numRef>
              <c:f>Sheet1!$B$2:$B$6</c:f>
              <c:numCache>
                <c:formatCode>General</c:formatCode>
                <c:ptCount val="5"/>
                <c:pt idx="0">
                  <c:v>93.2</c:v>
                </c:pt>
                <c:pt idx="1">
                  <c:v>92.85</c:v>
                </c:pt>
                <c:pt idx="2">
                  <c:v>92.56</c:v>
                </c:pt>
                <c:pt idx="3">
                  <c:v>91.82</c:v>
                </c:pt>
                <c:pt idx="4">
                  <c:v>91.43</c:v>
                </c:pt>
              </c:numCache>
            </c:numRef>
          </c:val>
          <c:extLst>
            <c:ext xmlns:c16="http://schemas.microsoft.com/office/drawing/2014/chart" uri="{C3380CC4-5D6E-409C-BE32-E72D297353CC}">
              <c16:uniqueId val="{00000000-70F1-4ABE-B51C-70DD2223D824}"/>
            </c:ext>
          </c:extLst>
        </c:ser>
        <c:ser>
          <c:idx val="1"/>
          <c:order val="1"/>
          <c:tx>
            <c:strRef>
              <c:f>Sheet1!$C$1</c:f>
              <c:strCache>
                <c:ptCount val="1"/>
                <c:pt idx="0">
                  <c:v>Avg on-time %</c:v>
                </c:pt>
              </c:strCache>
            </c:strRef>
          </c:tx>
          <c:spPr>
            <a:solidFill>
              <a:srgbClr val="5B9BD5"/>
            </a:solidFill>
            <a:effectLst/>
          </c:spPr>
          <c:invertIfNegative val="0"/>
          <c:dLbls>
            <c:numFmt formatCode="#,##0" sourceLinked="0"/>
            <c:spPr>
              <a:noFill/>
              <a:ln>
                <a:noFill/>
              </a:ln>
              <a:effectLst/>
            </c:spPr>
            <c:txPr>
              <a:bodyPr/>
              <a:lstStyle/>
              <a:p>
                <a:pPr>
                  <a:defRPr sz="900" b="1" i="0" u="none" strike="noStrike">
                    <a:solidFill>
                      <a:srgbClr val="0E2541"/>
                    </a:solidFill>
                    <a:latin typeface="Segoe U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EcoSupply</c:v>
                </c:pt>
                <c:pt idx="1">
                  <c:v>RawMatPlus</c:v>
                </c:pt>
                <c:pt idx="2">
                  <c:v>GlobalChem</c:v>
                </c:pt>
                <c:pt idx="3">
                  <c:v>NextGen</c:v>
                </c:pt>
                <c:pt idx="4">
                  <c:v>PrimeLog.</c:v>
                </c:pt>
              </c:strCache>
            </c:strRef>
          </c:cat>
          <c:val>
            <c:numRef>
              <c:f>Sheet1!$C$2:$C$6</c:f>
              <c:numCache>
                <c:formatCode>General</c:formatCode>
                <c:ptCount val="5"/>
                <c:pt idx="0">
                  <c:v>87.9</c:v>
                </c:pt>
                <c:pt idx="1">
                  <c:v>90.62</c:v>
                </c:pt>
                <c:pt idx="2">
                  <c:v>90.89</c:v>
                </c:pt>
                <c:pt idx="3">
                  <c:v>91.55</c:v>
                </c:pt>
                <c:pt idx="4">
                  <c:v>88</c:v>
                </c:pt>
              </c:numCache>
            </c:numRef>
          </c:val>
          <c:extLst>
            <c:ext xmlns:c16="http://schemas.microsoft.com/office/drawing/2014/chart" uri="{C3380CC4-5D6E-409C-BE32-E72D297353CC}">
              <c16:uniqueId val="{00000001-70F1-4ABE-B51C-70DD2223D824}"/>
            </c:ext>
          </c:extLst>
        </c:ser>
        <c:dLbls>
          <c:showLegendKey val="0"/>
          <c:showVal val="1"/>
          <c:showCatName val="0"/>
          <c:showSerName val="0"/>
          <c:showPercent val="0"/>
          <c:showBubbleSize val="0"/>
        </c:dLbls>
        <c:gapWidth val="40"/>
        <c:overlap val="-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0E2541"/>
                </a:solidFill>
                <a:latin typeface="Segoe UI"/>
              </a:defRPr>
            </a:pPr>
            <a:endParaRPr lang="en-US"/>
          </a:p>
        </c:txPr>
        <c:crossAx val="2094734552"/>
        <c:crosses val="autoZero"/>
        <c:auto val="1"/>
        <c:lblAlgn val="ctr"/>
        <c:lblOffset val="100"/>
        <c:noMultiLvlLbl val="1"/>
      </c:catAx>
      <c:valAx>
        <c:axId val="2094734552"/>
        <c:scaling>
          <c:orientation val="minMax"/>
          <c:max val="100"/>
          <c:min val="80"/>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legend>
      <c:legendPos val="b"/>
      <c:overlay val="0"/>
      <c:txPr>
        <a:bodyPr/>
        <a:lstStyle/>
        <a:p>
          <a:pPr>
            <a:defRPr sz="1100">
              <a:solidFill>
                <a:srgbClr val="5B6B7B"/>
              </a:solidFill>
              <a:latin typeface="Segoe UI"/>
              <a:cs typeface="Segoe U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541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report translates our latest supply chain analysis into the compliance and continuity picture leadership needs. The underlying data covers 49 active components across five suppliers, drawn from the Supply Chain Issue Analysis Report and the supporting metrics workbook. Three components — BIND567, COMP042, and COMP043 — are flagged for attention. The core message: compliance risk here is not a single failure point, but the combined effect of delivery variability, forecast gaps, and component-level quality risk. Over the next few slides I'll cover what's flagged, what the data shows, the compliance implications, root causes, and the mitigation actions we're recommending for approval.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that this is a mixed risk environment, not one broken supplier. The four metrics across the top frame the scope: three flagged components, five suppliers reviewed, a maximum 64-day lead time on BIND567, and a peak defect rate of 4.89% on COMP043. Each flagged component carries a different risk signature — BIND567 is about schedule length, COMP042 about fulfillment consistency and backorders, and COMP043 about quality and forecast accuracy. The takeaway for leadership, on the right, is that the exposure is cumulative: delivery variability, forecast gaps, and quality risk compound to threaten both production continuity and our ability to demonstrate end-to-end traceability in an audit.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components are our priority watchlist, and each tells a different story. BIND567 from EcoSupply is the continuity case — a 64-day timeline with 26-day variance. The supplier itself is reliable at 99%, so this is about resiliency planning, not replacement. COMP042 from PrimeLogistics is the fulfillment case — a manageable 13-day window, but 92% reliability, 86% on-time delivery, and open backorders mean it needs active intervention to avoid near-term production impact. COMP043 from NextGen Pharma has the shortest window but the riskiest profile: a 4.89% defect rate and only 80% forecast accuracy, which together drive rework and replenishment pressure. All three are currently rated medium risk, but for different underlying reasons — which is why the mitigation actions later are component-specific.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the data. On the left, average delivery timeline by risk level: notice that medium-risk components actually carry the longest average timeline at 15.1 days, ahead of low at 12.9 and high at 11.3. That's a useful counter-intuitive signal — risk tier alone doesn't predict schedule length, so we can't rely on the label to prioritize. On the right, on-time delivery for the three delayed components: BIND567 is strong at 99%, CARB123 sits at 90.3%, but COAT890 trails the group at 84.2%. The insight bar ties it together: schedule variability is the through-line, which is why our monitoring focus is on lead-time variance and on-time performance rather than just the assigned risk level.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supplier-level view. The clustered chart compares average reliability against average on-time delivery for all five suppliers. Reliability is tightly banded between 91 and 93 percent, so it doesn't separate the field much. On-time delivery tells more: EcoSupply, despite the highest reliability, has the lowest on-time rate in the insight summary at 87.9%, while NextGen leads on-time at 91.6%. The table on the right ranks defect rate, color-coded green to red. NextGen has the best quality at 2.22%, and PrimeLogistics the worst at 2.89% — and PrimeLogistics carries that defect rate across the smallest component base of seven. That's the supplier we flag for governance attention, and it connects directly to the COMP042 fulfillment concern from earlier.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supply issues become compliance issues, across four linked areas. First, continuity of supply: when timelines stretch or vary, we risk not having materials when production needs them, which creates pressure to deviate from controlled schedules. Second, documentation and traceability: delayed and expedited shipments generate extra tracking and exception management, and if those records are incomplete we face gaps in audit readiness. Third, quality risk: higher defect rates — especially COMP043 and certain PrimeLogistics components — raise the chance of inspection failures, rework, and rejected batches. Fourth, production and change control: inventory depletion forces schedule, sourcing, or logistics changes, each triggering additional review and approval. The key point is the net effect at the bottom — these aren't independent. One problem component can light up all four at once, which is why we treat this as compounding exposure.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flagged component has a distinct root cause, which matters because it shapes the fix. BIND567 is structural lead time — EcoSupply is operationally reliable, so the problem is the 64-day cycle itself, with limited scheduling flexibility and thin contingency. The answer here is resiliency planning, not a new supplier. COMP042 is fulfillment variability — PrimeLogistics' broader averages show lower on-time delivery and the highest defect rate, and for this part the 86% on-time rate plus open backorders points to weak coordination between order planning and supplier response. COMP043 is quality and planning discipline — a 4.89% defect rate and 80% forecast accuracy indicate forecasting gaps and recurring quality escapes. So: one schedule problem, one execution problem, and one quality-and-planning problem, each requiring a different intervention.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roadmap and what we're asking leadership to approve. The top flow is the operating model: monitor through a weekly supply review covering lead-time variance, backorders, defects, and coverage; govern by tightening supplier contracts, escalation paths, and service levels; buffer by reassessing safety stock and reorder points and using expedited shipping selectively; and document so exception and sourcing-change records stay audit-ready. Below that, the component-specific actions: for BIND567, build buffer inventory and explore earlier or staged ordering — resiliency over replacement. For COMP042, accelerate shipping with PrimeLogistics, clear backorders, and add temporary safety stock. For COMP043, prioritize quality containment, increase incoming inspection, and refine demand planning with NextGen. The decision requested is to endorse the weekly review cadence and approve these buffer, governance, and quality actions.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541"/>
        </a:solidFill>
        <a:effectLst/>
      </p:bgPr>
    </p:bg>
    <p:spTree>
      <p:nvGrpSpPr>
        <p:cNvPr id="1" name=""/>
        <p:cNvGrpSpPr/>
        <p:nvPr/>
      </p:nvGrpSpPr>
      <p:grpSpPr>
        <a:xfrm>
          <a:off x="0" y="0"/>
          <a:ext cx="0" cy="0"/>
          <a:chOff x="0" y="0"/>
          <a:chExt cx="0" cy="0"/>
        </a:xfrm>
      </p:grpSpPr>
      <p:sp>
        <p:nvSpPr>
          <p:cNvPr id="2" name="Shape 0"/>
          <p:cNvSpPr/>
          <p:nvPr/>
        </p:nvSpPr>
        <p:spPr>
          <a:xfrm>
            <a:off x="8412480" y="0"/>
            <a:ext cx="3779215" cy="6858000"/>
          </a:xfrm>
          <a:prstGeom prst="rect">
            <a:avLst/>
          </a:prstGeom>
          <a:solidFill>
            <a:srgbClr val="14365F"/>
          </a:solidFill>
          <a:ln/>
        </p:spPr>
        <p:txBody>
          <a:bodyPr/>
          <a:lstStyle/>
          <a:p>
            <a:endParaRPr lang="en-US"/>
          </a:p>
        </p:txBody>
      </p:sp>
      <p:sp>
        <p:nvSpPr>
          <p:cNvPr id="3" name="Shape 1"/>
          <p:cNvSpPr/>
          <p:nvPr/>
        </p:nvSpPr>
        <p:spPr>
          <a:xfrm>
            <a:off x="8412480" y="0"/>
            <a:ext cx="64008" cy="6858000"/>
          </a:xfrm>
          <a:prstGeom prst="rect">
            <a:avLst/>
          </a:prstGeom>
          <a:solidFill>
            <a:srgbClr val="C9A24B"/>
          </a:solidFill>
          <a:ln/>
        </p:spPr>
        <p:txBody>
          <a:bodyPr/>
          <a:lstStyle/>
          <a:p>
            <a:endParaRPr lang="en-US"/>
          </a:p>
        </p:txBody>
      </p:sp>
      <p:sp>
        <p:nvSpPr>
          <p:cNvPr id="4" name="Shape 2"/>
          <p:cNvSpPr/>
          <p:nvPr/>
        </p:nvSpPr>
        <p:spPr>
          <a:xfrm>
            <a:off x="8915400" y="1554480"/>
            <a:ext cx="2834640" cy="2834640"/>
          </a:xfrm>
          <a:prstGeom prst="ellipse">
            <a:avLst/>
          </a:prstGeom>
          <a:ln w="15875">
            <a:solidFill>
              <a:srgbClr val="2E6CA4"/>
            </a:solidFill>
            <a:prstDash val="solid"/>
          </a:ln>
        </p:spPr>
        <p:txBody>
          <a:bodyPr/>
          <a:lstStyle/>
          <a:p>
            <a:endParaRPr lang="en-US"/>
          </a:p>
        </p:txBody>
      </p:sp>
      <p:sp>
        <p:nvSpPr>
          <p:cNvPr id="5" name="Shape 3"/>
          <p:cNvSpPr/>
          <p:nvPr/>
        </p:nvSpPr>
        <p:spPr>
          <a:xfrm>
            <a:off x="9464040" y="2103120"/>
            <a:ext cx="1737360" cy="1737360"/>
          </a:xfrm>
          <a:prstGeom prst="ellipse">
            <a:avLst/>
          </a:prstGeom>
          <a:ln w="12700">
            <a:solidFill>
              <a:srgbClr val="5B9BD5"/>
            </a:solidFill>
            <a:prstDash val="solid"/>
          </a:ln>
        </p:spPr>
        <p:txBody>
          <a:bodyPr/>
          <a:lstStyle/>
          <a:p>
            <a:endParaRPr lang="en-US"/>
          </a:p>
        </p:txBody>
      </p:sp>
      <p:sp>
        <p:nvSpPr>
          <p:cNvPr id="6" name="Shape 4"/>
          <p:cNvSpPr/>
          <p:nvPr/>
        </p:nvSpPr>
        <p:spPr>
          <a:xfrm>
            <a:off x="10058400" y="2697480"/>
            <a:ext cx="548640" cy="548640"/>
          </a:xfrm>
          <a:prstGeom prst="ellipse">
            <a:avLst/>
          </a:prstGeom>
          <a:solidFill>
            <a:srgbClr val="C9A24B"/>
          </a:solidFill>
          <a:ln/>
        </p:spPr>
        <p:txBody>
          <a:bodyPr/>
          <a:lstStyle/>
          <a:p>
            <a:endParaRPr lang="en-US"/>
          </a:p>
        </p:txBody>
      </p:sp>
      <p:sp>
        <p:nvSpPr>
          <p:cNvPr id="7" name="Shape 5"/>
          <p:cNvSpPr/>
          <p:nvPr/>
        </p:nvSpPr>
        <p:spPr>
          <a:xfrm>
            <a:off x="8732520" y="1371600"/>
            <a:ext cx="237744" cy="237744"/>
          </a:xfrm>
          <a:prstGeom prst="ellipse">
            <a:avLst/>
          </a:prstGeom>
          <a:solidFill>
            <a:srgbClr val="5B9BD5"/>
          </a:solidFill>
          <a:ln/>
        </p:spPr>
        <p:txBody>
          <a:bodyPr/>
          <a:lstStyle/>
          <a:p>
            <a:endParaRPr lang="en-US"/>
          </a:p>
        </p:txBody>
      </p:sp>
      <p:sp>
        <p:nvSpPr>
          <p:cNvPr id="8" name="Shape 6"/>
          <p:cNvSpPr/>
          <p:nvPr/>
        </p:nvSpPr>
        <p:spPr>
          <a:xfrm>
            <a:off x="11475720" y="3703320"/>
            <a:ext cx="274320" cy="274320"/>
          </a:xfrm>
          <a:prstGeom prst="ellipse">
            <a:avLst/>
          </a:prstGeom>
          <a:solidFill>
            <a:srgbClr val="2E6CA4"/>
          </a:solidFill>
          <a:ln/>
        </p:spPr>
        <p:txBody>
          <a:bodyPr/>
          <a:lstStyle/>
          <a:p>
            <a:endParaRPr lang="en-US"/>
          </a:p>
        </p:txBody>
      </p:sp>
      <p:sp>
        <p:nvSpPr>
          <p:cNvPr id="9" name="Shape 7"/>
          <p:cNvSpPr/>
          <p:nvPr/>
        </p:nvSpPr>
        <p:spPr>
          <a:xfrm>
            <a:off x="11155680" y="1828800"/>
            <a:ext cx="182880" cy="182880"/>
          </a:xfrm>
          <a:prstGeom prst="ellipse">
            <a:avLst/>
          </a:prstGeom>
          <a:solidFill>
            <a:srgbClr val="FFFFFF"/>
          </a:solidFill>
          <a:ln/>
        </p:spPr>
        <p:txBody>
          <a:bodyPr/>
          <a:lstStyle/>
          <a:p>
            <a:endParaRPr lang="en-US"/>
          </a:p>
        </p:txBody>
      </p:sp>
      <p:sp>
        <p:nvSpPr>
          <p:cNvPr id="10" name="Shape 8"/>
          <p:cNvSpPr/>
          <p:nvPr/>
        </p:nvSpPr>
        <p:spPr>
          <a:xfrm>
            <a:off x="777240" y="1417320"/>
            <a:ext cx="502920" cy="54864"/>
          </a:xfrm>
          <a:prstGeom prst="rect">
            <a:avLst/>
          </a:prstGeom>
          <a:solidFill>
            <a:srgbClr val="C9A24B"/>
          </a:solidFill>
          <a:ln/>
        </p:spPr>
        <p:txBody>
          <a:bodyPr/>
          <a:lstStyle/>
          <a:p>
            <a:endParaRPr lang="en-US"/>
          </a:p>
        </p:txBody>
      </p:sp>
      <p:sp>
        <p:nvSpPr>
          <p:cNvPr id="11" name="Text 9"/>
          <p:cNvSpPr/>
          <p:nvPr/>
        </p:nvSpPr>
        <p:spPr>
          <a:xfrm>
            <a:off x="777240" y="1536192"/>
            <a:ext cx="6858000" cy="320040"/>
          </a:xfrm>
          <a:prstGeom prst="rect">
            <a:avLst/>
          </a:prstGeom>
          <a:noFill/>
          <a:ln/>
        </p:spPr>
        <p:txBody>
          <a:bodyPr wrap="square" rtlCol="0" anchor="ctr"/>
          <a:lstStyle/>
          <a:p>
            <a:pPr marL="0" indent="0">
              <a:buNone/>
            </a:pPr>
            <a:r>
              <a:rPr lang="en-US" sz="1300" b="1" kern="0" spc="300" dirty="0">
                <a:solidFill>
                  <a:srgbClr val="5B9BD5"/>
                </a:solidFill>
                <a:latin typeface="Segoe UI" pitchFamily="34" charset="0"/>
                <a:ea typeface="Segoe UI" pitchFamily="34" charset="-122"/>
                <a:cs typeface="Segoe UI" pitchFamily="34" charset="-120"/>
              </a:rPr>
              <a:t>EXECUTIVE LEADERSHIP REVIEW</a:t>
            </a:r>
            <a:endParaRPr lang="en-US" sz="1300" dirty="0"/>
          </a:p>
        </p:txBody>
      </p:sp>
      <p:sp>
        <p:nvSpPr>
          <p:cNvPr id="12" name="Text 10"/>
          <p:cNvSpPr/>
          <p:nvPr/>
        </p:nvSpPr>
        <p:spPr>
          <a:xfrm>
            <a:off x="731520" y="2057400"/>
            <a:ext cx="7406640" cy="1737360"/>
          </a:xfrm>
          <a:prstGeom prst="rect">
            <a:avLst/>
          </a:prstGeom>
          <a:noFill/>
          <a:ln/>
        </p:spPr>
        <p:txBody>
          <a:bodyPr wrap="square" rtlCol="0" anchor="ctr"/>
          <a:lstStyle/>
          <a:p>
            <a:pPr marL="0" indent="0">
              <a:lnSpc>
                <a:spcPct val="100000"/>
              </a:lnSpc>
              <a:buNone/>
            </a:pPr>
            <a:r>
              <a:rPr lang="en-US" sz="4600" b="1" dirty="0">
                <a:solidFill>
                  <a:srgbClr val="FFFFFF"/>
                </a:solidFill>
                <a:latin typeface="Segoe UI Light" pitchFamily="34" charset="0"/>
                <a:ea typeface="Segoe UI Light" pitchFamily="34" charset="-122"/>
                <a:cs typeface="Segoe UI Light" pitchFamily="34" charset="-120"/>
              </a:rPr>
              <a:t>Supply Chain Issue</a:t>
            </a:r>
            <a:endParaRPr lang="en-US" sz="4600" dirty="0"/>
          </a:p>
          <a:p>
            <a:pPr marL="0" indent="0">
              <a:lnSpc>
                <a:spcPct val="100000"/>
              </a:lnSpc>
              <a:buNone/>
            </a:pPr>
            <a:r>
              <a:rPr lang="en-US" sz="4600" b="1" dirty="0">
                <a:solidFill>
                  <a:srgbClr val="FFFFFF"/>
                </a:solidFill>
                <a:latin typeface="Segoe UI Light" pitchFamily="34" charset="0"/>
                <a:ea typeface="Segoe UI Light" pitchFamily="34" charset="-122"/>
                <a:cs typeface="Segoe UI Light" pitchFamily="34" charset="-120"/>
              </a:rPr>
              <a:t>Compliance Report</a:t>
            </a:r>
            <a:endParaRPr lang="en-US" sz="4600" dirty="0"/>
          </a:p>
        </p:txBody>
      </p:sp>
      <p:sp>
        <p:nvSpPr>
          <p:cNvPr id="13" name="Text 11"/>
          <p:cNvSpPr/>
          <p:nvPr/>
        </p:nvSpPr>
        <p:spPr>
          <a:xfrm>
            <a:off x="777240" y="3886200"/>
            <a:ext cx="6949440" cy="731520"/>
          </a:xfrm>
          <a:prstGeom prst="rect">
            <a:avLst/>
          </a:prstGeom>
          <a:noFill/>
          <a:ln/>
        </p:spPr>
        <p:txBody>
          <a:bodyPr wrap="square" rtlCol="0" anchor="ctr"/>
          <a:lstStyle/>
          <a:p>
            <a:pPr marL="0" indent="0">
              <a:lnSpc>
                <a:spcPct val="115000"/>
              </a:lnSpc>
              <a:buNone/>
            </a:pPr>
            <a:r>
              <a:rPr lang="en-US" sz="1500" dirty="0">
                <a:solidFill>
                  <a:srgbClr val="C5D6E8"/>
                </a:solidFill>
                <a:latin typeface="Segoe UI" pitchFamily="34" charset="0"/>
                <a:ea typeface="Segoe UI" pitchFamily="34" charset="-122"/>
                <a:cs typeface="Segoe UI" pitchFamily="34" charset="-120"/>
              </a:rPr>
              <a:t>Risk, quality, and continuity-of-supply analysis across active components and suppliers</a:t>
            </a:r>
            <a:endParaRPr lang="en-US" sz="1500" dirty="0"/>
          </a:p>
        </p:txBody>
      </p:sp>
      <p:sp>
        <p:nvSpPr>
          <p:cNvPr id="14" name="Shape 12"/>
          <p:cNvSpPr/>
          <p:nvPr/>
        </p:nvSpPr>
        <p:spPr>
          <a:xfrm>
            <a:off x="777240" y="4983480"/>
            <a:ext cx="6766560" cy="0"/>
          </a:xfrm>
          <a:prstGeom prst="line">
            <a:avLst/>
          </a:prstGeom>
          <a:noFill/>
          <a:ln w="12700">
            <a:solidFill>
              <a:srgbClr val="2E6CA4"/>
            </a:solidFill>
            <a:prstDash val="solid"/>
          </a:ln>
        </p:spPr>
        <p:txBody>
          <a:bodyPr/>
          <a:lstStyle/>
          <a:p>
            <a:endParaRPr lang="en-US"/>
          </a:p>
        </p:txBody>
      </p:sp>
      <p:sp>
        <p:nvSpPr>
          <p:cNvPr id="15" name="Text 13"/>
          <p:cNvSpPr/>
          <p:nvPr/>
        </p:nvSpPr>
        <p:spPr>
          <a:xfrm>
            <a:off x="777240" y="5120640"/>
            <a:ext cx="4572000" cy="320040"/>
          </a:xfrm>
          <a:prstGeom prst="rect">
            <a:avLst/>
          </a:prstGeom>
          <a:noFill/>
          <a:ln/>
        </p:spPr>
        <p:txBody>
          <a:bodyPr wrap="square" rtlCol="0" anchor="ctr"/>
          <a:lstStyle/>
          <a:p>
            <a:pPr marL="0" indent="0">
              <a:buNone/>
            </a:pPr>
            <a:r>
              <a:rPr lang="en-US" sz="1200" dirty="0">
                <a:solidFill>
                  <a:srgbClr val="5B6B7B"/>
                </a:solidFill>
                <a:latin typeface="Segoe UI" pitchFamily="34" charset="0"/>
                <a:ea typeface="Segoe UI" pitchFamily="34" charset="-122"/>
                <a:cs typeface="Segoe UI" pitchFamily="34" charset="-120"/>
              </a:rPr>
              <a:t>Prepared for  </a:t>
            </a:r>
            <a:r>
              <a:rPr lang="en-US" sz="1200" b="1" dirty="0">
                <a:solidFill>
                  <a:srgbClr val="FFFFFF"/>
                </a:solidFill>
                <a:latin typeface="Segoe UI" pitchFamily="34" charset="0"/>
                <a:ea typeface="Segoe UI" pitchFamily="34" charset="-122"/>
                <a:cs typeface="Segoe UI" pitchFamily="34" charset="-120"/>
              </a:rPr>
              <a:t>Executive Leadership</a:t>
            </a:r>
            <a:endParaRPr lang="en-US" sz="1200" dirty="0"/>
          </a:p>
        </p:txBody>
      </p:sp>
      <p:sp>
        <p:nvSpPr>
          <p:cNvPr id="16" name="Text 14"/>
          <p:cNvSpPr/>
          <p:nvPr/>
        </p:nvSpPr>
        <p:spPr>
          <a:xfrm>
            <a:off x="777240" y="5440680"/>
            <a:ext cx="5486400" cy="320040"/>
          </a:xfrm>
          <a:prstGeom prst="rect">
            <a:avLst/>
          </a:prstGeom>
          <a:noFill/>
          <a:ln/>
        </p:spPr>
        <p:txBody>
          <a:bodyPr wrap="square" rtlCol="0" anchor="ctr"/>
          <a:lstStyle/>
          <a:p>
            <a:pPr marL="0" indent="0">
              <a:buNone/>
            </a:pPr>
            <a:r>
              <a:rPr lang="en-US" sz="1200" dirty="0">
                <a:solidFill>
                  <a:srgbClr val="5B6B7B"/>
                </a:solidFill>
                <a:latin typeface="Segoe UI" pitchFamily="34" charset="0"/>
                <a:ea typeface="Segoe UI" pitchFamily="34" charset="-122"/>
                <a:cs typeface="Segoe UI" pitchFamily="34" charset="-120"/>
              </a:rPr>
              <a:t>Reporting period  </a:t>
            </a:r>
            <a:r>
              <a:rPr lang="en-US" sz="1200" b="1" dirty="0">
                <a:solidFill>
                  <a:srgbClr val="FFFFFF"/>
                </a:solidFill>
                <a:latin typeface="Segoe UI" pitchFamily="34" charset="0"/>
                <a:ea typeface="Segoe UI" pitchFamily="34" charset="-122"/>
                <a:cs typeface="Segoe UI" pitchFamily="34" charset="-120"/>
              </a:rPr>
              <a:t>Through Dec 2024 deliveries</a:t>
            </a:r>
            <a:endParaRPr lang="en-US" sz="1200" dirty="0"/>
          </a:p>
        </p:txBody>
      </p:sp>
      <p:sp>
        <p:nvSpPr>
          <p:cNvPr id="17" name="Text 15"/>
          <p:cNvSpPr/>
          <p:nvPr/>
        </p:nvSpPr>
        <p:spPr>
          <a:xfrm>
            <a:off x="777240" y="5989320"/>
            <a:ext cx="6766560" cy="320040"/>
          </a:xfrm>
          <a:prstGeom prst="rect">
            <a:avLst/>
          </a:prstGeom>
          <a:noFill/>
          <a:ln/>
        </p:spPr>
        <p:txBody>
          <a:bodyPr wrap="square" rtlCol="0" anchor="ctr"/>
          <a:lstStyle/>
          <a:p>
            <a:pPr marL="0" indent="0">
              <a:buNone/>
            </a:pPr>
            <a:r>
              <a:rPr lang="en-US" sz="1000" i="1" dirty="0">
                <a:solidFill>
                  <a:srgbClr val="5B6B7B"/>
                </a:solidFill>
                <a:latin typeface="Segoe UI" pitchFamily="34" charset="0"/>
                <a:ea typeface="Segoe UI" pitchFamily="34" charset="-122"/>
                <a:cs typeface="Segoe UI" pitchFamily="34" charset="-120"/>
              </a:rPr>
              <a:t>Source: Supply Chain Issue Analysis Report &amp; supplier metrics dataset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EXECUTIVE SUMMARY</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A mixed risk environment — not a single failure point</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Shape 4"/>
          <p:cNvSpPr/>
          <p:nvPr/>
        </p:nvSpPr>
        <p:spPr>
          <a:xfrm>
            <a:off x="548640" y="1481328"/>
            <a:ext cx="2615184" cy="1325880"/>
          </a:xfrm>
          <a:prstGeom prst="rect">
            <a:avLst/>
          </a:prstGeom>
          <a:solidFill>
            <a:srgbClr val="F6F9FC"/>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7" name="Shape 5"/>
          <p:cNvSpPr/>
          <p:nvPr/>
        </p:nvSpPr>
        <p:spPr>
          <a:xfrm>
            <a:off x="548640" y="1481328"/>
            <a:ext cx="73152" cy="1325880"/>
          </a:xfrm>
          <a:prstGeom prst="rect">
            <a:avLst/>
          </a:prstGeom>
          <a:solidFill>
            <a:srgbClr val="D98A0B"/>
          </a:solidFill>
          <a:ln/>
        </p:spPr>
        <p:txBody>
          <a:bodyPr/>
          <a:lstStyle/>
          <a:p>
            <a:endParaRPr lang="en-US"/>
          </a:p>
        </p:txBody>
      </p:sp>
      <p:sp>
        <p:nvSpPr>
          <p:cNvPr id="8" name="Text 6"/>
          <p:cNvSpPr/>
          <p:nvPr/>
        </p:nvSpPr>
        <p:spPr>
          <a:xfrm>
            <a:off x="713232" y="1645920"/>
            <a:ext cx="2340864" cy="566928"/>
          </a:xfrm>
          <a:prstGeom prst="rect">
            <a:avLst/>
          </a:prstGeom>
          <a:noFill/>
          <a:ln/>
        </p:spPr>
        <p:txBody>
          <a:bodyPr wrap="square" rtlCol="0" anchor="ctr"/>
          <a:lstStyle/>
          <a:p>
            <a:pPr marL="0" indent="0">
              <a:buNone/>
            </a:pPr>
            <a:r>
              <a:rPr lang="en-US" sz="3000" b="1" dirty="0">
                <a:solidFill>
                  <a:srgbClr val="0E2541"/>
                </a:solidFill>
                <a:latin typeface="Segoe UI" pitchFamily="34" charset="0"/>
                <a:ea typeface="Segoe UI" pitchFamily="34" charset="-122"/>
                <a:cs typeface="Segoe UI" pitchFamily="34" charset="-120"/>
              </a:rPr>
              <a:t>3</a:t>
            </a:r>
            <a:endParaRPr lang="en-US" sz="3000" dirty="0"/>
          </a:p>
        </p:txBody>
      </p:sp>
      <p:sp>
        <p:nvSpPr>
          <p:cNvPr id="9" name="Text 7"/>
          <p:cNvSpPr/>
          <p:nvPr/>
        </p:nvSpPr>
        <p:spPr>
          <a:xfrm>
            <a:off x="731520" y="2258568"/>
            <a:ext cx="2286000" cy="457200"/>
          </a:xfrm>
          <a:prstGeom prst="rect">
            <a:avLst/>
          </a:prstGeom>
          <a:noFill/>
          <a:ln/>
        </p:spPr>
        <p:txBody>
          <a:bodyPr wrap="square" rtlCol="0" anchor="ctr"/>
          <a:lstStyle/>
          <a:p>
            <a:pPr marL="0" indent="0">
              <a:lnSpc>
                <a:spcPct val="105000"/>
              </a:lnSpc>
              <a:buNone/>
            </a:pPr>
            <a:r>
              <a:rPr lang="en-US" sz="1100" dirty="0">
                <a:solidFill>
                  <a:srgbClr val="5B6B7B"/>
                </a:solidFill>
                <a:latin typeface="Segoe UI" pitchFamily="34" charset="0"/>
                <a:ea typeface="Segoe UI" pitchFamily="34" charset="-122"/>
                <a:cs typeface="Segoe UI" pitchFamily="34" charset="-120"/>
              </a:rPr>
              <a:t>Components flagged for action</a:t>
            </a:r>
            <a:endParaRPr lang="en-US" sz="1100" dirty="0"/>
          </a:p>
        </p:txBody>
      </p:sp>
      <p:sp>
        <p:nvSpPr>
          <p:cNvPr id="10" name="Shape 8"/>
          <p:cNvSpPr/>
          <p:nvPr/>
        </p:nvSpPr>
        <p:spPr>
          <a:xfrm>
            <a:off x="3410712" y="1481328"/>
            <a:ext cx="2615184" cy="1325880"/>
          </a:xfrm>
          <a:prstGeom prst="rect">
            <a:avLst/>
          </a:prstGeom>
          <a:solidFill>
            <a:srgbClr val="F6F9FC"/>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11" name="Shape 9"/>
          <p:cNvSpPr/>
          <p:nvPr/>
        </p:nvSpPr>
        <p:spPr>
          <a:xfrm>
            <a:off x="3410712" y="1481328"/>
            <a:ext cx="73152" cy="1325880"/>
          </a:xfrm>
          <a:prstGeom prst="rect">
            <a:avLst/>
          </a:prstGeom>
          <a:solidFill>
            <a:srgbClr val="2E6CA4"/>
          </a:solidFill>
          <a:ln/>
        </p:spPr>
        <p:txBody>
          <a:bodyPr/>
          <a:lstStyle/>
          <a:p>
            <a:endParaRPr lang="en-US"/>
          </a:p>
        </p:txBody>
      </p:sp>
      <p:sp>
        <p:nvSpPr>
          <p:cNvPr id="12" name="Text 10"/>
          <p:cNvSpPr/>
          <p:nvPr/>
        </p:nvSpPr>
        <p:spPr>
          <a:xfrm>
            <a:off x="3575304" y="1645920"/>
            <a:ext cx="2340864" cy="566928"/>
          </a:xfrm>
          <a:prstGeom prst="rect">
            <a:avLst/>
          </a:prstGeom>
          <a:noFill/>
          <a:ln/>
        </p:spPr>
        <p:txBody>
          <a:bodyPr wrap="square" rtlCol="0" anchor="ctr"/>
          <a:lstStyle/>
          <a:p>
            <a:pPr marL="0" indent="0">
              <a:buNone/>
            </a:pPr>
            <a:r>
              <a:rPr lang="en-US" sz="3000" b="1" dirty="0">
                <a:solidFill>
                  <a:srgbClr val="0E2541"/>
                </a:solidFill>
                <a:latin typeface="Segoe UI" pitchFamily="34" charset="0"/>
                <a:ea typeface="Segoe UI" pitchFamily="34" charset="-122"/>
                <a:cs typeface="Segoe UI" pitchFamily="34" charset="-120"/>
              </a:rPr>
              <a:t>5</a:t>
            </a:r>
            <a:endParaRPr lang="en-US" sz="3000" dirty="0"/>
          </a:p>
        </p:txBody>
      </p:sp>
      <p:sp>
        <p:nvSpPr>
          <p:cNvPr id="13" name="Text 11"/>
          <p:cNvSpPr/>
          <p:nvPr/>
        </p:nvSpPr>
        <p:spPr>
          <a:xfrm>
            <a:off x="3593592" y="2258568"/>
            <a:ext cx="2286000" cy="457200"/>
          </a:xfrm>
          <a:prstGeom prst="rect">
            <a:avLst/>
          </a:prstGeom>
          <a:noFill/>
          <a:ln/>
        </p:spPr>
        <p:txBody>
          <a:bodyPr wrap="square" rtlCol="0" anchor="ctr"/>
          <a:lstStyle/>
          <a:p>
            <a:pPr marL="0" indent="0">
              <a:lnSpc>
                <a:spcPct val="105000"/>
              </a:lnSpc>
              <a:buNone/>
            </a:pPr>
            <a:r>
              <a:rPr lang="en-US" sz="1100" dirty="0">
                <a:solidFill>
                  <a:srgbClr val="5B6B7B"/>
                </a:solidFill>
                <a:latin typeface="Segoe UI" pitchFamily="34" charset="0"/>
                <a:ea typeface="Segoe UI" pitchFamily="34" charset="-122"/>
                <a:cs typeface="Segoe UI" pitchFamily="34" charset="-120"/>
              </a:rPr>
              <a:t>Suppliers reviewed for performance</a:t>
            </a:r>
            <a:endParaRPr lang="en-US" sz="1100" dirty="0"/>
          </a:p>
        </p:txBody>
      </p:sp>
      <p:sp>
        <p:nvSpPr>
          <p:cNvPr id="14" name="Shape 12"/>
          <p:cNvSpPr/>
          <p:nvPr/>
        </p:nvSpPr>
        <p:spPr>
          <a:xfrm>
            <a:off x="6272784" y="1481328"/>
            <a:ext cx="2615184" cy="1325880"/>
          </a:xfrm>
          <a:prstGeom prst="rect">
            <a:avLst/>
          </a:prstGeom>
          <a:solidFill>
            <a:srgbClr val="F6F9FC"/>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15" name="Shape 13"/>
          <p:cNvSpPr/>
          <p:nvPr/>
        </p:nvSpPr>
        <p:spPr>
          <a:xfrm>
            <a:off x="6272784" y="1481328"/>
            <a:ext cx="73152" cy="1325880"/>
          </a:xfrm>
          <a:prstGeom prst="rect">
            <a:avLst/>
          </a:prstGeom>
          <a:solidFill>
            <a:srgbClr val="C0392B"/>
          </a:solidFill>
          <a:ln/>
        </p:spPr>
        <p:txBody>
          <a:bodyPr/>
          <a:lstStyle/>
          <a:p>
            <a:endParaRPr lang="en-US"/>
          </a:p>
        </p:txBody>
      </p:sp>
      <p:sp>
        <p:nvSpPr>
          <p:cNvPr id="16" name="Text 14"/>
          <p:cNvSpPr/>
          <p:nvPr/>
        </p:nvSpPr>
        <p:spPr>
          <a:xfrm>
            <a:off x="6437376" y="1645920"/>
            <a:ext cx="2340864" cy="566928"/>
          </a:xfrm>
          <a:prstGeom prst="rect">
            <a:avLst/>
          </a:prstGeom>
          <a:noFill/>
          <a:ln/>
        </p:spPr>
        <p:txBody>
          <a:bodyPr wrap="square" rtlCol="0" anchor="ctr"/>
          <a:lstStyle/>
          <a:p>
            <a:pPr marL="0" indent="0">
              <a:buNone/>
            </a:pPr>
            <a:r>
              <a:rPr lang="en-US" sz="3000" b="1" dirty="0">
                <a:solidFill>
                  <a:srgbClr val="0E2541"/>
                </a:solidFill>
                <a:latin typeface="Segoe UI" pitchFamily="34" charset="0"/>
                <a:ea typeface="Segoe UI" pitchFamily="34" charset="-122"/>
                <a:cs typeface="Segoe UI" pitchFamily="34" charset="-120"/>
              </a:rPr>
              <a:t>64 days</a:t>
            </a:r>
            <a:endParaRPr lang="en-US" sz="3000" dirty="0"/>
          </a:p>
        </p:txBody>
      </p:sp>
      <p:sp>
        <p:nvSpPr>
          <p:cNvPr id="17" name="Text 15"/>
          <p:cNvSpPr/>
          <p:nvPr/>
        </p:nvSpPr>
        <p:spPr>
          <a:xfrm>
            <a:off x="6455664" y="2258568"/>
            <a:ext cx="2286000" cy="457200"/>
          </a:xfrm>
          <a:prstGeom prst="rect">
            <a:avLst/>
          </a:prstGeom>
          <a:noFill/>
          <a:ln/>
        </p:spPr>
        <p:txBody>
          <a:bodyPr wrap="square" rtlCol="0" anchor="ctr"/>
          <a:lstStyle/>
          <a:p>
            <a:pPr marL="0" indent="0">
              <a:lnSpc>
                <a:spcPct val="105000"/>
              </a:lnSpc>
              <a:buNone/>
            </a:pPr>
            <a:r>
              <a:rPr lang="en-US" sz="1100" dirty="0">
                <a:solidFill>
                  <a:srgbClr val="5B6B7B"/>
                </a:solidFill>
                <a:latin typeface="Segoe UI" pitchFamily="34" charset="0"/>
                <a:ea typeface="Segoe UI" pitchFamily="34" charset="-122"/>
                <a:cs typeface="Segoe UI" pitchFamily="34" charset="-120"/>
              </a:rPr>
              <a:t>Longest delivery timeline (BIND567)</a:t>
            </a:r>
            <a:endParaRPr lang="en-US" sz="1100" dirty="0"/>
          </a:p>
        </p:txBody>
      </p:sp>
      <p:sp>
        <p:nvSpPr>
          <p:cNvPr id="18" name="Shape 16"/>
          <p:cNvSpPr/>
          <p:nvPr/>
        </p:nvSpPr>
        <p:spPr>
          <a:xfrm>
            <a:off x="9134856" y="1481328"/>
            <a:ext cx="2615184" cy="1325880"/>
          </a:xfrm>
          <a:prstGeom prst="rect">
            <a:avLst/>
          </a:prstGeom>
          <a:solidFill>
            <a:srgbClr val="F6F9FC"/>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19" name="Shape 17"/>
          <p:cNvSpPr/>
          <p:nvPr/>
        </p:nvSpPr>
        <p:spPr>
          <a:xfrm>
            <a:off x="9134856" y="1481328"/>
            <a:ext cx="73152" cy="1325880"/>
          </a:xfrm>
          <a:prstGeom prst="rect">
            <a:avLst/>
          </a:prstGeom>
          <a:solidFill>
            <a:srgbClr val="1F4E79"/>
          </a:solidFill>
          <a:ln/>
        </p:spPr>
        <p:txBody>
          <a:bodyPr/>
          <a:lstStyle/>
          <a:p>
            <a:endParaRPr lang="en-US"/>
          </a:p>
        </p:txBody>
      </p:sp>
      <p:sp>
        <p:nvSpPr>
          <p:cNvPr id="20" name="Text 18"/>
          <p:cNvSpPr/>
          <p:nvPr/>
        </p:nvSpPr>
        <p:spPr>
          <a:xfrm>
            <a:off x="9299448" y="1645920"/>
            <a:ext cx="2340864" cy="566928"/>
          </a:xfrm>
          <a:prstGeom prst="rect">
            <a:avLst/>
          </a:prstGeom>
          <a:noFill/>
          <a:ln/>
        </p:spPr>
        <p:txBody>
          <a:bodyPr wrap="square" rtlCol="0" anchor="ctr"/>
          <a:lstStyle/>
          <a:p>
            <a:pPr marL="0" indent="0">
              <a:buNone/>
            </a:pPr>
            <a:r>
              <a:rPr lang="en-US" sz="3000" b="1" dirty="0">
                <a:solidFill>
                  <a:srgbClr val="0E2541"/>
                </a:solidFill>
                <a:latin typeface="Segoe UI" pitchFamily="34" charset="0"/>
                <a:ea typeface="Segoe UI" pitchFamily="34" charset="-122"/>
                <a:cs typeface="Segoe UI" pitchFamily="34" charset="-120"/>
              </a:rPr>
              <a:t>4.89%</a:t>
            </a:r>
            <a:endParaRPr lang="en-US" sz="3000" dirty="0"/>
          </a:p>
        </p:txBody>
      </p:sp>
      <p:sp>
        <p:nvSpPr>
          <p:cNvPr id="21" name="Text 19"/>
          <p:cNvSpPr/>
          <p:nvPr/>
        </p:nvSpPr>
        <p:spPr>
          <a:xfrm>
            <a:off x="9317736" y="2258568"/>
            <a:ext cx="2286000" cy="457200"/>
          </a:xfrm>
          <a:prstGeom prst="rect">
            <a:avLst/>
          </a:prstGeom>
          <a:noFill/>
          <a:ln/>
        </p:spPr>
        <p:txBody>
          <a:bodyPr wrap="square" rtlCol="0" anchor="ctr"/>
          <a:lstStyle/>
          <a:p>
            <a:pPr marL="0" indent="0">
              <a:lnSpc>
                <a:spcPct val="105000"/>
              </a:lnSpc>
              <a:buNone/>
            </a:pPr>
            <a:r>
              <a:rPr lang="en-US" sz="1100" dirty="0">
                <a:solidFill>
                  <a:srgbClr val="5B6B7B"/>
                </a:solidFill>
                <a:latin typeface="Segoe UI" pitchFamily="34" charset="0"/>
                <a:ea typeface="Segoe UI" pitchFamily="34" charset="-122"/>
                <a:cs typeface="Segoe UI" pitchFamily="34" charset="-120"/>
              </a:rPr>
              <a:t>Highest defect rate (COMP043)</a:t>
            </a:r>
            <a:endParaRPr lang="en-US" sz="1100" dirty="0"/>
          </a:p>
        </p:txBody>
      </p:sp>
      <p:sp>
        <p:nvSpPr>
          <p:cNvPr id="22" name="Text 20"/>
          <p:cNvSpPr/>
          <p:nvPr/>
        </p:nvSpPr>
        <p:spPr>
          <a:xfrm>
            <a:off x="548640" y="3090672"/>
            <a:ext cx="5486400" cy="274320"/>
          </a:xfrm>
          <a:prstGeom prst="rect">
            <a:avLst/>
          </a:prstGeom>
          <a:noFill/>
          <a:ln/>
        </p:spPr>
        <p:txBody>
          <a:bodyPr wrap="square" rtlCol="0" anchor="ctr"/>
          <a:lstStyle/>
          <a:p>
            <a:pPr marL="0" indent="0">
              <a:buNone/>
            </a:pPr>
            <a:r>
              <a:rPr lang="en-US" sz="1200" b="1" kern="0" spc="150" dirty="0">
                <a:solidFill>
                  <a:srgbClr val="2E6CA4"/>
                </a:solidFill>
                <a:latin typeface="Segoe UI" pitchFamily="34" charset="0"/>
                <a:ea typeface="Segoe UI" pitchFamily="34" charset="-122"/>
                <a:cs typeface="Segoe UI" pitchFamily="34" charset="-120"/>
              </a:rPr>
              <a:t>WHAT THE ANALYSIS SHOWS</a:t>
            </a:r>
            <a:endParaRPr lang="en-US" sz="1200" dirty="0"/>
          </a:p>
        </p:txBody>
      </p:sp>
      <p:sp>
        <p:nvSpPr>
          <p:cNvPr id="23" name="Text 21"/>
          <p:cNvSpPr/>
          <p:nvPr/>
        </p:nvSpPr>
        <p:spPr>
          <a:xfrm>
            <a:off x="548640" y="3401568"/>
            <a:ext cx="5577840" cy="777240"/>
          </a:xfrm>
          <a:prstGeom prst="rect">
            <a:avLst/>
          </a:prstGeom>
          <a:noFill/>
          <a:ln/>
        </p:spPr>
        <p:txBody>
          <a:bodyPr wrap="square" rtlCol="0" anchor="t"/>
          <a:lstStyle/>
          <a:p>
            <a:pPr marL="0" indent="0">
              <a:lnSpc>
                <a:spcPct val="115000"/>
              </a:lnSpc>
              <a:buNone/>
            </a:pPr>
            <a:r>
              <a:rPr lang="en-US" sz="1250" dirty="0">
                <a:solidFill>
                  <a:srgbClr val="1C2B3A"/>
                </a:solidFill>
                <a:latin typeface="Segoe UI" pitchFamily="34" charset="0"/>
                <a:ea typeface="Segoe UI" pitchFamily="34" charset="-122"/>
                <a:cs typeface="Segoe UI" pitchFamily="34" charset="-120"/>
              </a:rPr>
              <a:t>Several components face elevated schedule, quality, and fulfillment concerns. The most immediate issues are concentrated in </a:t>
            </a:r>
            <a:r>
              <a:rPr lang="en-US" sz="1250" b="1" dirty="0">
                <a:solidFill>
                  <a:srgbClr val="0E2541"/>
                </a:solidFill>
                <a:latin typeface="Segoe UI" pitchFamily="34" charset="0"/>
                <a:ea typeface="Segoe UI" pitchFamily="34" charset="-122"/>
                <a:cs typeface="Segoe UI" pitchFamily="34" charset="-120"/>
              </a:rPr>
              <a:t>BIND567, COMP042, and COMP043</a:t>
            </a:r>
            <a:r>
              <a:rPr lang="en-US" sz="1250" dirty="0">
                <a:solidFill>
                  <a:srgbClr val="1C2B3A"/>
                </a:solidFill>
                <a:latin typeface="Segoe UI" pitchFamily="34" charset="0"/>
                <a:ea typeface="Segoe UI" pitchFamily="34" charset="-122"/>
                <a:cs typeface="Segoe UI" pitchFamily="34" charset="-120"/>
              </a:rPr>
              <a:t>.</a:t>
            </a:r>
            <a:endParaRPr lang="en-US" sz="1250" dirty="0"/>
          </a:p>
        </p:txBody>
      </p:sp>
      <p:sp>
        <p:nvSpPr>
          <p:cNvPr id="24" name="Text 22"/>
          <p:cNvSpPr/>
          <p:nvPr/>
        </p:nvSpPr>
        <p:spPr>
          <a:xfrm>
            <a:off x="566928" y="4224528"/>
            <a:ext cx="5577840" cy="1828800"/>
          </a:xfrm>
          <a:prstGeom prst="rect">
            <a:avLst/>
          </a:prstGeom>
          <a:noFill/>
          <a:ln/>
        </p:spPr>
        <p:txBody>
          <a:bodyPr wrap="square" rtlCol="0" anchor="t"/>
          <a:lstStyle/>
          <a:p>
            <a:pPr marL="203200" indent="-203200">
              <a:lnSpc>
                <a:spcPct val="112000"/>
              </a:lnSpc>
              <a:spcAft>
                <a:spcPts val="900"/>
              </a:spcAft>
              <a:buSzPct val="100000"/>
              <a:buChar char="•"/>
            </a:pPr>
            <a:r>
              <a:rPr lang="en-US" sz="1200" b="1" dirty="0">
                <a:solidFill>
                  <a:srgbClr val="0E2541"/>
                </a:solidFill>
                <a:latin typeface="Segoe UI" pitchFamily="34" charset="0"/>
                <a:ea typeface="Segoe UI" pitchFamily="34" charset="-122"/>
                <a:cs typeface="Segoe UI" pitchFamily="34" charset="-120"/>
              </a:rPr>
              <a:t>BIND567 — </a:t>
            </a:r>
            <a:r>
              <a:rPr lang="en-US" sz="1200" dirty="0">
                <a:solidFill>
                  <a:srgbClr val="1C2B3A"/>
                </a:solidFill>
                <a:latin typeface="Segoe UI" pitchFamily="34" charset="0"/>
                <a:ea typeface="Segoe UI" pitchFamily="34" charset="-122"/>
                <a:cs typeface="Segoe UI" pitchFamily="34" charset="-120"/>
              </a:rPr>
              <a:t>clearest continuity risk: a 64-day timeline despite strong supplier reliability.</a:t>
            </a:r>
            <a:endParaRPr lang="en-US" sz="1200" dirty="0"/>
          </a:p>
          <a:p>
            <a:pPr marL="203200" indent="-203200">
              <a:lnSpc>
                <a:spcPct val="112000"/>
              </a:lnSpc>
              <a:spcAft>
                <a:spcPts val="900"/>
              </a:spcAft>
              <a:buSzPct val="100000"/>
              <a:buChar char="•"/>
            </a:pPr>
            <a:r>
              <a:rPr lang="en-US" sz="1200" b="1" dirty="0">
                <a:solidFill>
                  <a:srgbClr val="0E2541"/>
                </a:solidFill>
                <a:latin typeface="Segoe UI" pitchFamily="34" charset="0"/>
                <a:ea typeface="Segoe UI" pitchFamily="34" charset="-122"/>
                <a:cs typeface="Segoe UI" pitchFamily="34" charset="-120"/>
              </a:rPr>
              <a:t>COMP042 — </a:t>
            </a:r>
            <a:r>
              <a:rPr lang="en-US" sz="1200" dirty="0">
                <a:solidFill>
                  <a:srgbClr val="1C2B3A"/>
                </a:solidFill>
                <a:latin typeface="Segoe UI" pitchFamily="34" charset="0"/>
                <a:ea typeface="Segoe UI" pitchFamily="34" charset="-122"/>
                <a:cs typeface="Segoe UI" pitchFamily="34" charset="-120"/>
              </a:rPr>
              <a:t>medium-risk delay with moderate reliability and a material backorder volume.</a:t>
            </a:r>
            <a:endParaRPr lang="en-US" sz="1200" dirty="0"/>
          </a:p>
          <a:p>
            <a:pPr marL="203200" indent="-203200">
              <a:lnSpc>
                <a:spcPct val="112000"/>
              </a:lnSpc>
              <a:spcAft>
                <a:spcPts val="900"/>
              </a:spcAft>
              <a:buSzPct val="100000"/>
              <a:buChar char="•"/>
            </a:pPr>
            <a:r>
              <a:rPr lang="en-US" sz="1200" b="1" dirty="0">
                <a:solidFill>
                  <a:srgbClr val="0E2541"/>
                </a:solidFill>
                <a:latin typeface="Segoe UI" pitchFamily="34" charset="0"/>
                <a:ea typeface="Segoe UI" pitchFamily="34" charset="-122"/>
                <a:cs typeface="Segoe UI" pitchFamily="34" charset="-120"/>
              </a:rPr>
              <a:t>COMP043 — </a:t>
            </a:r>
            <a:r>
              <a:rPr lang="en-US" sz="1200" dirty="0">
                <a:solidFill>
                  <a:srgbClr val="1C2B3A"/>
                </a:solidFill>
                <a:latin typeface="Segoe UI" pitchFamily="34" charset="0"/>
                <a:ea typeface="Segoe UI" pitchFamily="34" charset="-122"/>
                <a:cs typeface="Segoe UI" pitchFamily="34" charset="-120"/>
              </a:rPr>
              <a:t>short window, but high defect rate and weak forecast accuracy create dual exposure.</a:t>
            </a:r>
            <a:endParaRPr lang="en-US" sz="1200" dirty="0"/>
          </a:p>
        </p:txBody>
      </p:sp>
      <p:sp>
        <p:nvSpPr>
          <p:cNvPr id="25" name="Shape 23"/>
          <p:cNvSpPr/>
          <p:nvPr/>
        </p:nvSpPr>
        <p:spPr>
          <a:xfrm>
            <a:off x="6537960" y="3127248"/>
            <a:ext cx="5120640" cy="3035808"/>
          </a:xfrm>
          <a:prstGeom prst="rect">
            <a:avLst/>
          </a:prstGeom>
          <a:solidFill>
            <a:srgbClr val="0E2541"/>
          </a:solidFill>
          <a:ln/>
        </p:spPr>
        <p:txBody>
          <a:bodyPr/>
          <a:lstStyle/>
          <a:p>
            <a:endParaRPr lang="en-US"/>
          </a:p>
        </p:txBody>
      </p:sp>
      <p:sp>
        <p:nvSpPr>
          <p:cNvPr id="26" name="Shape 24"/>
          <p:cNvSpPr/>
          <p:nvPr/>
        </p:nvSpPr>
        <p:spPr>
          <a:xfrm>
            <a:off x="6537960" y="3127248"/>
            <a:ext cx="5120640" cy="64008"/>
          </a:xfrm>
          <a:prstGeom prst="rect">
            <a:avLst/>
          </a:prstGeom>
          <a:solidFill>
            <a:srgbClr val="C9A24B"/>
          </a:solidFill>
          <a:ln/>
        </p:spPr>
        <p:txBody>
          <a:bodyPr/>
          <a:lstStyle/>
          <a:p>
            <a:endParaRPr lang="en-US"/>
          </a:p>
        </p:txBody>
      </p:sp>
      <p:sp>
        <p:nvSpPr>
          <p:cNvPr id="27" name="Text 25"/>
          <p:cNvSpPr/>
          <p:nvPr/>
        </p:nvSpPr>
        <p:spPr>
          <a:xfrm>
            <a:off x="6812280" y="3346704"/>
            <a:ext cx="4572000" cy="292608"/>
          </a:xfrm>
          <a:prstGeom prst="rect">
            <a:avLst/>
          </a:prstGeom>
          <a:noFill/>
          <a:ln/>
        </p:spPr>
        <p:txBody>
          <a:bodyPr wrap="square" rtlCol="0" anchor="ctr"/>
          <a:lstStyle/>
          <a:p>
            <a:pPr marL="0" indent="0">
              <a:buNone/>
            </a:pPr>
            <a:r>
              <a:rPr lang="en-US" sz="1200" b="1" kern="0" spc="150" dirty="0">
                <a:solidFill>
                  <a:srgbClr val="C9A24B"/>
                </a:solidFill>
                <a:latin typeface="Segoe UI" pitchFamily="34" charset="0"/>
                <a:ea typeface="Segoe UI" pitchFamily="34" charset="-122"/>
                <a:cs typeface="Segoe UI" pitchFamily="34" charset="-120"/>
              </a:rPr>
              <a:t>LEADERSHIP TAKEAWAY</a:t>
            </a:r>
            <a:endParaRPr lang="en-US" sz="1200" dirty="0"/>
          </a:p>
        </p:txBody>
      </p:sp>
      <p:sp>
        <p:nvSpPr>
          <p:cNvPr id="28" name="Text 26"/>
          <p:cNvSpPr/>
          <p:nvPr/>
        </p:nvSpPr>
        <p:spPr>
          <a:xfrm>
            <a:off x="6812280" y="3712464"/>
            <a:ext cx="4617720" cy="1371600"/>
          </a:xfrm>
          <a:prstGeom prst="rect">
            <a:avLst/>
          </a:prstGeom>
          <a:noFill/>
          <a:ln/>
        </p:spPr>
        <p:txBody>
          <a:bodyPr wrap="square" rtlCol="0" anchor="t"/>
          <a:lstStyle/>
          <a:p>
            <a:pPr marL="0" indent="0">
              <a:lnSpc>
                <a:spcPct val="122000"/>
              </a:lnSpc>
              <a:buNone/>
            </a:pPr>
            <a:r>
              <a:rPr lang="en-US" sz="1450" dirty="0">
                <a:solidFill>
                  <a:srgbClr val="DCE7F2"/>
                </a:solidFill>
                <a:latin typeface="Segoe UI" pitchFamily="34" charset="0"/>
                <a:ea typeface="Segoe UI" pitchFamily="34" charset="-122"/>
                <a:cs typeface="Segoe UI" pitchFamily="34" charset="-120"/>
              </a:rPr>
              <a:t>Compliance risk is driven by the combined effect of </a:t>
            </a:r>
            <a:r>
              <a:rPr lang="en-US" sz="1450" b="1" dirty="0">
                <a:solidFill>
                  <a:srgbClr val="FFFFFF"/>
                </a:solidFill>
                <a:latin typeface="Segoe UI" pitchFamily="34" charset="0"/>
                <a:ea typeface="Segoe UI" pitchFamily="34" charset="-122"/>
                <a:cs typeface="Segoe UI" pitchFamily="34" charset="-120"/>
              </a:rPr>
              <a:t>delay variability, forecast gaps, and component-level quality risk</a:t>
            </a:r>
            <a:r>
              <a:rPr lang="en-US" sz="1450" dirty="0">
                <a:solidFill>
                  <a:srgbClr val="DCE7F2"/>
                </a:solidFill>
                <a:latin typeface="Segoe UI" pitchFamily="34" charset="0"/>
                <a:ea typeface="Segoe UI" pitchFamily="34" charset="-122"/>
                <a:cs typeface="Segoe UI" pitchFamily="34" charset="-120"/>
              </a:rPr>
              <a:t> — factors that together threaten production continuity and audit-ready documentation.</a:t>
            </a:r>
            <a:endParaRPr lang="en-US" sz="1450" dirty="0"/>
          </a:p>
        </p:txBody>
      </p:sp>
      <p:sp>
        <p:nvSpPr>
          <p:cNvPr id="29" name="Shape 27"/>
          <p:cNvSpPr/>
          <p:nvPr/>
        </p:nvSpPr>
        <p:spPr>
          <a:xfrm>
            <a:off x="6812280" y="5212080"/>
            <a:ext cx="4572000" cy="0"/>
          </a:xfrm>
          <a:prstGeom prst="line">
            <a:avLst/>
          </a:prstGeom>
          <a:noFill/>
          <a:ln w="12700">
            <a:solidFill>
              <a:srgbClr val="2E6CA4"/>
            </a:solidFill>
            <a:prstDash val="solid"/>
          </a:ln>
        </p:spPr>
        <p:txBody>
          <a:bodyPr/>
          <a:lstStyle/>
          <a:p>
            <a:endParaRPr lang="en-US"/>
          </a:p>
        </p:txBody>
      </p:sp>
      <p:sp>
        <p:nvSpPr>
          <p:cNvPr id="30" name="Text 28"/>
          <p:cNvSpPr/>
          <p:nvPr/>
        </p:nvSpPr>
        <p:spPr>
          <a:xfrm>
            <a:off x="6812280" y="5321808"/>
            <a:ext cx="4617720" cy="822960"/>
          </a:xfrm>
          <a:prstGeom prst="rect">
            <a:avLst/>
          </a:prstGeom>
          <a:noFill/>
          <a:ln/>
        </p:spPr>
        <p:txBody>
          <a:bodyPr wrap="square" rtlCol="0" anchor="t"/>
          <a:lstStyle/>
          <a:p>
            <a:pPr marL="0" indent="0">
              <a:lnSpc>
                <a:spcPct val="115000"/>
              </a:lnSpc>
              <a:buNone/>
            </a:pPr>
            <a:r>
              <a:rPr lang="en-US" sz="1150" i="1" dirty="0">
                <a:solidFill>
                  <a:srgbClr val="5B9BD5"/>
                </a:solidFill>
                <a:latin typeface="Segoe UI" pitchFamily="34" charset="0"/>
                <a:ea typeface="Segoe UI" pitchFamily="34" charset="-122"/>
                <a:cs typeface="Segoe UI" pitchFamily="34" charset="-120"/>
              </a:rPr>
              <a:t>Action focus: protect schedule on long-cycle parts, tighten supplier governance, and keep exception documentation audit-ready.</a:t>
            </a:r>
            <a:endParaRPr lang="en-US" sz="1150" dirty="0"/>
          </a:p>
        </p:txBody>
      </p:sp>
      <p:sp>
        <p:nvSpPr>
          <p:cNvPr id="31" name="Shape 29"/>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32" name="Text 30"/>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33" name="Text 31"/>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34" name="Text 32"/>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PRIORITY WATCHLIST</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Three flagged components at a glance</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Shape 4"/>
          <p:cNvSpPr/>
          <p:nvPr/>
        </p:nvSpPr>
        <p:spPr>
          <a:xfrm>
            <a:off x="548640" y="1481328"/>
            <a:ext cx="3602736" cy="4617720"/>
          </a:xfrm>
          <a:prstGeom prst="rect">
            <a:avLst/>
          </a:prstGeom>
          <a:solidFill>
            <a:srgbClr val="FFFFFF"/>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7" name="Shape 5"/>
          <p:cNvSpPr/>
          <p:nvPr/>
        </p:nvSpPr>
        <p:spPr>
          <a:xfrm>
            <a:off x="548640" y="1481328"/>
            <a:ext cx="3602736" cy="868680"/>
          </a:xfrm>
          <a:prstGeom prst="rect">
            <a:avLst/>
          </a:prstGeom>
          <a:solidFill>
            <a:srgbClr val="0E2541"/>
          </a:solidFill>
          <a:ln/>
        </p:spPr>
        <p:txBody>
          <a:bodyPr/>
          <a:lstStyle/>
          <a:p>
            <a:endParaRPr lang="en-US"/>
          </a:p>
        </p:txBody>
      </p:sp>
      <p:sp>
        <p:nvSpPr>
          <p:cNvPr id="8" name="Text 6"/>
          <p:cNvSpPr/>
          <p:nvPr/>
        </p:nvSpPr>
        <p:spPr>
          <a:xfrm>
            <a:off x="777240" y="1591056"/>
            <a:ext cx="2139696" cy="457200"/>
          </a:xfrm>
          <a:prstGeom prst="rect">
            <a:avLst/>
          </a:prstGeom>
          <a:noFill/>
          <a:ln/>
        </p:spPr>
        <p:txBody>
          <a:bodyPr wrap="square" rtlCol="0" anchor="ctr"/>
          <a:lstStyle/>
          <a:p>
            <a:pPr marL="0" indent="0">
              <a:buNone/>
            </a:pPr>
            <a:r>
              <a:rPr lang="en-US" sz="2100" b="1" dirty="0">
                <a:solidFill>
                  <a:srgbClr val="FFFFFF"/>
                </a:solidFill>
                <a:latin typeface="Segoe UI" pitchFamily="34" charset="0"/>
                <a:ea typeface="Segoe UI" pitchFamily="34" charset="-122"/>
                <a:cs typeface="Segoe UI" pitchFamily="34" charset="-120"/>
              </a:rPr>
              <a:t>BIND567</a:t>
            </a:r>
            <a:endParaRPr lang="en-US" sz="2100" dirty="0"/>
          </a:p>
        </p:txBody>
      </p:sp>
      <p:sp>
        <p:nvSpPr>
          <p:cNvPr id="9" name="Text 7"/>
          <p:cNvSpPr/>
          <p:nvPr/>
        </p:nvSpPr>
        <p:spPr>
          <a:xfrm>
            <a:off x="786384" y="2011680"/>
            <a:ext cx="3145536" cy="274320"/>
          </a:xfrm>
          <a:prstGeom prst="rect">
            <a:avLst/>
          </a:prstGeom>
          <a:noFill/>
          <a:ln/>
        </p:spPr>
        <p:txBody>
          <a:bodyPr wrap="square" rtlCol="0" anchor="ctr"/>
          <a:lstStyle/>
          <a:p>
            <a:pPr marL="0" indent="0">
              <a:buNone/>
            </a:pPr>
            <a:r>
              <a:rPr lang="en-US" sz="1100" dirty="0">
                <a:solidFill>
                  <a:srgbClr val="5B9BD5"/>
                </a:solidFill>
                <a:latin typeface="Segoe UI" pitchFamily="34" charset="0"/>
                <a:ea typeface="Segoe UI" pitchFamily="34" charset="-122"/>
                <a:cs typeface="Segoe UI" pitchFamily="34" charset="-120"/>
              </a:rPr>
              <a:t>EcoSupply</a:t>
            </a:r>
            <a:endParaRPr lang="en-US" sz="1100" dirty="0"/>
          </a:p>
        </p:txBody>
      </p:sp>
      <p:sp>
        <p:nvSpPr>
          <p:cNvPr id="10" name="Shape 8"/>
          <p:cNvSpPr/>
          <p:nvPr/>
        </p:nvSpPr>
        <p:spPr>
          <a:xfrm>
            <a:off x="2962656" y="1645920"/>
            <a:ext cx="1051560" cy="292608"/>
          </a:xfrm>
          <a:prstGeom prst="roundRect">
            <a:avLst>
              <a:gd name="adj" fmla="val 50000"/>
            </a:avLst>
          </a:prstGeom>
          <a:solidFill>
            <a:srgbClr val="D98A0B"/>
          </a:solidFill>
          <a:ln/>
        </p:spPr>
        <p:txBody>
          <a:bodyPr/>
          <a:lstStyle/>
          <a:p>
            <a:endParaRPr lang="en-US"/>
          </a:p>
        </p:txBody>
      </p:sp>
      <p:sp>
        <p:nvSpPr>
          <p:cNvPr id="11" name="Text 9"/>
          <p:cNvSpPr/>
          <p:nvPr/>
        </p:nvSpPr>
        <p:spPr>
          <a:xfrm>
            <a:off x="2962656" y="1645920"/>
            <a:ext cx="1051560" cy="292608"/>
          </a:xfrm>
          <a:prstGeom prst="rect">
            <a:avLst/>
          </a:prstGeom>
          <a:noFill/>
          <a:ln/>
        </p:spPr>
        <p:txBody>
          <a:bodyPr wrap="square" rtlCol="0" anchor="ctr"/>
          <a:lstStyle/>
          <a:p>
            <a:pPr marL="0" indent="0" algn="ctr">
              <a:buNone/>
            </a:pPr>
            <a:r>
              <a:rPr lang="en-US" sz="950" b="1" kern="0" spc="100" dirty="0">
                <a:solidFill>
                  <a:srgbClr val="FFFFFF"/>
                </a:solidFill>
                <a:latin typeface="Segoe UI" pitchFamily="34" charset="0"/>
                <a:ea typeface="Segoe UI" pitchFamily="34" charset="-122"/>
                <a:cs typeface="Segoe UI" pitchFamily="34" charset="-120"/>
              </a:rPr>
              <a:t>MEDIUM</a:t>
            </a:r>
            <a:endParaRPr lang="en-US" sz="950" dirty="0"/>
          </a:p>
        </p:txBody>
      </p:sp>
      <p:sp>
        <p:nvSpPr>
          <p:cNvPr id="12" name="Text 10"/>
          <p:cNvSpPr/>
          <p:nvPr/>
        </p:nvSpPr>
        <p:spPr>
          <a:xfrm>
            <a:off x="777240" y="2505456"/>
            <a:ext cx="3145536" cy="594360"/>
          </a:xfrm>
          <a:prstGeom prst="rect">
            <a:avLst/>
          </a:prstGeom>
          <a:noFill/>
          <a:ln/>
        </p:spPr>
        <p:txBody>
          <a:bodyPr wrap="square" rtlCol="0" anchor="ctr"/>
          <a:lstStyle/>
          <a:p>
            <a:pPr marL="0" indent="0">
              <a:buNone/>
            </a:pPr>
            <a:r>
              <a:rPr lang="en-US" sz="3000" b="1" dirty="0">
                <a:solidFill>
                  <a:srgbClr val="1F4E79"/>
                </a:solidFill>
                <a:latin typeface="Segoe UI" pitchFamily="34" charset="0"/>
                <a:ea typeface="Segoe UI" pitchFamily="34" charset="-122"/>
                <a:cs typeface="Segoe UI" pitchFamily="34" charset="-120"/>
              </a:rPr>
              <a:t>64 days</a:t>
            </a:r>
            <a:endParaRPr lang="en-US" sz="3000" dirty="0"/>
          </a:p>
        </p:txBody>
      </p:sp>
      <p:sp>
        <p:nvSpPr>
          <p:cNvPr id="13" name="Text 11"/>
          <p:cNvSpPr/>
          <p:nvPr/>
        </p:nvSpPr>
        <p:spPr>
          <a:xfrm>
            <a:off x="795528" y="3108960"/>
            <a:ext cx="3145536" cy="274320"/>
          </a:xfrm>
          <a:prstGeom prst="rect">
            <a:avLst/>
          </a:prstGeom>
          <a:noFill/>
          <a:ln/>
        </p:spPr>
        <p:txBody>
          <a:bodyPr wrap="square" rtlCol="0" anchor="ctr"/>
          <a:lstStyle/>
          <a:p>
            <a:pPr marL="0" indent="0">
              <a:buNone/>
            </a:pPr>
            <a:r>
              <a:rPr lang="en-US" sz="1000" b="1" kern="0" spc="100" dirty="0">
                <a:solidFill>
                  <a:srgbClr val="5B6B7B"/>
                </a:solidFill>
                <a:latin typeface="Segoe UI" pitchFamily="34" charset="0"/>
                <a:ea typeface="Segoe UI" pitchFamily="34" charset="-122"/>
                <a:cs typeface="Segoe UI" pitchFamily="34" charset="-120"/>
              </a:rPr>
              <a:t>DELIVERY TIMELINE</a:t>
            </a:r>
            <a:endParaRPr lang="en-US" sz="1000" dirty="0"/>
          </a:p>
        </p:txBody>
      </p:sp>
      <p:sp>
        <p:nvSpPr>
          <p:cNvPr id="14" name="Shape 12"/>
          <p:cNvSpPr/>
          <p:nvPr/>
        </p:nvSpPr>
        <p:spPr>
          <a:xfrm>
            <a:off x="777240" y="3474720"/>
            <a:ext cx="3145536" cy="0"/>
          </a:xfrm>
          <a:prstGeom prst="line">
            <a:avLst/>
          </a:prstGeom>
          <a:noFill/>
          <a:ln w="12700">
            <a:solidFill>
              <a:srgbClr val="D5E0EC"/>
            </a:solidFill>
            <a:prstDash val="solid"/>
          </a:ln>
        </p:spPr>
        <p:txBody>
          <a:bodyPr/>
          <a:lstStyle/>
          <a:p>
            <a:endParaRPr lang="en-US"/>
          </a:p>
        </p:txBody>
      </p:sp>
      <p:sp>
        <p:nvSpPr>
          <p:cNvPr id="15" name="Text 13"/>
          <p:cNvSpPr/>
          <p:nvPr/>
        </p:nvSpPr>
        <p:spPr>
          <a:xfrm>
            <a:off x="777240" y="3584448"/>
            <a:ext cx="3145536" cy="292608"/>
          </a:xfrm>
          <a:prstGeom prst="rect">
            <a:avLst/>
          </a:prstGeom>
          <a:noFill/>
          <a:ln/>
        </p:spPr>
        <p:txBody>
          <a:bodyPr wrap="square" rtlCol="0" anchor="ctr"/>
          <a:lstStyle/>
          <a:p>
            <a:pPr marL="0" indent="0">
              <a:buNone/>
            </a:pPr>
            <a:r>
              <a:rPr lang="en-US" sz="1100" dirty="0">
                <a:solidFill>
                  <a:srgbClr val="5B6B7B"/>
                </a:solidFill>
                <a:latin typeface="Segoe UI" pitchFamily="34" charset="0"/>
                <a:ea typeface="Segoe UI" pitchFamily="34" charset="-122"/>
                <a:cs typeface="Segoe UI" pitchFamily="34" charset="-120"/>
              </a:rPr>
              <a:t>Expected  </a:t>
            </a:r>
            <a:r>
              <a:rPr lang="en-US" sz="1100" b="1" dirty="0">
                <a:solidFill>
                  <a:srgbClr val="0E2541"/>
                </a:solidFill>
                <a:latin typeface="Segoe UI" pitchFamily="34" charset="0"/>
                <a:ea typeface="Segoe UI" pitchFamily="34" charset="-122"/>
                <a:cs typeface="Segoe UI" pitchFamily="34" charset="-120"/>
              </a:rPr>
              <a:t>15 Dec 2024</a:t>
            </a:r>
            <a:endParaRPr lang="en-US" sz="1100" dirty="0"/>
          </a:p>
        </p:txBody>
      </p:sp>
      <p:sp>
        <p:nvSpPr>
          <p:cNvPr id="16" name="Text 14"/>
          <p:cNvSpPr/>
          <p:nvPr/>
        </p:nvSpPr>
        <p:spPr>
          <a:xfrm>
            <a:off x="777240" y="3968496"/>
            <a:ext cx="3145536" cy="1417320"/>
          </a:xfrm>
          <a:prstGeom prst="rect">
            <a:avLst/>
          </a:prstGeom>
          <a:noFill/>
          <a:ln/>
        </p:spPr>
        <p:txBody>
          <a:bodyPr wrap="square" rtlCol="0" anchor="t"/>
          <a:lstStyle/>
          <a:p>
            <a:pPr marL="0" indent="0">
              <a:lnSpc>
                <a:spcPct val="118000"/>
              </a:lnSpc>
              <a:buNone/>
            </a:pPr>
            <a:r>
              <a:rPr lang="en-US" sz="1200" dirty="0">
                <a:solidFill>
                  <a:srgbClr val="1C2B3A"/>
                </a:solidFill>
                <a:latin typeface="Segoe UI" pitchFamily="34" charset="0"/>
                <a:ea typeface="Segoe UI" pitchFamily="34" charset="-122"/>
                <a:cs typeface="Segoe UI" pitchFamily="34" charset="-120"/>
              </a:rPr>
              <a:t>Longest lead time in the dataset with 26-day variance — strong supplier, but limited tolerance for any upstream disruption.</a:t>
            </a:r>
            <a:endParaRPr lang="en-US" sz="1200" dirty="0"/>
          </a:p>
        </p:txBody>
      </p:sp>
      <p:sp>
        <p:nvSpPr>
          <p:cNvPr id="17" name="Shape 15"/>
          <p:cNvSpPr/>
          <p:nvPr/>
        </p:nvSpPr>
        <p:spPr>
          <a:xfrm>
            <a:off x="548640" y="5678424"/>
            <a:ext cx="3602736" cy="420624"/>
          </a:xfrm>
          <a:prstGeom prst="rect">
            <a:avLst/>
          </a:prstGeom>
          <a:solidFill>
            <a:srgbClr val="EDF3F9"/>
          </a:solidFill>
          <a:ln/>
        </p:spPr>
        <p:txBody>
          <a:bodyPr/>
          <a:lstStyle/>
          <a:p>
            <a:endParaRPr lang="en-US"/>
          </a:p>
        </p:txBody>
      </p:sp>
      <p:sp>
        <p:nvSpPr>
          <p:cNvPr id="18" name="Text 16"/>
          <p:cNvSpPr/>
          <p:nvPr/>
        </p:nvSpPr>
        <p:spPr>
          <a:xfrm>
            <a:off x="777240" y="5678424"/>
            <a:ext cx="3145536" cy="420624"/>
          </a:xfrm>
          <a:prstGeom prst="rect">
            <a:avLst/>
          </a:prstGeom>
          <a:noFill/>
          <a:ln/>
        </p:spPr>
        <p:txBody>
          <a:bodyPr wrap="square" rtlCol="0" anchor="ctr"/>
          <a:lstStyle/>
          <a:p>
            <a:pPr marL="0" indent="0">
              <a:buNone/>
            </a:pPr>
            <a:r>
              <a:rPr lang="en-US" sz="1100" b="1" dirty="0">
                <a:solidFill>
                  <a:srgbClr val="1F4E79"/>
                </a:solidFill>
                <a:latin typeface="Segoe UI" pitchFamily="34" charset="0"/>
                <a:ea typeface="Segoe UI" pitchFamily="34" charset="-122"/>
                <a:cs typeface="Segoe UI" pitchFamily="34" charset="-120"/>
              </a:rPr>
              <a:t>Continuity exposure</a:t>
            </a:r>
            <a:endParaRPr lang="en-US" sz="1100" dirty="0"/>
          </a:p>
        </p:txBody>
      </p:sp>
      <p:sp>
        <p:nvSpPr>
          <p:cNvPr id="19" name="Shape 17"/>
          <p:cNvSpPr/>
          <p:nvPr/>
        </p:nvSpPr>
        <p:spPr>
          <a:xfrm>
            <a:off x="4407408" y="1481328"/>
            <a:ext cx="3602736" cy="4617720"/>
          </a:xfrm>
          <a:prstGeom prst="rect">
            <a:avLst/>
          </a:prstGeom>
          <a:solidFill>
            <a:srgbClr val="FFFFFF"/>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20" name="Shape 18"/>
          <p:cNvSpPr/>
          <p:nvPr/>
        </p:nvSpPr>
        <p:spPr>
          <a:xfrm>
            <a:off x="4407408" y="1481328"/>
            <a:ext cx="3602736" cy="868680"/>
          </a:xfrm>
          <a:prstGeom prst="rect">
            <a:avLst/>
          </a:prstGeom>
          <a:solidFill>
            <a:srgbClr val="0E2541"/>
          </a:solidFill>
          <a:ln/>
        </p:spPr>
        <p:txBody>
          <a:bodyPr/>
          <a:lstStyle/>
          <a:p>
            <a:endParaRPr lang="en-US"/>
          </a:p>
        </p:txBody>
      </p:sp>
      <p:sp>
        <p:nvSpPr>
          <p:cNvPr id="21" name="Text 19"/>
          <p:cNvSpPr/>
          <p:nvPr/>
        </p:nvSpPr>
        <p:spPr>
          <a:xfrm>
            <a:off x="4636008" y="1591056"/>
            <a:ext cx="2139696" cy="457200"/>
          </a:xfrm>
          <a:prstGeom prst="rect">
            <a:avLst/>
          </a:prstGeom>
          <a:noFill/>
          <a:ln/>
        </p:spPr>
        <p:txBody>
          <a:bodyPr wrap="square" rtlCol="0" anchor="ctr"/>
          <a:lstStyle/>
          <a:p>
            <a:pPr marL="0" indent="0">
              <a:buNone/>
            </a:pPr>
            <a:r>
              <a:rPr lang="en-US" sz="2100" b="1" dirty="0">
                <a:solidFill>
                  <a:srgbClr val="FFFFFF"/>
                </a:solidFill>
                <a:latin typeface="Segoe UI" pitchFamily="34" charset="0"/>
                <a:ea typeface="Segoe UI" pitchFamily="34" charset="-122"/>
                <a:cs typeface="Segoe UI" pitchFamily="34" charset="-120"/>
              </a:rPr>
              <a:t>COMP042</a:t>
            </a:r>
            <a:endParaRPr lang="en-US" sz="2100" dirty="0"/>
          </a:p>
        </p:txBody>
      </p:sp>
      <p:sp>
        <p:nvSpPr>
          <p:cNvPr id="22" name="Text 20"/>
          <p:cNvSpPr/>
          <p:nvPr/>
        </p:nvSpPr>
        <p:spPr>
          <a:xfrm>
            <a:off x="4645152" y="2011680"/>
            <a:ext cx="3145536" cy="274320"/>
          </a:xfrm>
          <a:prstGeom prst="rect">
            <a:avLst/>
          </a:prstGeom>
          <a:noFill/>
          <a:ln/>
        </p:spPr>
        <p:txBody>
          <a:bodyPr wrap="square" rtlCol="0" anchor="ctr"/>
          <a:lstStyle/>
          <a:p>
            <a:pPr marL="0" indent="0">
              <a:buNone/>
            </a:pPr>
            <a:r>
              <a:rPr lang="en-US" sz="1100" dirty="0">
                <a:solidFill>
                  <a:srgbClr val="5B9BD5"/>
                </a:solidFill>
                <a:latin typeface="Segoe UI" pitchFamily="34" charset="0"/>
                <a:ea typeface="Segoe UI" pitchFamily="34" charset="-122"/>
                <a:cs typeface="Segoe UI" pitchFamily="34" charset="-120"/>
              </a:rPr>
              <a:t>PrimeLogistics</a:t>
            </a:r>
            <a:endParaRPr lang="en-US" sz="1100" dirty="0"/>
          </a:p>
        </p:txBody>
      </p:sp>
      <p:sp>
        <p:nvSpPr>
          <p:cNvPr id="23" name="Shape 21"/>
          <p:cNvSpPr/>
          <p:nvPr/>
        </p:nvSpPr>
        <p:spPr>
          <a:xfrm>
            <a:off x="6821424" y="1645920"/>
            <a:ext cx="1051560" cy="292608"/>
          </a:xfrm>
          <a:prstGeom prst="roundRect">
            <a:avLst>
              <a:gd name="adj" fmla="val 50000"/>
            </a:avLst>
          </a:prstGeom>
          <a:solidFill>
            <a:srgbClr val="D98A0B"/>
          </a:solidFill>
          <a:ln/>
        </p:spPr>
        <p:txBody>
          <a:bodyPr/>
          <a:lstStyle/>
          <a:p>
            <a:endParaRPr lang="en-US"/>
          </a:p>
        </p:txBody>
      </p:sp>
      <p:sp>
        <p:nvSpPr>
          <p:cNvPr id="24" name="Text 22"/>
          <p:cNvSpPr/>
          <p:nvPr/>
        </p:nvSpPr>
        <p:spPr>
          <a:xfrm>
            <a:off x="6821424" y="1645920"/>
            <a:ext cx="1051560" cy="292608"/>
          </a:xfrm>
          <a:prstGeom prst="rect">
            <a:avLst/>
          </a:prstGeom>
          <a:noFill/>
          <a:ln/>
        </p:spPr>
        <p:txBody>
          <a:bodyPr wrap="square" rtlCol="0" anchor="ctr"/>
          <a:lstStyle/>
          <a:p>
            <a:pPr marL="0" indent="0" algn="ctr">
              <a:buNone/>
            </a:pPr>
            <a:r>
              <a:rPr lang="en-US" sz="950" b="1" kern="0" spc="100" dirty="0">
                <a:solidFill>
                  <a:srgbClr val="FFFFFF"/>
                </a:solidFill>
                <a:latin typeface="Segoe UI" pitchFamily="34" charset="0"/>
                <a:ea typeface="Segoe UI" pitchFamily="34" charset="-122"/>
                <a:cs typeface="Segoe UI" pitchFamily="34" charset="-120"/>
              </a:rPr>
              <a:t>MEDIUM</a:t>
            </a:r>
            <a:endParaRPr lang="en-US" sz="950" dirty="0"/>
          </a:p>
        </p:txBody>
      </p:sp>
      <p:sp>
        <p:nvSpPr>
          <p:cNvPr id="25" name="Text 23"/>
          <p:cNvSpPr/>
          <p:nvPr/>
        </p:nvSpPr>
        <p:spPr>
          <a:xfrm>
            <a:off x="4636008" y="2505456"/>
            <a:ext cx="3145536" cy="594360"/>
          </a:xfrm>
          <a:prstGeom prst="rect">
            <a:avLst/>
          </a:prstGeom>
          <a:noFill/>
          <a:ln/>
        </p:spPr>
        <p:txBody>
          <a:bodyPr wrap="square" rtlCol="0" anchor="ctr"/>
          <a:lstStyle/>
          <a:p>
            <a:pPr marL="0" indent="0">
              <a:buNone/>
            </a:pPr>
            <a:r>
              <a:rPr lang="en-US" sz="3000" b="1" dirty="0">
                <a:solidFill>
                  <a:srgbClr val="1F4E79"/>
                </a:solidFill>
                <a:latin typeface="Segoe UI" pitchFamily="34" charset="0"/>
                <a:ea typeface="Segoe UI" pitchFamily="34" charset="-122"/>
                <a:cs typeface="Segoe UI" pitchFamily="34" charset="-120"/>
              </a:rPr>
              <a:t>86%</a:t>
            </a:r>
            <a:endParaRPr lang="en-US" sz="3000" dirty="0"/>
          </a:p>
        </p:txBody>
      </p:sp>
      <p:sp>
        <p:nvSpPr>
          <p:cNvPr id="26" name="Text 24"/>
          <p:cNvSpPr/>
          <p:nvPr/>
        </p:nvSpPr>
        <p:spPr>
          <a:xfrm>
            <a:off x="4654296" y="3108960"/>
            <a:ext cx="3145536" cy="274320"/>
          </a:xfrm>
          <a:prstGeom prst="rect">
            <a:avLst/>
          </a:prstGeom>
          <a:noFill/>
          <a:ln/>
        </p:spPr>
        <p:txBody>
          <a:bodyPr wrap="square" rtlCol="0" anchor="ctr"/>
          <a:lstStyle/>
          <a:p>
            <a:pPr marL="0" indent="0">
              <a:buNone/>
            </a:pPr>
            <a:r>
              <a:rPr lang="en-US" sz="1000" b="1" kern="0" spc="100" dirty="0">
                <a:solidFill>
                  <a:srgbClr val="5B6B7B"/>
                </a:solidFill>
                <a:latin typeface="Segoe UI" pitchFamily="34" charset="0"/>
                <a:ea typeface="Segoe UI" pitchFamily="34" charset="-122"/>
                <a:cs typeface="Segoe UI" pitchFamily="34" charset="-120"/>
              </a:rPr>
              <a:t>ON-TIME DELIVERY</a:t>
            </a:r>
            <a:endParaRPr lang="en-US" sz="1000" dirty="0"/>
          </a:p>
        </p:txBody>
      </p:sp>
      <p:sp>
        <p:nvSpPr>
          <p:cNvPr id="27" name="Shape 25"/>
          <p:cNvSpPr/>
          <p:nvPr/>
        </p:nvSpPr>
        <p:spPr>
          <a:xfrm>
            <a:off x="4636008" y="3474720"/>
            <a:ext cx="3145536" cy="0"/>
          </a:xfrm>
          <a:prstGeom prst="line">
            <a:avLst/>
          </a:prstGeom>
          <a:noFill/>
          <a:ln w="12700">
            <a:solidFill>
              <a:srgbClr val="D5E0EC"/>
            </a:solidFill>
            <a:prstDash val="solid"/>
          </a:ln>
        </p:spPr>
        <p:txBody>
          <a:bodyPr/>
          <a:lstStyle/>
          <a:p>
            <a:endParaRPr lang="en-US"/>
          </a:p>
        </p:txBody>
      </p:sp>
      <p:sp>
        <p:nvSpPr>
          <p:cNvPr id="28" name="Text 26"/>
          <p:cNvSpPr/>
          <p:nvPr/>
        </p:nvSpPr>
        <p:spPr>
          <a:xfrm>
            <a:off x="4636008" y="3584448"/>
            <a:ext cx="3145536" cy="292608"/>
          </a:xfrm>
          <a:prstGeom prst="rect">
            <a:avLst/>
          </a:prstGeom>
          <a:noFill/>
          <a:ln/>
        </p:spPr>
        <p:txBody>
          <a:bodyPr wrap="square" rtlCol="0" anchor="ctr"/>
          <a:lstStyle/>
          <a:p>
            <a:pPr marL="0" indent="0">
              <a:buNone/>
            </a:pPr>
            <a:r>
              <a:rPr lang="en-US" sz="1100" dirty="0">
                <a:solidFill>
                  <a:srgbClr val="5B6B7B"/>
                </a:solidFill>
                <a:latin typeface="Segoe UI" pitchFamily="34" charset="0"/>
                <a:ea typeface="Segoe UI" pitchFamily="34" charset="-122"/>
                <a:cs typeface="Segoe UI" pitchFamily="34" charset="-120"/>
              </a:rPr>
              <a:t>Expected  </a:t>
            </a:r>
            <a:r>
              <a:rPr lang="en-US" sz="1100" b="1" dirty="0">
                <a:solidFill>
                  <a:srgbClr val="0E2541"/>
                </a:solidFill>
                <a:latin typeface="Segoe UI" pitchFamily="34" charset="0"/>
                <a:ea typeface="Segoe UI" pitchFamily="34" charset="-122"/>
                <a:cs typeface="Segoe UI" pitchFamily="34" charset="-120"/>
              </a:rPr>
              <a:t>18 Dec 2024</a:t>
            </a:r>
            <a:endParaRPr lang="en-US" sz="1100" dirty="0"/>
          </a:p>
        </p:txBody>
      </p:sp>
      <p:sp>
        <p:nvSpPr>
          <p:cNvPr id="29" name="Text 27"/>
          <p:cNvSpPr/>
          <p:nvPr/>
        </p:nvSpPr>
        <p:spPr>
          <a:xfrm>
            <a:off x="4636008" y="3968496"/>
            <a:ext cx="3145536" cy="1417320"/>
          </a:xfrm>
          <a:prstGeom prst="rect">
            <a:avLst/>
          </a:prstGeom>
          <a:noFill/>
          <a:ln/>
        </p:spPr>
        <p:txBody>
          <a:bodyPr wrap="square" rtlCol="0" anchor="t"/>
          <a:lstStyle/>
          <a:p>
            <a:pPr marL="0" indent="0">
              <a:lnSpc>
                <a:spcPct val="118000"/>
              </a:lnSpc>
              <a:buNone/>
            </a:pPr>
            <a:r>
              <a:rPr lang="en-US" sz="1200" dirty="0">
                <a:solidFill>
                  <a:srgbClr val="1C2B3A"/>
                </a:solidFill>
                <a:latin typeface="Segoe UI" pitchFamily="34" charset="0"/>
                <a:ea typeface="Segoe UI" pitchFamily="34" charset="-122"/>
                <a:cs typeface="Segoe UI" pitchFamily="34" charset="-120"/>
              </a:rPr>
              <a:t>Shorter 13-day timeline, but moderate reliability (92%) and material backorder volume signal fulfillment variability.</a:t>
            </a:r>
            <a:endParaRPr lang="en-US" sz="1200" dirty="0"/>
          </a:p>
        </p:txBody>
      </p:sp>
      <p:sp>
        <p:nvSpPr>
          <p:cNvPr id="30" name="Shape 28"/>
          <p:cNvSpPr/>
          <p:nvPr/>
        </p:nvSpPr>
        <p:spPr>
          <a:xfrm>
            <a:off x="4407408" y="5678424"/>
            <a:ext cx="3602736" cy="420624"/>
          </a:xfrm>
          <a:prstGeom prst="rect">
            <a:avLst/>
          </a:prstGeom>
          <a:solidFill>
            <a:srgbClr val="EDF3F9"/>
          </a:solidFill>
          <a:ln/>
        </p:spPr>
        <p:txBody>
          <a:bodyPr/>
          <a:lstStyle/>
          <a:p>
            <a:endParaRPr lang="en-US"/>
          </a:p>
        </p:txBody>
      </p:sp>
      <p:sp>
        <p:nvSpPr>
          <p:cNvPr id="31" name="Text 29"/>
          <p:cNvSpPr/>
          <p:nvPr/>
        </p:nvSpPr>
        <p:spPr>
          <a:xfrm>
            <a:off x="4636008" y="5678424"/>
            <a:ext cx="3145536" cy="420624"/>
          </a:xfrm>
          <a:prstGeom prst="rect">
            <a:avLst/>
          </a:prstGeom>
          <a:noFill/>
          <a:ln/>
        </p:spPr>
        <p:txBody>
          <a:bodyPr wrap="square" rtlCol="0" anchor="ctr"/>
          <a:lstStyle/>
          <a:p>
            <a:pPr marL="0" indent="0">
              <a:buNone/>
            </a:pPr>
            <a:r>
              <a:rPr lang="en-US" sz="1100" b="1" dirty="0">
                <a:solidFill>
                  <a:srgbClr val="1F4E79"/>
                </a:solidFill>
                <a:latin typeface="Segoe UI" pitchFamily="34" charset="0"/>
                <a:ea typeface="Segoe UI" pitchFamily="34" charset="-122"/>
                <a:cs typeface="Segoe UI" pitchFamily="34" charset="-120"/>
              </a:rPr>
              <a:t>Fulfillment risk</a:t>
            </a:r>
            <a:endParaRPr lang="en-US" sz="1100" dirty="0"/>
          </a:p>
        </p:txBody>
      </p:sp>
      <p:sp>
        <p:nvSpPr>
          <p:cNvPr id="32" name="Shape 30"/>
          <p:cNvSpPr/>
          <p:nvPr/>
        </p:nvSpPr>
        <p:spPr>
          <a:xfrm>
            <a:off x="8266176" y="1481328"/>
            <a:ext cx="3602736" cy="4617720"/>
          </a:xfrm>
          <a:prstGeom prst="rect">
            <a:avLst/>
          </a:prstGeom>
          <a:solidFill>
            <a:srgbClr val="FFFFFF"/>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33" name="Shape 31"/>
          <p:cNvSpPr/>
          <p:nvPr/>
        </p:nvSpPr>
        <p:spPr>
          <a:xfrm>
            <a:off x="8266176" y="1481328"/>
            <a:ext cx="3602736" cy="868680"/>
          </a:xfrm>
          <a:prstGeom prst="rect">
            <a:avLst/>
          </a:prstGeom>
          <a:solidFill>
            <a:srgbClr val="0E2541"/>
          </a:solidFill>
          <a:ln/>
        </p:spPr>
        <p:txBody>
          <a:bodyPr/>
          <a:lstStyle/>
          <a:p>
            <a:endParaRPr lang="en-US"/>
          </a:p>
        </p:txBody>
      </p:sp>
      <p:sp>
        <p:nvSpPr>
          <p:cNvPr id="34" name="Text 32"/>
          <p:cNvSpPr/>
          <p:nvPr/>
        </p:nvSpPr>
        <p:spPr>
          <a:xfrm>
            <a:off x="8494776" y="1591056"/>
            <a:ext cx="2139696" cy="457200"/>
          </a:xfrm>
          <a:prstGeom prst="rect">
            <a:avLst/>
          </a:prstGeom>
          <a:noFill/>
          <a:ln/>
        </p:spPr>
        <p:txBody>
          <a:bodyPr wrap="square" rtlCol="0" anchor="ctr"/>
          <a:lstStyle/>
          <a:p>
            <a:pPr marL="0" indent="0">
              <a:buNone/>
            </a:pPr>
            <a:r>
              <a:rPr lang="en-US" sz="2100" b="1" dirty="0">
                <a:solidFill>
                  <a:srgbClr val="FFFFFF"/>
                </a:solidFill>
                <a:latin typeface="Segoe UI" pitchFamily="34" charset="0"/>
                <a:ea typeface="Segoe UI" pitchFamily="34" charset="-122"/>
                <a:cs typeface="Segoe UI" pitchFamily="34" charset="-120"/>
              </a:rPr>
              <a:t>COMP043</a:t>
            </a:r>
            <a:endParaRPr lang="en-US" sz="2100" dirty="0"/>
          </a:p>
        </p:txBody>
      </p:sp>
      <p:sp>
        <p:nvSpPr>
          <p:cNvPr id="35" name="Text 33"/>
          <p:cNvSpPr/>
          <p:nvPr/>
        </p:nvSpPr>
        <p:spPr>
          <a:xfrm>
            <a:off x="8503920" y="2011680"/>
            <a:ext cx="3145536" cy="274320"/>
          </a:xfrm>
          <a:prstGeom prst="rect">
            <a:avLst/>
          </a:prstGeom>
          <a:noFill/>
          <a:ln/>
        </p:spPr>
        <p:txBody>
          <a:bodyPr wrap="square" rtlCol="0" anchor="ctr"/>
          <a:lstStyle/>
          <a:p>
            <a:pPr marL="0" indent="0">
              <a:buNone/>
            </a:pPr>
            <a:r>
              <a:rPr lang="en-US" sz="1100" dirty="0">
                <a:solidFill>
                  <a:srgbClr val="5B9BD5"/>
                </a:solidFill>
                <a:latin typeface="Segoe UI" pitchFamily="34" charset="0"/>
                <a:ea typeface="Segoe UI" pitchFamily="34" charset="-122"/>
                <a:cs typeface="Segoe UI" pitchFamily="34" charset="-120"/>
              </a:rPr>
              <a:t>NextGen Pharma</a:t>
            </a:r>
            <a:endParaRPr lang="en-US" sz="1100" dirty="0"/>
          </a:p>
        </p:txBody>
      </p:sp>
      <p:sp>
        <p:nvSpPr>
          <p:cNvPr id="36" name="Shape 34"/>
          <p:cNvSpPr/>
          <p:nvPr/>
        </p:nvSpPr>
        <p:spPr>
          <a:xfrm>
            <a:off x="10680192" y="1645920"/>
            <a:ext cx="1051560" cy="292608"/>
          </a:xfrm>
          <a:prstGeom prst="roundRect">
            <a:avLst>
              <a:gd name="adj" fmla="val 50000"/>
            </a:avLst>
          </a:prstGeom>
          <a:solidFill>
            <a:srgbClr val="D98A0B"/>
          </a:solidFill>
          <a:ln/>
        </p:spPr>
        <p:txBody>
          <a:bodyPr/>
          <a:lstStyle/>
          <a:p>
            <a:endParaRPr lang="en-US"/>
          </a:p>
        </p:txBody>
      </p:sp>
      <p:sp>
        <p:nvSpPr>
          <p:cNvPr id="37" name="Text 35"/>
          <p:cNvSpPr/>
          <p:nvPr/>
        </p:nvSpPr>
        <p:spPr>
          <a:xfrm>
            <a:off x="10680192" y="1645920"/>
            <a:ext cx="1051560" cy="292608"/>
          </a:xfrm>
          <a:prstGeom prst="rect">
            <a:avLst/>
          </a:prstGeom>
          <a:noFill/>
          <a:ln/>
        </p:spPr>
        <p:txBody>
          <a:bodyPr wrap="square" rtlCol="0" anchor="ctr"/>
          <a:lstStyle/>
          <a:p>
            <a:pPr marL="0" indent="0" algn="ctr">
              <a:buNone/>
            </a:pPr>
            <a:r>
              <a:rPr lang="en-US" sz="950" b="1" kern="0" spc="100" dirty="0">
                <a:solidFill>
                  <a:srgbClr val="FFFFFF"/>
                </a:solidFill>
                <a:latin typeface="Segoe UI" pitchFamily="34" charset="0"/>
                <a:ea typeface="Segoe UI" pitchFamily="34" charset="-122"/>
                <a:cs typeface="Segoe UI" pitchFamily="34" charset="-120"/>
              </a:rPr>
              <a:t>MEDIUM</a:t>
            </a:r>
            <a:endParaRPr lang="en-US" sz="950" dirty="0"/>
          </a:p>
        </p:txBody>
      </p:sp>
      <p:sp>
        <p:nvSpPr>
          <p:cNvPr id="38" name="Text 36"/>
          <p:cNvSpPr/>
          <p:nvPr/>
        </p:nvSpPr>
        <p:spPr>
          <a:xfrm>
            <a:off x="8494776" y="2505456"/>
            <a:ext cx="3145536" cy="594360"/>
          </a:xfrm>
          <a:prstGeom prst="rect">
            <a:avLst/>
          </a:prstGeom>
          <a:noFill/>
          <a:ln/>
        </p:spPr>
        <p:txBody>
          <a:bodyPr wrap="square" rtlCol="0" anchor="ctr"/>
          <a:lstStyle/>
          <a:p>
            <a:pPr marL="0" indent="0">
              <a:buNone/>
            </a:pPr>
            <a:r>
              <a:rPr lang="en-US" sz="3000" b="1" dirty="0">
                <a:solidFill>
                  <a:srgbClr val="1F4E79"/>
                </a:solidFill>
                <a:latin typeface="Segoe UI" pitchFamily="34" charset="0"/>
                <a:ea typeface="Segoe UI" pitchFamily="34" charset="-122"/>
                <a:cs typeface="Segoe UI" pitchFamily="34" charset="-120"/>
              </a:rPr>
              <a:t>4.89%</a:t>
            </a:r>
            <a:endParaRPr lang="en-US" sz="3000" dirty="0"/>
          </a:p>
        </p:txBody>
      </p:sp>
      <p:sp>
        <p:nvSpPr>
          <p:cNvPr id="39" name="Text 37"/>
          <p:cNvSpPr/>
          <p:nvPr/>
        </p:nvSpPr>
        <p:spPr>
          <a:xfrm>
            <a:off x="8513064" y="3108960"/>
            <a:ext cx="3145536" cy="274320"/>
          </a:xfrm>
          <a:prstGeom prst="rect">
            <a:avLst/>
          </a:prstGeom>
          <a:noFill/>
          <a:ln/>
        </p:spPr>
        <p:txBody>
          <a:bodyPr wrap="square" rtlCol="0" anchor="ctr"/>
          <a:lstStyle/>
          <a:p>
            <a:pPr marL="0" indent="0">
              <a:buNone/>
            </a:pPr>
            <a:r>
              <a:rPr lang="en-US" sz="1000" b="1" kern="0" spc="100" dirty="0">
                <a:solidFill>
                  <a:srgbClr val="5B6B7B"/>
                </a:solidFill>
                <a:latin typeface="Segoe UI" pitchFamily="34" charset="0"/>
                <a:ea typeface="Segoe UI" pitchFamily="34" charset="-122"/>
                <a:cs typeface="Segoe UI" pitchFamily="34" charset="-120"/>
              </a:rPr>
              <a:t>DEFECT RATE</a:t>
            </a:r>
            <a:endParaRPr lang="en-US" sz="1000" dirty="0"/>
          </a:p>
        </p:txBody>
      </p:sp>
      <p:sp>
        <p:nvSpPr>
          <p:cNvPr id="40" name="Shape 38"/>
          <p:cNvSpPr/>
          <p:nvPr/>
        </p:nvSpPr>
        <p:spPr>
          <a:xfrm>
            <a:off x="8494776" y="3474720"/>
            <a:ext cx="3145536" cy="0"/>
          </a:xfrm>
          <a:prstGeom prst="line">
            <a:avLst/>
          </a:prstGeom>
          <a:noFill/>
          <a:ln w="12700">
            <a:solidFill>
              <a:srgbClr val="D5E0EC"/>
            </a:solidFill>
            <a:prstDash val="solid"/>
          </a:ln>
        </p:spPr>
        <p:txBody>
          <a:bodyPr/>
          <a:lstStyle/>
          <a:p>
            <a:endParaRPr lang="en-US"/>
          </a:p>
        </p:txBody>
      </p:sp>
      <p:sp>
        <p:nvSpPr>
          <p:cNvPr id="41" name="Text 39"/>
          <p:cNvSpPr/>
          <p:nvPr/>
        </p:nvSpPr>
        <p:spPr>
          <a:xfrm>
            <a:off x="8494776" y="3584448"/>
            <a:ext cx="3145536" cy="292608"/>
          </a:xfrm>
          <a:prstGeom prst="rect">
            <a:avLst/>
          </a:prstGeom>
          <a:noFill/>
          <a:ln/>
        </p:spPr>
        <p:txBody>
          <a:bodyPr wrap="square" rtlCol="0" anchor="ctr"/>
          <a:lstStyle/>
          <a:p>
            <a:pPr marL="0" indent="0">
              <a:buNone/>
            </a:pPr>
            <a:r>
              <a:rPr lang="en-US" sz="1100" dirty="0">
                <a:solidFill>
                  <a:srgbClr val="5B6B7B"/>
                </a:solidFill>
                <a:latin typeface="Segoe UI" pitchFamily="34" charset="0"/>
                <a:ea typeface="Segoe UI" pitchFamily="34" charset="-122"/>
                <a:cs typeface="Segoe UI" pitchFamily="34" charset="-120"/>
              </a:rPr>
              <a:t>Expected  </a:t>
            </a:r>
            <a:r>
              <a:rPr lang="en-US" sz="1100" b="1" dirty="0">
                <a:solidFill>
                  <a:srgbClr val="0E2541"/>
                </a:solidFill>
                <a:latin typeface="Segoe UI" pitchFamily="34" charset="0"/>
                <a:ea typeface="Segoe UI" pitchFamily="34" charset="-122"/>
                <a:cs typeface="Segoe UI" pitchFamily="34" charset="-120"/>
              </a:rPr>
              <a:t>19 Dec 2024</a:t>
            </a:r>
            <a:endParaRPr lang="en-US" sz="1100" dirty="0"/>
          </a:p>
        </p:txBody>
      </p:sp>
      <p:sp>
        <p:nvSpPr>
          <p:cNvPr id="42" name="Text 40"/>
          <p:cNvSpPr/>
          <p:nvPr/>
        </p:nvSpPr>
        <p:spPr>
          <a:xfrm>
            <a:off x="8494776" y="3968496"/>
            <a:ext cx="3145536" cy="1417320"/>
          </a:xfrm>
          <a:prstGeom prst="rect">
            <a:avLst/>
          </a:prstGeom>
          <a:noFill/>
          <a:ln/>
        </p:spPr>
        <p:txBody>
          <a:bodyPr wrap="square" rtlCol="0" anchor="t"/>
          <a:lstStyle/>
          <a:p>
            <a:pPr marL="0" indent="0">
              <a:lnSpc>
                <a:spcPct val="118000"/>
              </a:lnSpc>
              <a:buNone/>
            </a:pPr>
            <a:r>
              <a:rPr lang="en-US" sz="1200" dirty="0">
                <a:solidFill>
                  <a:srgbClr val="1C2B3A"/>
                </a:solidFill>
                <a:latin typeface="Segoe UI" pitchFamily="34" charset="0"/>
                <a:ea typeface="Segoe UI" pitchFamily="34" charset="-122"/>
                <a:cs typeface="Segoe UI" pitchFamily="34" charset="-120"/>
              </a:rPr>
              <a:t>Shortest window but riskiest profile: high defects and 80% forecast accuracy raise rework and replenishment pressure.</a:t>
            </a:r>
            <a:endParaRPr lang="en-US" sz="1200" dirty="0"/>
          </a:p>
        </p:txBody>
      </p:sp>
      <p:sp>
        <p:nvSpPr>
          <p:cNvPr id="43" name="Shape 41"/>
          <p:cNvSpPr/>
          <p:nvPr/>
        </p:nvSpPr>
        <p:spPr>
          <a:xfrm>
            <a:off x="8266176" y="5678424"/>
            <a:ext cx="3602736" cy="420624"/>
          </a:xfrm>
          <a:prstGeom prst="rect">
            <a:avLst/>
          </a:prstGeom>
          <a:solidFill>
            <a:srgbClr val="EDF3F9"/>
          </a:solidFill>
          <a:ln/>
        </p:spPr>
        <p:txBody>
          <a:bodyPr/>
          <a:lstStyle/>
          <a:p>
            <a:endParaRPr lang="en-US"/>
          </a:p>
        </p:txBody>
      </p:sp>
      <p:sp>
        <p:nvSpPr>
          <p:cNvPr id="44" name="Text 42"/>
          <p:cNvSpPr/>
          <p:nvPr/>
        </p:nvSpPr>
        <p:spPr>
          <a:xfrm>
            <a:off x="8494776" y="5678424"/>
            <a:ext cx="3145536" cy="420624"/>
          </a:xfrm>
          <a:prstGeom prst="rect">
            <a:avLst/>
          </a:prstGeom>
          <a:noFill/>
          <a:ln/>
        </p:spPr>
        <p:txBody>
          <a:bodyPr wrap="square" rtlCol="0" anchor="ctr"/>
          <a:lstStyle/>
          <a:p>
            <a:pPr marL="0" indent="0">
              <a:buNone/>
            </a:pPr>
            <a:r>
              <a:rPr lang="en-US" sz="1100" b="1" dirty="0">
                <a:solidFill>
                  <a:srgbClr val="1F4E79"/>
                </a:solidFill>
                <a:latin typeface="Segoe UI" pitchFamily="34" charset="0"/>
                <a:ea typeface="Segoe UI" pitchFamily="34" charset="-122"/>
                <a:cs typeface="Segoe UI" pitchFamily="34" charset="-120"/>
              </a:rPr>
              <a:t>Quality + planning</a:t>
            </a:r>
            <a:endParaRPr lang="en-US" sz="1100" dirty="0"/>
          </a:p>
        </p:txBody>
      </p:sp>
      <p:sp>
        <p:nvSpPr>
          <p:cNvPr id="45" name="Shape 43"/>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46" name="Text 44"/>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47" name="Text 45"/>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48" name="Text 46"/>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DATA SNAPSHOT</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Delivery timelines and on-time performance</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Shape 4"/>
          <p:cNvSpPr/>
          <p:nvPr/>
        </p:nvSpPr>
        <p:spPr>
          <a:xfrm>
            <a:off x="548640" y="1481328"/>
            <a:ext cx="5532120" cy="3703320"/>
          </a:xfrm>
          <a:prstGeom prst="rect">
            <a:avLst/>
          </a:prstGeom>
          <a:solidFill>
            <a:srgbClr val="F6F9FC"/>
          </a:solidFill>
          <a:ln w="12700">
            <a:solidFill>
              <a:srgbClr val="D5E0EC"/>
            </a:solidFill>
            <a:prstDash val="solid"/>
          </a:ln>
        </p:spPr>
        <p:txBody>
          <a:bodyPr/>
          <a:lstStyle/>
          <a:p>
            <a:endParaRPr lang="en-US"/>
          </a:p>
        </p:txBody>
      </p:sp>
      <p:sp>
        <p:nvSpPr>
          <p:cNvPr id="7" name="Text 5"/>
          <p:cNvSpPr/>
          <p:nvPr/>
        </p:nvSpPr>
        <p:spPr>
          <a:xfrm>
            <a:off x="731520" y="1627632"/>
            <a:ext cx="5212080" cy="365760"/>
          </a:xfrm>
          <a:prstGeom prst="rect">
            <a:avLst/>
          </a:prstGeom>
          <a:noFill/>
          <a:ln/>
        </p:spPr>
        <p:txBody>
          <a:bodyPr wrap="square" rtlCol="0" anchor="ctr"/>
          <a:lstStyle/>
          <a:p>
            <a:pPr marL="0" indent="0">
              <a:buNone/>
            </a:pPr>
            <a:r>
              <a:rPr lang="en-US" sz="1300" b="1" dirty="0">
                <a:solidFill>
                  <a:srgbClr val="0E2541"/>
                </a:solidFill>
                <a:latin typeface="Segoe UI" pitchFamily="34" charset="0"/>
                <a:ea typeface="Segoe UI" pitchFamily="34" charset="-122"/>
                <a:cs typeface="Segoe UI" pitchFamily="34" charset="-120"/>
              </a:rPr>
              <a:t>Average delivery timeline by risk level (days)</a:t>
            </a:r>
            <a:endParaRPr lang="en-US" sz="1300" dirty="0"/>
          </a:p>
        </p:txBody>
      </p:sp>
      <p:graphicFrame>
        <p:nvGraphicFramePr>
          <p:cNvPr id="8" name="Chart 0"/>
          <p:cNvGraphicFramePr/>
          <p:nvPr/>
        </p:nvGraphicFramePr>
        <p:xfrm>
          <a:off x="640080" y="2057400"/>
          <a:ext cx="534924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6309360" y="1481328"/>
            <a:ext cx="5330952" cy="3703320"/>
          </a:xfrm>
          <a:prstGeom prst="rect">
            <a:avLst/>
          </a:prstGeom>
          <a:solidFill>
            <a:srgbClr val="F6F9FC"/>
          </a:solidFill>
          <a:ln w="12700">
            <a:solidFill>
              <a:srgbClr val="D5E0EC"/>
            </a:solidFill>
            <a:prstDash val="solid"/>
          </a:ln>
        </p:spPr>
        <p:txBody>
          <a:bodyPr/>
          <a:lstStyle/>
          <a:p>
            <a:endParaRPr lang="en-US"/>
          </a:p>
        </p:txBody>
      </p:sp>
      <p:sp>
        <p:nvSpPr>
          <p:cNvPr id="10" name="Text 7"/>
          <p:cNvSpPr/>
          <p:nvPr/>
        </p:nvSpPr>
        <p:spPr>
          <a:xfrm>
            <a:off x="6492240" y="1627632"/>
            <a:ext cx="5029200" cy="365760"/>
          </a:xfrm>
          <a:prstGeom prst="rect">
            <a:avLst/>
          </a:prstGeom>
          <a:noFill/>
          <a:ln/>
        </p:spPr>
        <p:txBody>
          <a:bodyPr wrap="square" rtlCol="0" anchor="ctr"/>
          <a:lstStyle/>
          <a:p>
            <a:pPr marL="0" indent="0">
              <a:buNone/>
            </a:pPr>
            <a:r>
              <a:rPr lang="en-US" sz="1300" b="1" dirty="0">
                <a:solidFill>
                  <a:srgbClr val="0E2541"/>
                </a:solidFill>
                <a:latin typeface="Segoe UI" pitchFamily="34" charset="0"/>
                <a:ea typeface="Segoe UI" pitchFamily="34" charset="-122"/>
                <a:cs typeface="Segoe UI" pitchFamily="34" charset="-120"/>
              </a:rPr>
              <a:t>On-time delivery rate — delayed components (%)</a:t>
            </a:r>
            <a:endParaRPr lang="en-US" sz="1300" dirty="0"/>
          </a:p>
        </p:txBody>
      </p:sp>
      <p:graphicFrame>
        <p:nvGraphicFramePr>
          <p:cNvPr id="11" name="Chart 1"/>
          <p:cNvGraphicFramePr/>
          <p:nvPr/>
        </p:nvGraphicFramePr>
        <p:xfrm>
          <a:off x="6400800" y="2057400"/>
          <a:ext cx="5166360" cy="2971800"/>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8"/>
          <p:cNvSpPr/>
          <p:nvPr/>
        </p:nvSpPr>
        <p:spPr>
          <a:xfrm>
            <a:off x="548640" y="5349240"/>
            <a:ext cx="11091672" cy="868680"/>
          </a:xfrm>
          <a:prstGeom prst="rect">
            <a:avLst/>
          </a:prstGeom>
          <a:solidFill>
            <a:srgbClr val="0E2541"/>
          </a:solidFill>
          <a:ln/>
        </p:spPr>
        <p:txBody>
          <a:bodyPr/>
          <a:lstStyle/>
          <a:p>
            <a:endParaRPr lang="en-US"/>
          </a:p>
        </p:txBody>
      </p:sp>
      <p:sp>
        <p:nvSpPr>
          <p:cNvPr id="13" name="Shape 9"/>
          <p:cNvSpPr/>
          <p:nvPr/>
        </p:nvSpPr>
        <p:spPr>
          <a:xfrm>
            <a:off x="548640" y="5349240"/>
            <a:ext cx="73152" cy="868680"/>
          </a:xfrm>
          <a:prstGeom prst="rect">
            <a:avLst/>
          </a:prstGeom>
          <a:solidFill>
            <a:srgbClr val="C9A24B"/>
          </a:solidFill>
          <a:ln/>
        </p:spPr>
        <p:txBody>
          <a:bodyPr/>
          <a:lstStyle/>
          <a:p>
            <a:endParaRPr lang="en-US"/>
          </a:p>
        </p:txBody>
      </p:sp>
      <p:sp>
        <p:nvSpPr>
          <p:cNvPr id="14" name="Text 10"/>
          <p:cNvSpPr/>
          <p:nvPr/>
        </p:nvSpPr>
        <p:spPr>
          <a:xfrm>
            <a:off x="868680" y="5349240"/>
            <a:ext cx="10607040" cy="868680"/>
          </a:xfrm>
          <a:prstGeom prst="rect">
            <a:avLst/>
          </a:prstGeom>
          <a:noFill/>
          <a:ln/>
        </p:spPr>
        <p:txBody>
          <a:bodyPr wrap="square" rtlCol="0" anchor="ctr"/>
          <a:lstStyle/>
          <a:p>
            <a:pPr marL="0" indent="0">
              <a:lnSpc>
                <a:spcPct val="110000"/>
              </a:lnSpc>
              <a:buNone/>
            </a:pPr>
            <a:r>
              <a:rPr lang="en-US" sz="1250" b="1" dirty="0">
                <a:solidFill>
                  <a:srgbClr val="C9A24B"/>
                </a:solidFill>
                <a:latin typeface="Segoe UI" pitchFamily="34" charset="0"/>
                <a:ea typeface="Segoe UI" pitchFamily="34" charset="-122"/>
                <a:cs typeface="Segoe UI" pitchFamily="34" charset="-120"/>
              </a:rPr>
              <a:t>Read the data:  </a:t>
            </a:r>
            <a:r>
              <a:rPr lang="en-US" sz="1250" dirty="0">
                <a:solidFill>
                  <a:srgbClr val="DCE7F2"/>
                </a:solidFill>
                <a:latin typeface="Segoe UI" pitchFamily="34" charset="0"/>
                <a:ea typeface="Segoe UI" pitchFamily="34" charset="-122"/>
                <a:cs typeface="Segoe UI" pitchFamily="34" charset="-120"/>
              </a:rPr>
              <a:t>Medium-risk parts carry the longest average timelines (15.1 days), and COAT890 lags the delayed group at 84.2% on-time — both reinforce that schedule variability, not just risk tier, drives exposure.</a:t>
            </a:r>
            <a:endParaRPr lang="en-US" sz="1250" dirty="0"/>
          </a:p>
        </p:txBody>
      </p:sp>
      <p:sp>
        <p:nvSpPr>
          <p:cNvPr id="15" name="Shape 11"/>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16" name="Text 12"/>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17" name="Text 13"/>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18" name="Text 14"/>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SUPPLIER PERFORMANCE</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Reliability, delivery, and quality across five suppliers</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Text 4"/>
          <p:cNvSpPr/>
          <p:nvPr/>
        </p:nvSpPr>
        <p:spPr>
          <a:xfrm>
            <a:off x="548640" y="1517904"/>
            <a:ext cx="6400800" cy="320040"/>
          </a:xfrm>
          <a:prstGeom prst="rect">
            <a:avLst/>
          </a:prstGeom>
          <a:noFill/>
          <a:ln/>
        </p:spPr>
        <p:txBody>
          <a:bodyPr wrap="square" rtlCol="0" anchor="ctr"/>
          <a:lstStyle/>
          <a:p>
            <a:pPr marL="0" indent="0">
              <a:buNone/>
            </a:pPr>
            <a:r>
              <a:rPr lang="en-US" sz="1300" b="1" dirty="0">
                <a:solidFill>
                  <a:srgbClr val="0E2541"/>
                </a:solidFill>
                <a:latin typeface="Segoe UI" pitchFamily="34" charset="0"/>
                <a:ea typeface="Segoe UI" pitchFamily="34" charset="-122"/>
                <a:cs typeface="Segoe UI" pitchFamily="34" charset="-120"/>
              </a:rPr>
              <a:t>Reliability vs. on-time delivery (%)</a:t>
            </a:r>
            <a:endParaRPr lang="en-US" sz="1300" dirty="0"/>
          </a:p>
        </p:txBody>
      </p:sp>
      <p:graphicFrame>
        <p:nvGraphicFramePr>
          <p:cNvPr id="7" name="Chart 0"/>
          <p:cNvGraphicFramePr/>
          <p:nvPr/>
        </p:nvGraphicFramePr>
        <p:xfrm>
          <a:off x="502920" y="1874520"/>
          <a:ext cx="67208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7543800" y="1517904"/>
            <a:ext cx="4096512" cy="320040"/>
          </a:xfrm>
          <a:prstGeom prst="rect">
            <a:avLst/>
          </a:prstGeom>
          <a:noFill/>
          <a:ln/>
        </p:spPr>
        <p:txBody>
          <a:bodyPr wrap="square" rtlCol="0" anchor="ctr"/>
          <a:lstStyle/>
          <a:p>
            <a:pPr marL="0" indent="0">
              <a:buNone/>
            </a:pPr>
            <a:r>
              <a:rPr lang="en-US" sz="1300" b="1" dirty="0">
                <a:solidFill>
                  <a:srgbClr val="0E2541"/>
                </a:solidFill>
                <a:latin typeface="Segoe UI" pitchFamily="34" charset="0"/>
                <a:ea typeface="Segoe UI" pitchFamily="34" charset="-122"/>
                <a:cs typeface="Segoe UI" pitchFamily="34" charset="-120"/>
              </a:rPr>
              <a:t>Defect rate &amp; coverage</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543800" y="1901952"/>
          <a:ext cx="4096512" cy="914400"/>
        </p:xfrm>
        <a:graphic>
          <a:graphicData uri="http://schemas.openxmlformats.org/drawingml/2006/table">
            <a:tbl>
              <a:tblPr/>
              <a:tblGrid>
                <a:gridCol w="2157984">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latin typeface="Segoe UI" pitchFamily="34" charset="0"/>
                          <a:ea typeface="Segoe UI" pitchFamily="34" charset="-122"/>
                          <a:cs typeface="Segoe UI" pitchFamily="34" charset="-120"/>
                        </a:rPr>
                        <a:t>Supplier</a:t>
                      </a:r>
                      <a:endParaRPr lang="en-US" sz="110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E2541"/>
                    </a:solidFill>
                  </a:tcPr>
                </a:tc>
                <a:tc>
                  <a:txBody>
                    <a:bodyPr/>
                    <a:lstStyle/>
                    <a:p>
                      <a:pPr marL="0" indent="0" algn="ctr">
                        <a:buNone/>
                      </a:pPr>
                      <a:r>
                        <a:rPr lang="en-US" sz="1050" b="1" dirty="0">
                          <a:solidFill>
                            <a:srgbClr val="FFFFFF"/>
                          </a:solidFill>
                          <a:latin typeface="Segoe UI" pitchFamily="34" charset="0"/>
                          <a:ea typeface="Segoe UI" pitchFamily="34" charset="-122"/>
                          <a:cs typeface="Segoe UI" pitchFamily="34" charset="-120"/>
                        </a:rPr>
                        <a:t>Defect %</a:t>
                      </a:r>
                      <a:endParaRPr lang="en-US" sz="10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E2541"/>
                    </a:solidFill>
                  </a:tcPr>
                </a:tc>
                <a:tc>
                  <a:txBody>
                    <a:bodyPr/>
                    <a:lstStyle/>
                    <a:p>
                      <a:pPr marL="0" indent="0" algn="ctr">
                        <a:buNone/>
                      </a:pPr>
                      <a:r>
                        <a:rPr lang="en-US" sz="1050" b="1" dirty="0">
                          <a:solidFill>
                            <a:srgbClr val="FFFFFF"/>
                          </a:solidFill>
                          <a:latin typeface="Segoe UI" pitchFamily="34" charset="0"/>
                          <a:ea typeface="Segoe UI" pitchFamily="34" charset="-122"/>
                          <a:cs typeface="Segoe UI" pitchFamily="34" charset="-120"/>
                        </a:rPr>
                        <a:t># Parts</a:t>
                      </a:r>
                      <a:endParaRPr lang="en-US" sz="10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E2541"/>
                    </a:solidFill>
                  </a:tcPr>
                </a:tc>
                <a:extLst>
                  <a:ext uri="{0D108BD9-81ED-4DB2-BD59-A6C34878D82A}">
                    <a16:rowId xmlns:a16="http://schemas.microsoft.com/office/drawing/2014/main" val="10000"/>
                  </a:ext>
                </a:extLst>
              </a:tr>
              <a:tr h="457200">
                <a:tc>
                  <a:txBody>
                    <a:bodyPr/>
                    <a:lstStyle/>
                    <a:p>
                      <a:pPr marL="0" indent="0" algn="l">
                        <a:buNone/>
                      </a:pPr>
                      <a:r>
                        <a:rPr lang="en-US" sz="1150" b="1" dirty="0">
                          <a:solidFill>
                            <a:srgbClr val="1C2B3A"/>
                          </a:solidFill>
                          <a:latin typeface="Segoe UI" pitchFamily="34" charset="0"/>
                          <a:ea typeface="Segoe UI" pitchFamily="34" charset="-122"/>
                          <a:cs typeface="Segoe UI" pitchFamily="34" charset="-120"/>
                        </a:rPr>
                        <a:t>NextGen Pharma</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tc>
                  <a:txBody>
                    <a:bodyPr/>
                    <a:lstStyle/>
                    <a:p>
                      <a:pPr marL="0" indent="0" algn="ctr">
                        <a:buNone/>
                      </a:pPr>
                      <a:r>
                        <a:rPr lang="en-US" sz="1150" b="1" dirty="0">
                          <a:solidFill>
                            <a:srgbClr val="2E8B57"/>
                          </a:solidFill>
                          <a:latin typeface="Segoe UI" pitchFamily="34" charset="0"/>
                          <a:ea typeface="Segoe UI" pitchFamily="34" charset="-122"/>
                          <a:cs typeface="Segoe UI" pitchFamily="34" charset="-120"/>
                        </a:rPr>
                        <a:t>2.22</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tc>
                  <a:txBody>
                    <a:bodyPr/>
                    <a:lstStyle/>
                    <a:p>
                      <a:pPr marL="0" indent="0" algn="ctr">
                        <a:buNone/>
                      </a:pPr>
                      <a:r>
                        <a:rPr lang="en-US" sz="1150" dirty="0">
                          <a:solidFill>
                            <a:srgbClr val="5B6B7B"/>
                          </a:solidFill>
                          <a:latin typeface="Segoe UI" pitchFamily="34" charset="0"/>
                          <a:ea typeface="Segoe UI" pitchFamily="34" charset="-122"/>
                          <a:cs typeface="Segoe UI" pitchFamily="34" charset="-120"/>
                        </a:rPr>
                        <a:t>11</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extLst>
                  <a:ext uri="{0D108BD9-81ED-4DB2-BD59-A6C34878D82A}">
                    <a16:rowId xmlns:a16="http://schemas.microsoft.com/office/drawing/2014/main" val="10001"/>
                  </a:ext>
                </a:extLst>
              </a:tr>
              <a:tr h="457200">
                <a:tc>
                  <a:txBody>
                    <a:bodyPr/>
                    <a:lstStyle/>
                    <a:p>
                      <a:pPr marL="0" indent="0" algn="l">
                        <a:buNone/>
                      </a:pPr>
                      <a:r>
                        <a:rPr lang="en-US" sz="1150" b="1" dirty="0">
                          <a:solidFill>
                            <a:srgbClr val="1C2B3A"/>
                          </a:solidFill>
                          <a:latin typeface="Segoe UI" pitchFamily="34" charset="0"/>
                          <a:ea typeface="Segoe UI" pitchFamily="34" charset="-122"/>
                          <a:cs typeface="Segoe UI" pitchFamily="34" charset="-120"/>
                        </a:rPr>
                        <a:t>EcoSupply</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8B57"/>
                          </a:solidFill>
                          <a:latin typeface="Segoe UI" pitchFamily="34" charset="0"/>
                          <a:ea typeface="Segoe UI" pitchFamily="34" charset="-122"/>
                          <a:cs typeface="Segoe UI" pitchFamily="34" charset="-120"/>
                        </a:rPr>
                        <a:t>2.50</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B6B7B"/>
                          </a:solidFill>
                          <a:latin typeface="Segoe UI" pitchFamily="34" charset="0"/>
                          <a:ea typeface="Segoe UI" pitchFamily="34" charset="-122"/>
                          <a:cs typeface="Segoe UI" pitchFamily="34" charset="-120"/>
                        </a:rPr>
                        <a:t>10</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b="1" dirty="0">
                          <a:solidFill>
                            <a:srgbClr val="1C2B3A"/>
                          </a:solidFill>
                          <a:latin typeface="Segoe UI" pitchFamily="34" charset="0"/>
                          <a:ea typeface="Segoe UI" pitchFamily="34" charset="-122"/>
                          <a:cs typeface="Segoe UI" pitchFamily="34" charset="-120"/>
                        </a:rPr>
                        <a:t>GlobalChem</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tc>
                  <a:txBody>
                    <a:bodyPr/>
                    <a:lstStyle/>
                    <a:p>
                      <a:pPr marL="0" indent="0" algn="ctr">
                        <a:buNone/>
                      </a:pPr>
                      <a:r>
                        <a:rPr lang="en-US" sz="1150" b="1" dirty="0">
                          <a:solidFill>
                            <a:srgbClr val="D98A0B"/>
                          </a:solidFill>
                          <a:latin typeface="Segoe UI" pitchFamily="34" charset="0"/>
                          <a:ea typeface="Segoe UI" pitchFamily="34" charset="-122"/>
                          <a:cs typeface="Segoe UI" pitchFamily="34" charset="-120"/>
                        </a:rPr>
                        <a:t>2.57</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tc>
                  <a:txBody>
                    <a:bodyPr/>
                    <a:lstStyle/>
                    <a:p>
                      <a:pPr marL="0" indent="0" algn="ctr">
                        <a:buNone/>
                      </a:pPr>
                      <a:r>
                        <a:rPr lang="en-US" sz="1150" dirty="0">
                          <a:solidFill>
                            <a:srgbClr val="5B6B7B"/>
                          </a:solidFill>
                          <a:latin typeface="Segoe UI" pitchFamily="34" charset="0"/>
                          <a:ea typeface="Segoe UI" pitchFamily="34" charset="-122"/>
                          <a:cs typeface="Segoe UI" pitchFamily="34" charset="-120"/>
                        </a:rPr>
                        <a:t>9</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extLst>
                  <a:ext uri="{0D108BD9-81ED-4DB2-BD59-A6C34878D82A}">
                    <a16:rowId xmlns:a16="http://schemas.microsoft.com/office/drawing/2014/main" val="10003"/>
                  </a:ext>
                </a:extLst>
              </a:tr>
              <a:tr h="457200">
                <a:tc>
                  <a:txBody>
                    <a:bodyPr/>
                    <a:lstStyle/>
                    <a:p>
                      <a:pPr marL="0" indent="0" algn="l">
                        <a:buNone/>
                      </a:pPr>
                      <a:r>
                        <a:rPr lang="en-US" sz="1150" b="1" dirty="0">
                          <a:solidFill>
                            <a:srgbClr val="1C2B3A"/>
                          </a:solidFill>
                          <a:latin typeface="Segoe UI" pitchFamily="34" charset="0"/>
                          <a:ea typeface="Segoe UI" pitchFamily="34" charset="-122"/>
                          <a:cs typeface="Segoe UI" pitchFamily="34" charset="-120"/>
                        </a:rPr>
                        <a:t>RawMatPlus</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D98A0B"/>
                          </a:solidFill>
                          <a:latin typeface="Segoe UI" pitchFamily="34" charset="0"/>
                          <a:ea typeface="Segoe UI" pitchFamily="34" charset="-122"/>
                          <a:cs typeface="Segoe UI" pitchFamily="34" charset="-120"/>
                        </a:rPr>
                        <a:t>2.60</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5B6B7B"/>
                          </a:solidFill>
                          <a:latin typeface="Segoe UI" pitchFamily="34" charset="0"/>
                          <a:ea typeface="Segoe UI" pitchFamily="34" charset="-122"/>
                          <a:cs typeface="Segoe UI" pitchFamily="34" charset="-120"/>
                        </a:rPr>
                        <a:t>13</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50" b="1" dirty="0">
                          <a:solidFill>
                            <a:srgbClr val="1C2B3A"/>
                          </a:solidFill>
                          <a:latin typeface="Segoe UI" pitchFamily="34" charset="0"/>
                          <a:ea typeface="Segoe UI" pitchFamily="34" charset="-122"/>
                          <a:cs typeface="Segoe UI" pitchFamily="34" charset="-120"/>
                        </a:rPr>
                        <a:t>PrimeLogistics</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tc>
                  <a:txBody>
                    <a:bodyPr/>
                    <a:lstStyle/>
                    <a:p>
                      <a:pPr marL="0" indent="0" algn="ctr">
                        <a:buNone/>
                      </a:pPr>
                      <a:r>
                        <a:rPr lang="en-US" sz="1150" b="1" dirty="0">
                          <a:solidFill>
                            <a:srgbClr val="C0392B"/>
                          </a:solidFill>
                          <a:latin typeface="Segoe UI" pitchFamily="34" charset="0"/>
                          <a:ea typeface="Segoe UI" pitchFamily="34" charset="-122"/>
                          <a:cs typeface="Segoe UI" pitchFamily="34" charset="-120"/>
                        </a:rPr>
                        <a:t>2.89</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tc>
                  <a:txBody>
                    <a:bodyPr/>
                    <a:lstStyle/>
                    <a:p>
                      <a:pPr marL="0" indent="0" algn="ctr">
                        <a:buNone/>
                      </a:pPr>
                      <a:r>
                        <a:rPr lang="en-US" sz="1150" dirty="0">
                          <a:solidFill>
                            <a:srgbClr val="5B6B7B"/>
                          </a:solidFill>
                          <a:latin typeface="Segoe UI" pitchFamily="34" charset="0"/>
                          <a:ea typeface="Segoe UI" pitchFamily="34" charset="-122"/>
                          <a:cs typeface="Segoe UI" pitchFamily="34" charset="-120"/>
                        </a:rPr>
                        <a:t>7</a:t>
                      </a:r>
                      <a:endParaRPr lang="en-US" sz="1150" dirty="0">
                        <a:latin typeface="Segoe UI" charset="0"/>
                        <a:ea typeface="Segoe UI" charset="0"/>
                        <a:cs typeface="Segoe UI" charset="0"/>
                      </a:endParaRPr>
                    </a:p>
                  </a:txBody>
                  <a:tcPr marL="63500" marR="635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6F9FC"/>
                    </a:solidFill>
                  </a:tcPr>
                </a:tc>
                <a:extLst>
                  <a:ext uri="{0D108BD9-81ED-4DB2-BD59-A6C34878D82A}">
                    <a16:rowId xmlns:a16="http://schemas.microsoft.com/office/drawing/2014/main" val="10005"/>
                  </a:ext>
                </a:extLst>
              </a:tr>
            </a:tbl>
          </a:graphicData>
        </a:graphic>
      </p:graphicFrame>
      <p:sp>
        <p:nvSpPr>
          <p:cNvPr id="10" name="Shape 6"/>
          <p:cNvSpPr/>
          <p:nvPr/>
        </p:nvSpPr>
        <p:spPr>
          <a:xfrm>
            <a:off x="7543800" y="5029200"/>
            <a:ext cx="4096512" cy="1188720"/>
          </a:xfrm>
          <a:prstGeom prst="rect">
            <a:avLst/>
          </a:prstGeom>
          <a:solidFill>
            <a:srgbClr val="EDF3F9"/>
          </a:solidFill>
          <a:ln w="12700">
            <a:solidFill>
              <a:srgbClr val="D5E0EC"/>
            </a:solidFill>
            <a:prstDash val="solid"/>
          </a:ln>
        </p:spPr>
        <p:txBody>
          <a:bodyPr/>
          <a:lstStyle/>
          <a:p>
            <a:endParaRPr lang="en-US"/>
          </a:p>
        </p:txBody>
      </p:sp>
      <p:sp>
        <p:nvSpPr>
          <p:cNvPr id="11" name="Shape 7"/>
          <p:cNvSpPr/>
          <p:nvPr/>
        </p:nvSpPr>
        <p:spPr>
          <a:xfrm>
            <a:off x="7543800" y="5029200"/>
            <a:ext cx="73152" cy="1188720"/>
          </a:xfrm>
          <a:prstGeom prst="rect">
            <a:avLst/>
          </a:prstGeom>
          <a:solidFill>
            <a:srgbClr val="C0392B"/>
          </a:solidFill>
          <a:ln/>
        </p:spPr>
        <p:txBody>
          <a:bodyPr/>
          <a:lstStyle/>
          <a:p>
            <a:endParaRPr lang="en-US"/>
          </a:p>
        </p:txBody>
      </p:sp>
      <p:sp>
        <p:nvSpPr>
          <p:cNvPr id="12" name="Text 8"/>
          <p:cNvSpPr/>
          <p:nvPr/>
        </p:nvSpPr>
        <p:spPr>
          <a:xfrm>
            <a:off x="7744968" y="5029200"/>
            <a:ext cx="3730752" cy="1188720"/>
          </a:xfrm>
          <a:prstGeom prst="rect">
            <a:avLst/>
          </a:prstGeom>
          <a:noFill/>
          <a:ln/>
        </p:spPr>
        <p:txBody>
          <a:bodyPr wrap="square" rtlCol="0" anchor="ctr"/>
          <a:lstStyle/>
          <a:p>
            <a:pPr marL="0" indent="0">
              <a:lnSpc>
                <a:spcPct val="115000"/>
              </a:lnSpc>
              <a:buNone/>
            </a:pPr>
            <a:r>
              <a:rPr lang="en-US" sz="1150" b="1" dirty="0">
                <a:solidFill>
                  <a:srgbClr val="0E2541"/>
                </a:solidFill>
                <a:latin typeface="Segoe UI" pitchFamily="34" charset="0"/>
                <a:ea typeface="Segoe UI" pitchFamily="34" charset="-122"/>
                <a:cs typeface="Segoe UI" pitchFamily="34" charset="-120"/>
              </a:rPr>
              <a:t>Watch PrimeLogistics — </a:t>
            </a:r>
            <a:r>
              <a:rPr lang="en-US" sz="1150" dirty="0">
                <a:solidFill>
                  <a:srgbClr val="1C2B3A"/>
                </a:solidFill>
                <a:latin typeface="Segoe UI" pitchFamily="34" charset="0"/>
                <a:ea typeface="Segoe UI" pitchFamily="34" charset="-122"/>
                <a:cs typeface="Segoe UI" pitchFamily="34" charset="-120"/>
              </a:rPr>
              <a:t>highest average defect rate (2.89%) and lowest reliability, despite the smallest component base.</a:t>
            </a:r>
            <a:endParaRPr lang="en-US" sz="1150" dirty="0"/>
          </a:p>
        </p:txBody>
      </p:sp>
      <p:sp>
        <p:nvSpPr>
          <p:cNvPr id="13" name="Shape 9"/>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14" name="Text 10"/>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15" name="Text 11"/>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16" name="Text 12"/>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COMPLIANCE IMPLICATIONS</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Where supply issues become compliance exposure</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Shape 4"/>
          <p:cNvSpPr/>
          <p:nvPr/>
        </p:nvSpPr>
        <p:spPr>
          <a:xfrm>
            <a:off x="548640" y="1600200"/>
            <a:ext cx="2724912" cy="4160520"/>
          </a:xfrm>
          <a:prstGeom prst="rect">
            <a:avLst/>
          </a:prstGeom>
          <a:solidFill>
            <a:srgbClr val="F6F9FC"/>
          </a:solidFill>
          <a:ln w="12700">
            <a:solidFill>
              <a:srgbClr val="D5E0EC"/>
            </a:solidFill>
            <a:prstDash val="solid"/>
          </a:ln>
        </p:spPr>
        <p:txBody>
          <a:bodyPr/>
          <a:lstStyle/>
          <a:p>
            <a:endParaRPr lang="en-US"/>
          </a:p>
        </p:txBody>
      </p:sp>
      <p:sp>
        <p:nvSpPr>
          <p:cNvPr id="7" name="Shape 5"/>
          <p:cNvSpPr/>
          <p:nvPr/>
        </p:nvSpPr>
        <p:spPr>
          <a:xfrm>
            <a:off x="548640" y="1600200"/>
            <a:ext cx="2724912" cy="146304"/>
          </a:xfrm>
          <a:prstGeom prst="rect">
            <a:avLst/>
          </a:prstGeom>
          <a:solidFill>
            <a:srgbClr val="1F4E79"/>
          </a:solidFill>
          <a:ln/>
        </p:spPr>
        <p:txBody>
          <a:bodyPr/>
          <a:lstStyle/>
          <a:p>
            <a:endParaRPr lang="en-US"/>
          </a:p>
        </p:txBody>
      </p:sp>
      <p:sp>
        <p:nvSpPr>
          <p:cNvPr id="8" name="Shape 6"/>
          <p:cNvSpPr/>
          <p:nvPr/>
        </p:nvSpPr>
        <p:spPr>
          <a:xfrm>
            <a:off x="1408176" y="2011680"/>
            <a:ext cx="1005840" cy="1005840"/>
          </a:xfrm>
          <a:prstGeom prst="ellipse">
            <a:avLst/>
          </a:prstGeom>
          <a:solidFill>
            <a:srgbClr val="0E2541"/>
          </a:solidFill>
          <a:ln/>
        </p:spPr>
        <p:txBody>
          <a:bodyPr/>
          <a:lstStyle/>
          <a:p>
            <a:endParaRPr lang="en-US"/>
          </a:p>
        </p:txBody>
      </p:sp>
      <p:sp>
        <p:nvSpPr>
          <p:cNvPr id="9" name="Shape 7"/>
          <p:cNvSpPr/>
          <p:nvPr/>
        </p:nvSpPr>
        <p:spPr>
          <a:xfrm>
            <a:off x="1408176" y="2011680"/>
            <a:ext cx="1005840" cy="1005840"/>
          </a:xfrm>
          <a:prstGeom prst="ellipse">
            <a:avLst/>
          </a:prstGeom>
          <a:ln w="31750">
            <a:solidFill>
              <a:srgbClr val="1F4E79"/>
            </a:solidFill>
            <a:prstDash val="solid"/>
          </a:ln>
        </p:spPr>
        <p:txBody>
          <a:bodyPr/>
          <a:lstStyle/>
          <a:p>
            <a:endParaRPr lang="en-US"/>
          </a:p>
        </p:txBody>
      </p:sp>
      <p:sp>
        <p:nvSpPr>
          <p:cNvPr id="10" name="Text 8"/>
          <p:cNvSpPr/>
          <p:nvPr/>
        </p:nvSpPr>
        <p:spPr>
          <a:xfrm>
            <a:off x="1408176" y="2011680"/>
            <a:ext cx="1005840" cy="1005840"/>
          </a:xfrm>
          <a:prstGeom prst="rect">
            <a:avLst/>
          </a:prstGeom>
          <a:noFill/>
          <a:ln/>
        </p:spPr>
        <p:txBody>
          <a:bodyPr wrap="square"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01</a:t>
            </a:r>
            <a:endParaRPr lang="en-US" sz="2400" dirty="0"/>
          </a:p>
        </p:txBody>
      </p:sp>
      <p:sp>
        <p:nvSpPr>
          <p:cNvPr id="11" name="Text 9"/>
          <p:cNvSpPr/>
          <p:nvPr/>
        </p:nvSpPr>
        <p:spPr>
          <a:xfrm>
            <a:off x="731520" y="3200400"/>
            <a:ext cx="2359152" cy="777240"/>
          </a:xfrm>
          <a:prstGeom prst="rect">
            <a:avLst/>
          </a:prstGeom>
          <a:noFill/>
          <a:ln/>
        </p:spPr>
        <p:txBody>
          <a:bodyPr wrap="square" rtlCol="0" anchor="t"/>
          <a:lstStyle/>
          <a:p>
            <a:pPr marL="0" indent="0" algn="ctr">
              <a:lnSpc>
                <a:spcPct val="100000"/>
              </a:lnSpc>
              <a:buNone/>
            </a:pPr>
            <a:r>
              <a:rPr lang="en-US" sz="1500" b="1" dirty="0">
                <a:solidFill>
                  <a:srgbClr val="0E2541"/>
                </a:solidFill>
                <a:latin typeface="Segoe UI" pitchFamily="34" charset="0"/>
                <a:ea typeface="Segoe UI" pitchFamily="34" charset="-122"/>
                <a:cs typeface="Segoe UI" pitchFamily="34" charset="-120"/>
              </a:rPr>
              <a:t>Continuity of Supply</a:t>
            </a:r>
            <a:endParaRPr lang="en-US" sz="1500" dirty="0"/>
          </a:p>
        </p:txBody>
      </p:sp>
      <p:sp>
        <p:nvSpPr>
          <p:cNvPr id="12" name="Shape 10"/>
          <p:cNvSpPr/>
          <p:nvPr/>
        </p:nvSpPr>
        <p:spPr>
          <a:xfrm>
            <a:off x="1545336" y="3995928"/>
            <a:ext cx="731520" cy="0"/>
          </a:xfrm>
          <a:prstGeom prst="line">
            <a:avLst/>
          </a:prstGeom>
          <a:noFill/>
          <a:ln w="25400">
            <a:solidFill>
              <a:srgbClr val="1F4E79"/>
            </a:solidFill>
            <a:prstDash val="solid"/>
          </a:ln>
        </p:spPr>
        <p:txBody>
          <a:bodyPr/>
          <a:lstStyle/>
          <a:p>
            <a:endParaRPr lang="en-US"/>
          </a:p>
        </p:txBody>
      </p:sp>
      <p:sp>
        <p:nvSpPr>
          <p:cNvPr id="13" name="Text 11"/>
          <p:cNvSpPr/>
          <p:nvPr/>
        </p:nvSpPr>
        <p:spPr>
          <a:xfrm>
            <a:off x="768096" y="4142232"/>
            <a:ext cx="2286000" cy="1463040"/>
          </a:xfrm>
          <a:prstGeom prst="rect">
            <a:avLst/>
          </a:prstGeom>
          <a:noFill/>
          <a:ln/>
        </p:spPr>
        <p:txBody>
          <a:bodyPr wrap="square" rtlCol="0" anchor="t"/>
          <a:lstStyle/>
          <a:p>
            <a:pPr marL="0" indent="0" algn="ctr">
              <a:lnSpc>
                <a:spcPct val="116000"/>
              </a:lnSpc>
              <a:buNone/>
            </a:pPr>
            <a:r>
              <a:rPr lang="en-US" sz="1150" dirty="0">
                <a:solidFill>
                  <a:srgbClr val="1C2B3A"/>
                </a:solidFill>
                <a:latin typeface="Segoe UI" pitchFamily="34" charset="0"/>
                <a:ea typeface="Segoe UI" pitchFamily="34" charset="-122"/>
                <a:cs typeface="Segoe UI" pitchFamily="34" charset="-120"/>
              </a:rPr>
              <a:t>Extended or variable timelines risk material shortfalls, pressuring teams to deviate from controlled manufacturing schedules.</a:t>
            </a:r>
            <a:endParaRPr lang="en-US" sz="1150" dirty="0"/>
          </a:p>
        </p:txBody>
      </p:sp>
      <p:sp>
        <p:nvSpPr>
          <p:cNvPr id="14" name="Shape 12"/>
          <p:cNvSpPr/>
          <p:nvPr/>
        </p:nvSpPr>
        <p:spPr>
          <a:xfrm>
            <a:off x="3337560" y="1600200"/>
            <a:ext cx="2724912" cy="4160520"/>
          </a:xfrm>
          <a:prstGeom prst="rect">
            <a:avLst/>
          </a:prstGeom>
          <a:solidFill>
            <a:srgbClr val="F6F9FC"/>
          </a:solidFill>
          <a:ln w="12700">
            <a:solidFill>
              <a:srgbClr val="D5E0EC"/>
            </a:solidFill>
            <a:prstDash val="solid"/>
          </a:ln>
        </p:spPr>
        <p:txBody>
          <a:bodyPr/>
          <a:lstStyle/>
          <a:p>
            <a:endParaRPr lang="en-US"/>
          </a:p>
        </p:txBody>
      </p:sp>
      <p:sp>
        <p:nvSpPr>
          <p:cNvPr id="15" name="Shape 13"/>
          <p:cNvSpPr/>
          <p:nvPr/>
        </p:nvSpPr>
        <p:spPr>
          <a:xfrm>
            <a:off x="3337560" y="1600200"/>
            <a:ext cx="2724912" cy="146304"/>
          </a:xfrm>
          <a:prstGeom prst="rect">
            <a:avLst/>
          </a:prstGeom>
          <a:solidFill>
            <a:srgbClr val="2E6CA4"/>
          </a:solidFill>
          <a:ln/>
        </p:spPr>
        <p:txBody>
          <a:bodyPr/>
          <a:lstStyle/>
          <a:p>
            <a:endParaRPr lang="en-US"/>
          </a:p>
        </p:txBody>
      </p:sp>
      <p:sp>
        <p:nvSpPr>
          <p:cNvPr id="16" name="Shape 14"/>
          <p:cNvSpPr/>
          <p:nvPr/>
        </p:nvSpPr>
        <p:spPr>
          <a:xfrm>
            <a:off x="4197096" y="2011680"/>
            <a:ext cx="1005840" cy="1005840"/>
          </a:xfrm>
          <a:prstGeom prst="ellipse">
            <a:avLst/>
          </a:prstGeom>
          <a:solidFill>
            <a:srgbClr val="0E2541"/>
          </a:solidFill>
          <a:ln/>
        </p:spPr>
        <p:txBody>
          <a:bodyPr/>
          <a:lstStyle/>
          <a:p>
            <a:endParaRPr lang="en-US"/>
          </a:p>
        </p:txBody>
      </p:sp>
      <p:sp>
        <p:nvSpPr>
          <p:cNvPr id="17" name="Shape 15"/>
          <p:cNvSpPr/>
          <p:nvPr/>
        </p:nvSpPr>
        <p:spPr>
          <a:xfrm>
            <a:off x="4197096" y="2011680"/>
            <a:ext cx="1005840" cy="1005840"/>
          </a:xfrm>
          <a:prstGeom prst="ellipse">
            <a:avLst/>
          </a:prstGeom>
          <a:ln w="31750">
            <a:solidFill>
              <a:srgbClr val="2E6CA4"/>
            </a:solidFill>
            <a:prstDash val="solid"/>
          </a:ln>
        </p:spPr>
        <p:txBody>
          <a:bodyPr/>
          <a:lstStyle/>
          <a:p>
            <a:endParaRPr lang="en-US"/>
          </a:p>
        </p:txBody>
      </p:sp>
      <p:sp>
        <p:nvSpPr>
          <p:cNvPr id="18" name="Text 16"/>
          <p:cNvSpPr/>
          <p:nvPr/>
        </p:nvSpPr>
        <p:spPr>
          <a:xfrm>
            <a:off x="4197096" y="2011680"/>
            <a:ext cx="1005840" cy="1005840"/>
          </a:xfrm>
          <a:prstGeom prst="rect">
            <a:avLst/>
          </a:prstGeom>
          <a:noFill/>
          <a:ln/>
        </p:spPr>
        <p:txBody>
          <a:bodyPr wrap="square"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02</a:t>
            </a:r>
            <a:endParaRPr lang="en-US" sz="2400" dirty="0"/>
          </a:p>
        </p:txBody>
      </p:sp>
      <p:sp>
        <p:nvSpPr>
          <p:cNvPr id="19" name="Text 17"/>
          <p:cNvSpPr/>
          <p:nvPr/>
        </p:nvSpPr>
        <p:spPr>
          <a:xfrm>
            <a:off x="3520440" y="3200400"/>
            <a:ext cx="2359152" cy="777240"/>
          </a:xfrm>
          <a:prstGeom prst="rect">
            <a:avLst/>
          </a:prstGeom>
          <a:noFill/>
          <a:ln/>
        </p:spPr>
        <p:txBody>
          <a:bodyPr wrap="square" rtlCol="0" anchor="t"/>
          <a:lstStyle/>
          <a:p>
            <a:pPr marL="0" indent="0" algn="ctr">
              <a:lnSpc>
                <a:spcPct val="100000"/>
              </a:lnSpc>
              <a:buNone/>
            </a:pPr>
            <a:r>
              <a:rPr lang="en-US" sz="1500" b="1" dirty="0">
                <a:solidFill>
                  <a:srgbClr val="0E2541"/>
                </a:solidFill>
                <a:latin typeface="Segoe UI" pitchFamily="34" charset="0"/>
                <a:ea typeface="Segoe UI" pitchFamily="34" charset="-122"/>
                <a:cs typeface="Segoe UI" pitchFamily="34" charset="-120"/>
              </a:rPr>
              <a:t>Documentation &amp; Traceability</a:t>
            </a:r>
            <a:endParaRPr lang="en-US" sz="1500" dirty="0"/>
          </a:p>
        </p:txBody>
      </p:sp>
      <p:sp>
        <p:nvSpPr>
          <p:cNvPr id="20" name="Shape 18"/>
          <p:cNvSpPr/>
          <p:nvPr/>
        </p:nvSpPr>
        <p:spPr>
          <a:xfrm>
            <a:off x="4334256" y="3995928"/>
            <a:ext cx="731520" cy="0"/>
          </a:xfrm>
          <a:prstGeom prst="line">
            <a:avLst/>
          </a:prstGeom>
          <a:noFill/>
          <a:ln w="25400">
            <a:solidFill>
              <a:srgbClr val="2E6CA4"/>
            </a:solidFill>
            <a:prstDash val="solid"/>
          </a:ln>
        </p:spPr>
        <p:txBody>
          <a:bodyPr/>
          <a:lstStyle/>
          <a:p>
            <a:endParaRPr lang="en-US"/>
          </a:p>
        </p:txBody>
      </p:sp>
      <p:sp>
        <p:nvSpPr>
          <p:cNvPr id="21" name="Text 19"/>
          <p:cNvSpPr/>
          <p:nvPr/>
        </p:nvSpPr>
        <p:spPr>
          <a:xfrm>
            <a:off x="3557016" y="4142232"/>
            <a:ext cx="2286000" cy="1463040"/>
          </a:xfrm>
          <a:prstGeom prst="rect">
            <a:avLst/>
          </a:prstGeom>
          <a:noFill/>
          <a:ln/>
        </p:spPr>
        <p:txBody>
          <a:bodyPr wrap="square" rtlCol="0" anchor="t"/>
          <a:lstStyle/>
          <a:p>
            <a:pPr marL="0" indent="0" algn="ctr">
              <a:lnSpc>
                <a:spcPct val="116000"/>
              </a:lnSpc>
              <a:buNone/>
            </a:pPr>
            <a:r>
              <a:rPr lang="en-US" sz="1150" dirty="0">
                <a:solidFill>
                  <a:srgbClr val="1C2B3A"/>
                </a:solidFill>
                <a:latin typeface="Segoe UI" pitchFamily="34" charset="0"/>
                <a:ea typeface="Segoe UI" pitchFamily="34" charset="-122"/>
                <a:cs typeface="Segoe UI" pitchFamily="34" charset="-120"/>
              </a:rPr>
              <a:t>Delayed or expedited shipments demand extra tracking and exception records — gaps undermine audit readiness.</a:t>
            </a:r>
            <a:endParaRPr lang="en-US" sz="1150" dirty="0"/>
          </a:p>
        </p:txBody>
      </p:sp>
      <p:sp>
        <p:nvSpPr>
          <p:cNvPr id="22" name="Shape 20"/>
          <p:cNvSpPr/>
          <p:nvPr/>
        </p:nvSpPr>
        <p:spPr>
          <a:xfrm>
            <a:off x="6126480" y="1600200"/>
            <a:ext cx="2724912" cy="4160520"/>
          </a:xfrm>
          <a:prstGeom prst="rect">
            <a:avLst/>
          </a:prstGeom>
          <a:solidFill>
            <a:srgbClr val="F6F9FC"/>
          </a:solidFill>
          <a:ln w="12700">
            <a:solidFill>
              <a:srgbClr val="D5E0EC"/>
            </a:solidFill>
            <a:prstDash val="solid"/>
          </a:ln>
        </p:spPr>
        <p:txBody>
          <a:bodyPr/>
          <a:lstStyle/>
          <a:p>
            <a:endParaRPr lang="en-US"/>
          </a:p>
        </p:txBody>
      </p:sp>
      <p:sp>
        <p:nvSpPr>
          <p:cNvPr id="23" name="Shape 21"/>
          <p:cNvSpPr/>
          <p:nvPr/>
        </p:nvSpPr>
        <p:spPr>
          <a:xfrm>
            <a:off x="6126480" y="1600200"/>
            <a:ext cx="2724912" cy="146304"/>
          </a:xfrm>
          <a:prstGeom prst="rect">
            <a:avLst/>
          </a:prstGeom>
          <a:solidFill>
            <a:srgbClr val="5B9BD5"/>
          </a:solidFill>
          <a:ln/>
        </p:spPr>
        <p:txBody>
          <a:bodyPr/>
          <a:lstStyle/>
          <a:p>
            <a:endParaRPr lang="en-US"/>
          </a:p>
        </p:txBody>
      </p:sp>
      <p:sp>
        <p:nvSpPr>
          <p:cNvPr id="24" name="Shape 22"/>
          <p:cNvSpPr/>
          <p:nvPr/>
        </p:nvSpPr>
        <p:spPr>
          <a:xfrm>
            <a:off x="6986016" y="2011680"/>
            <a:ext cx="1005840" cy="1005840"/>
          </a:xfrm>
          <a:prstGeom prst="ellipse">
            <a:avLst/>
          </a:prstGeom>
          <a:solidFill>
            <a:srgbClr val="0E2541"/>
          </a:solidFill>
          <a:ln/>
        </p:spPr>
        <p:txBody>
          <a:bodyPr/>
          <a:lstStyle/>
          <a:p>
            <a:endParaRPr lang="en-US"/>
          </a:p>
        </p:txBody>
      </p:sp>
      <p:sp>
        <p:nvSpPr>
          <p:cNvPr id="25" name="Shape 23"/>
          <p:cNvSpPr/>
          <p:nvPr/>
        </p:nvSpPr>
        <p:spPr>
          <a:xfrm>
            <a:off x="6986016" y="2011680"/>
            <a:ext cx="1005840" cy="1005840"/>
          </a:xfrm>
          <a:prstGeom prst="ellipse">
            <a:avLst/>
          </a:prstGeom>
          <a:ln w="31750">
            <a:solidFill>
              <a:srgbClr val="5B9BD5"/>
            </a:solidFill>
            <a:prstDash val="solid"/>
          </a:ln>
        </p:spPr>
        <p:txBody>
          <a:bodyPr/>
          <a:lstStyle/>
          <a:p>
            <a:endParaRPr lang="en-US"/>
          </a:p>
        </p:txBody>
      </p:sp>
      <p:sp>
        <p:nvSpPr>
          <p:cNvPr id="26" name="Text 24"/>
          <p:cNvSpPr/>
          <p:nvPr/>
        </p:nvSpPr>
        <p:spPr>
          <a:xfrm>
            <a:off x="6986016" y="2011680"/>
            <a:ext cx="1005840" cy="1005840"/>
          </a:xfrm>
          <a:prstGeom prst="rect">
            <a:avLst/>
          </a:prstGeom>
          <a:noFill/>
          <a:ln/>
        </p:spPr>
        <p:txBody>
          <a:bodyPr wrap="square"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03</a:t>
            </a:r>
            <a:endParaRPr lang="en-US" sz="2400" dirty="0"/>
          </a:p>
        </p:txBody>
      </p:sp>
      <p:sp>
        <p:nvSpPr>
          <p:cNvPr id="27" name="Text 25"/>
          <p:cNvSpPr/>
          <p:nvPr/>
        </p:nvSpPr>
        <p:spPr>
          <a:xfrm>
            <a:off x="6309360" y="3200400"/>
            <a:ext cx="2359152" cy="777240"/>
          </a:xfrm>
          <a:prstGeom prst="rect">
            <a:avLst/>
          </a:prstGeom>
          <a:noFill/>
          <a:ln/>
        </p:spPr>
        <p:txBody>
          <a:bodyPr wrap="square" rtlCol="0" anchor="t"/>
          <a:lstStyle/>
          <a:p>
            <a:pPr marL="0" indent="0" algn="ctr">
              <a:lnSpc>
                <a:spcPct val="100000"/>
              </a:lnSpc>
              <a:buNone/>
            </a:pPr>
            <a:r>
              <a:rPr lang="en-US" sz="1500" b="1" dirty="0">
                <a:solidFill>
                  <a:srgbClr val="0E2541"/>
                </a:solidFill>
                <a:latin typeface="Segoe UI" pitchFamily="34" charset="0"/>
                <a:ea typeface="Segoe UI" pitchFamily="34" charset="-122"/>
                <a:cs typeface="Segoe UI" pitchFamily="34" charset="-120"/>
              </a:rPr>
              <a:t>Quality Risk</a:t>
            </a:r>
            <a:endParaRPr lang="en-US" sz="1500" dirty="0"/>
          </a:p>
        </p:txBody>
      </p:sp>
      <p:sp>
        <p:nvSpPr>
          <p:cNvPr id="28" name="Shape 26"/>
          <p:cNvSpPr/>
          <p:nvPr/>
        </p:nvSpPr>
        <p:spPr>
          <a:xfrm>
            <a:off x="7123176" y="3995928"/>
            <a:ext cx="731520" cy="0"/>
          </a:xfrm>
          <a:prstGeom prst="line">
            <a:avLst/>
          </a:prstGeom>
          <a:noFill/>
          <a:ln w="25400">
            <a:solidFill>
              <a:srgbClr val="5B9BD5"/>
            </a:solidFill>
            <a:prstDash val="solid"/>
          </a:ln>
        </p:spPr>
        <p:txBody>
          <a:bodyPr/>
          <a:lstStyle/>
          <a:p>
            <a:endParaRPr lang="en-US"/>
          </a:p>
        </p:txBody>
      </p:sp>
      <p:sp>
        <p:nvSpPr>
          <p:cNvPr id="29" name="Text 27"/>
          <p:cNvSpPr/>
          <p:nvPr/>
        </p:nvSpPr>
        <p:spPr>
          <a:xfrm>
            <a:off x="6345936" y="4142232"/>
            <a:ext cx="2286000" cy="1463040"/>
          </a:xfrm>
          <a:prstGeom prst="rect">
            <a:avLst/>
          </a:prstGeom>
          <a:noFill/>
          <a:ln/>
        </p:spPr>
        <p:txBody>
          <a:bodyPr wrap="square" rtlCol="0" anchor="t"/>
          <a:lstStyle/>
          <a:p>
            <a:pPr marL="0" indent="0" algn="ctr">
              <a:lnSpc>
                <a:spcPct val="116000"/>
              </a:lnSpc>
              <a:buNone/>
            </a:pPr>
            <a:r>
              <a:rPr lang="en-US" sz="1150" dirty="0">
                <a:solidFill>
                  <a:srgbClr val="1C2B3A"/>
                </a:solidFill>
                <a:latin typeface="Segoe UI" pitchFamily="34" charset="0"/>
                <a:ea typeface="Segoe UI" pitchFamily="34" charset="-122"/>
                <a:cs typeface="Segoe UI" pitchFamily="34" charset="-120"/>
              </a:rPr>
              <a:t>Higher defect rates raise the odds of inspection failures, rework, or rejected batches that strain QA controls.</a:t>
            </a:r>
            <a:endParaRPr lang="en-US" sz="1150" dirty="0"/>
          </a:p>
        </p:txBody>
      </p:sp>
      <p:sp>
        <p:nvSpPr>
          <p:cNvPr id="30" name="Shape 28"/>
          <p:cNvSpPr/>
          <p:nvPr/>
        </p:nvSpPr>
        <p:spPr>
          <a:xfrm>
            <a:off x="8915400" y="1600200"/>
            <a:ext cx="2724912" cy="4160520"/>
          </a:xfrm>
          <a:prstGeom prst="rect">
            <a:avLst/>
          </a:prstGeom>
          <a:solidFill>
            <a:srgbClr val="F6F9FC"/>
          </a:solidFill>
          <a:ln w="12700">
            <a:solidFill>
              <a:srgbClr val="D5E0EC"/>
            </a:solidFill>
            <a:prstDash val="solid"/>
          </a:ln>
        </p:spPr>
        <p:txBody>
          <a:bodyPr/>
          <a:lstStyle/>
          <a:p>
            <a:endParaRPr lang="en-US"/>
          </a:p>
        </p:txBody>
      </p:sp>
      <p:sp>
        <p:nvSpPr>
          <p:cNvPr id="31" name="Shape 29"/>
          <p:cNvSpPr/>
          <p:nvPr/>
        </p:nvSpPr>
        <p:spPr>
          <a:xfrm>
            <a:off x="8915400" y="1600200"/>
            <a:ext cx="2724912" cy="146304"/>
          </a:xfrm>
          <a:prstGeom prst="rect">
            <a:avLst/>
          </a:prstGeom>
          <a:solidFill>
            <a:srgbClr val="C9A24B"/>
          </a:solidFill>
          <a:ln/>
        </p:spPr>
        <p:txBody>
          <a:bodyPr/>
          <a:lstStyle/>
          <a:p>
            <a:endParaRPr lang="en-US"/>
          </a:p>
        </p:txBody>
      </p:sp>
      <p:sp>
        <p:nvSpPr>
          <p:cNvPr id="32" name="Shape 30"/>
          <p:cNvSpPr/>
          <p:nvPr/>
        </p:nvSpPr>
        <p:spPr>
          <a:xfrm>
            <a:off x="9774936" y="2011680"/>
            <a:ext cx="1005840" cy="1005840"/>
          </a:xfrm>
          <a:prstGeom prst="ellipse">
            <a:avLst/>
          </a:prstGeom>
          <a:solidFill>
            <a:srgbClr val="0E2541"/>
          </a:solidFill>
          <a:ln/>
        </p:spPr>
        <p:txBody>
          <a:bodyPr/>
          <a:lstStyle/>
          <a:p>
            <a:endParaRPr lang="en-US"/>
          </a:p>
        </p:txBody>
      </p:sp>
      <p:sp>
        <p:nvSpPr>
          <p:cNvPr id="33" name="Shape 31"/>
          <p:cNvSpPr/>
          <p:nvPr/>
        </p:nvSpPr>
        <p:spPr>
          <a:xfrm>
            <a:off x="9774936" y="2011680"/>
            <a:ext cx="1005840" cy="1005840"/>
          </a:xfrm>
          <a:prstGeom prst="ellipse">
            <a:avLst/>
          </a:prstGeom>
          <a:ln w="31750">
            <a:solidFill>
              <a:srgbClr val="C9A24B"/>
            </a:solidFill>
            <a:prstDash val="solid"/>
          </a:ln>
        </p:spPr>
        <p:txBody>
          <a:bodyPr/>
          <a:lstStyle/>
          <a:p>
            <a:endParaRPr lang="en-US"/>
          </a:p>
        </p:txBody>
      </p:sp>
      <p:sp>
        <p:nvSpPr>
          <p:cNvPr id="34" name="Text 32"/>
          <p:cNvSpPr/>
          <p:nvPr/>
        </p:nvSpPr>
        <p:spPr>
          <a:xfrm>
            <a:off x="9774936" y="2011680"/>
            <a:ext cx="1005840" cy="1005840"/>
          </a:xfrm>
          <a:prstGeom prst="rect">
            <a:avLst/>
          </a:prstGeom>
          <a:noFill/>
          <a:ln/>
        </p:spPr>
        <p:txBody>
          <a:bodyPr wrap="square"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04</a:t>
            </a:r>
            <a:endParaRPr lang="en-US" sz="2400" dirty="0"/>
          </a:p>
        </p:txBody>
      </p:sp>
      <p:sp>
        <p:nvSpPr>
          <p:cNvPr id="35" name="Text 33"/>
          <p:cNvSpPr/>
          <p:nvPr/>
        </p:nvSpPr>
        <p:spPr>
          <a:xfrm>
            <a:off x="9098280" y="3200400"/>
            <a:ext cx="2359152" cy="777240"/>
          </a:xfrm>
          <a:prstGeom prst="rect">
            <a:avLst/>
          </a:prstGeom>
          <a:noFill/>
          <a:ln/>
        </p:spPr>
        <p:txBody>
          <a:bodyPr wrap="square" rtlCol="0" anchor="t"/>
          <a:lstStyle/>
          <a:p>
            <a:pPr marL="0" indent="0" algn="ctr">
              <a:lnSpc>
                <a:spcPct val="100000"/>
              </a:lnSpc>
              <a:buNone/>
            </a:pPr>
            <a:r>
              <a:rPr lang="en-US" sz="1500" b="1" dirty="0">
                <a:solidFill>
                  <a:srgbClr val="0E2541"/>
                </a:solidFill>
                <a:latin typeface="Segoe UI" pitchFamily="34" charset="0"/>
                <a:ea typeface="Segoe UI" pitchFamily="34" charset="-122"/>
                <a:cs typeface="Segoe UI" pitchFamily="34" charset="-120"/>
              </a:rPr>
              <a:t>Production &amp; Change Control</a:t>
            </a:r>
            <a:endParaRPr lang="en-US" sz="1500" dirty="0"/>
          </a:p>
        </p:txBody>
      </p:sp>
      <p:sp>
        <p:nvSpPr>
          <p:cNvPr id="36" name="Shape 34"/>
          <p:cNvSpPr/>
          <p:nvPr/>
        </p:nvSpPr>
        <p:spPr>
          <a:xfrm>
            <a:off x="9912096" y="3995928"/>
            <a:ext cx="731520" cy="0"/>
          </a:xfrm>
          <a:prstGeom prst="line">
            <a:avLst/>
          </a:prstGeom>
          <a:noFill/>
          <a:ln w="25400">
            <a:solidFill>
              <a:srgbClr val="C9A24B"/>
            </a:solidFill>
            <a:prstDash val="solid"/>
          </a:ln>
        </p:spPr>
        <p:txBody>
          <a:bodyPr/>
          <a:lstStyle/>
          <a:p>
            <a:endParaRPr lang="en-US"/>
          </a:p>
        </p:txBody>
      </p:sp>
      <p:sp>
        <p:nvSpPr>
          <p:cNvPr id="37" name="Text 35"/>
          <p:cNvSpPr/>
          <p:nvPr/>
        </p:nvSpPr>
        <p:spPr>
          <a:xfrm>
            <a:off x="9134856" y="4142232"/>
            <a:ext cx="2286000" cy="1463040"/>
          </a:xfrm>
          <a:prstGeom prst="rect">
            <a:avLst/>
          </a:prstGeom>
          <a:noFill/>
          <a:ln/>
        </p:spPr>
        <p:txBody>
          <a:bodyPr wrap="square" rtlCol="0" anchor="t"/>
          <a:lstStyle/>
          <a:p>
            <a:pPr marL="0" indent="0" algn="ctr">
              <a:lnSpc>
                <a:spcPct val="116000"/>
              </a:lnSpc>
              <a:buNone/>
            </a:pPr>
            <a:r>
              <a:rPr lang="en-US" sz="1150" dirty="0">
                <a:solidFill>
                  <a:srgbClr val="1C2B3A"/>
                </a:solidFill>
                <a:latin typeface="Segoe UI" pitchFamily="34" charset="0"/>
                <a:ea typeface="Segoe UI" pitchFamily="34" charset="-122"/>
                <a:cs typeface="Segoe UI" pitchFamily="34" charset="-120"/>
              </a:rPr>
              <a:t>Inventory depletion forces schedule, sourcing, or logistics changes — each adding review and approval steps.</a:t>
            </a:r>
            <a:endParaRPr lang="en-US" sz="1150" dirty="0"/>
          </a:p>
        </p:txBody>
      </p:sp>
      <p:sp>
        <p:nvSpPr>
          <p:cNvPr id="38" name="Text 36"/>
          <p:cNvSpPr/>
          <p:nvPr/>
        </p:nvSpPr>
        <p:spPr>
          <a:xfrm>
            <a:off x="548640" y="5897880"/>
            <a:ext cx="11091672" cy="457200"/>
          </a:xfrm>
          <a:prstGeom prst="rect">
            <a:avLst/>
          </a:prstGeom>
          <a:noFill/>
          <a:ln/>
        </p:spPr>
        <p:txBody>
          <a:bodyPr wrap="square" rtlCol="0" anchor="ctr"/>
          <a:lstStyle/>
          <a:p>
            <a:pPr marL="0" indent="0" algn="ctr">
              <a:buNone/>
            </a:pPr>
            <a:r>
              <a:rPr lang="en-US" sz="1200" b="1" dirty="0">
                <a:solidFill>
                  <a:srgbClr val="2E6CA4"/>
                </a:solidFill>
                <a:latin typeface="Segoe UI" pitchFamily="34" charset="0"/>
                <a:ea typeface="Segoe UI" pitchFamily="34" charset="-122"/>
                <a:cs typeface="Segoe UI" pitchFamily="34" charset="-120"/>
              </a:rPr>
              <a:t>Net effect:  </a:t>
            </a:r>
            <a:r>
              <a:rPr lang="en-US" sz="1200" i="1" dirty="0">
                <a:solidFill>
                  <a:srgbClr val="5B6B7B"/>
                </a:solidFill>
                <a:latin typeface="Segoe UI" pitchFamily="34" charset="0"/>
                <a:ea typeface="Segoe UI" pitchFamily="34" charset="-122"/>
                <a:cs typeface="Segoe UI" pitchFamily="34" charset="-120"/>
              </a:rPr>
              <a:t>these four areas compound — a single delayed, defect-prone component can trigger continuity, documentation, quality, and change-control exposure at once.</a:t>
            </a:r>
            <a:endParaRPr lang="en-US" sz="1200" dirty="0"/>
          </a:p>
        </p:txBody>
      </p:sp>
      <p:sp>
        <p:nvSpPr>
          <p:cNvPr id="39" name="Shape 37"/>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40" name="Text 38"/>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41" name="Text 39"/>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42" name="Text 40"/>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ROOT CAUSE ANALYSIS</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Different drivers behind each flagged component</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Shape 4"/>
          <p:cNvSpPr/>
          <p:nvPr/>
        </p:nvSpPr>
        <p:spPr>
          <a:xfrm>
            <a:off x="548640" y="1554480"/>
            <a:ext cx="11091672" cy="1481328"/>
          </a:xfrm>
          <a:prstGeom prst="rect">
            <a:avLst/>
          </a:prstGeom>
          <a:solidFill>
            <a:srgbClr val="F6F9FC"/>
          </a:solidFill>
          <a:ln w="12700">
            <a:solidFill>
              <a:srgbClr val="D5E0EC"/>
            </a:solidFill>
            <a:prstDash val="solid"/>
          </a:ln>
        </p:spPr>
        <p:txBody>
          <a:bodyPr/>
          <a:lstStyle/>
          <a:p>
            <a:endParaRPr lang="en-US"/>
          </a:p>
        </p:txBody>
      </p:sp>
      <p:sp>
        <p:nvSpPr>
          <p:cNvPr id="7" name="Shape 5"/>
          <p:cNvSpPr/>
          <p:nvPr/>
        </p:nvSpPr>
        <p:spPr>
          <a:xfrm>
            <a:off x="548640" y="1554480"/>
            <a:ext cx="2286000" cy="1481328"/>
          </a:xfrm>
          <a:prstGeom prst="rect">
            <a:avLst/>
          </a:prstGeom>
          <a:solidFill>
            <a:srgbClr val="0E2541"/>
          </a:solidFill>
          <a:ln/>
        </p:spPr>
        <p:txBody>
          <a:bodyPr/>
          <a:lstStyle/>
          <a:p>
            <a:endParaRPr lang="en-US"/>
          </a:p>
        </p:txBody>
      </p:sp>
      <p:sp>
        <p:nvSpPr>
          <p:cNvPr id="8" name="Shape 6"/>
          <p:cNvSpPr/>
          <p:nvPr/>
        </p:nvSpPr>
        <p:spPr>
          <a:xfrm>
            <a:off x="548640" y="1554480"/>
            <a:ext cx="82296" cy="1481328"/>
          </a:xfrm>
          <a:prstGeom prst="rect">
            <a:avLst/>
          </a:prstGeom>
          <a:solidFill>
            <a:srgbClr val="1F4E79"/>
          </a:solidFill>
          <a:ln/>
        </p:spPr>
        <p:txBody>
          <a:bodyPr/>
          <a:lstStyle/>
          <a:p>
            <a:endParaRPr lang="en-US"/>
          </a:p>
        </p:txBody>
      </p:sp>
      <p:sp>
        <p:nvSpPr>
          <p:cNvPr id="9" name="Text 7"/>
          <p:cNvSpPr/>
          <p:nvPr/>
        </p:nvSpPr>
        <p:spPr>
          <a:xfrm>
            <a:off x="731520" y="1828800"/>
            <a:ext cx="2011680" cy="457200"/>
          </a:xfrm>
          <a:prstGeom prst="rect">
            <a:avLst/>
          </a:prstGeom>
          <a:noFill/>
          <a:ln/>
        </p:spPr>
        <p:txBody>
          <a:bodyPr wrap="square" rtlCol="0" anchor="ctr"/>
          <a:lstStyle/>
          <a:p>
            <a:pPr marL="0" indent="0">
              <a:buNone/>
            </a:pPr>
            <a:r>
              <a:rPr lang="en-US" sz="1900" b="1" dirty="0">
                <a:solidFill>
                  <a:srgbClr val="FFFFFF"/>
                </a:solidFill>
                <a:latin typeface="Segoe UI" pitchFamily="34" charset="0"/>
                <a:ea typeface="Segoe UI" pitchFamily="34" charset="-122"/>
                <a:cs typeface="Segoe UI" pitchFamily="34" charset="-120"/>
              </a:rPr>
              <a:t>BIND567</a:t>
            </a:r>
            <a:endParaRPr lang="en-US" sz="1900" dirty="0"/>
          </a:p>
        </p:txBody>
      </p:sp>
      <p:sp>
        <p:nvSpPr>
          <p:cNvPr id="10" name="Text 8"/>
          <p:cNvSpPr/>
          <p:nvPr/>
        </p:nvSpPr>
        <p:spPr>
          <a:xfrm>
            <a:off x="749808" y="2304288"/>
            <a:ext cx="2011680" cy="548640"/>
          </a:xfrm>
          <a:prstGeom prst="rect">
            <a:avLst/>
          </a:prstGeom>
          <a:noFill/>
          <a:ln/>
        </p:spPr>
        <p:txBody>
          <a:bodyPr wrap="square" rtlCol="0" anchor="ctr"/>
          <a:lstStyle/>
          <a:p>
            <a:pPr marL="0" indent="0">
              <a:lnSpc>
                <a:spcPct val="105000"/>
              </a:lnSpc>
              <a:buNone/>
            </a:pPr>
            <a:r>
              <a:rPr lang="en-US" sz="1000" b="1" kern="0" spc="50" dirty="0">
                <a:solidFill>
                  <a:srgbClr val="5B9BD5"/>
                </a:solidFill>
                <a:latin typeface="Segoe UI" pitchFamily="34" charset="0"/>
                <a:ea typeface="Segoe UI" pitchFamily="34" charset="-122"/>
                <a:cs typeface="Segoe UI" pitchFamily="34" charset="-120"/>
              </a:rPr>
              <a:t>STRUCTURAL LEAD TIME</a:t>
            </a:r>
            <a:endParaRPr lang="en-US" sz="1000" dirty="0"/>
          </a:p>
        </p:txBody>
      </p:sp>
      <p:sp>
        <p:nvSpPr>
          <p:cNvPr id="11" name="Text 9"/>
          <p:cNvSpPr/>
          <p:nvPr/>
        </p:nvSpPr>
        <p:spPr>
          <a:xfrm>
            <a:off x="3063240" y="1719072"/>
            <a:ext cx="8229600" cy="228600"/>
          </a:xfrm>
          <a:prstGeom prst="rect">
            <a:avLst/>
          </a:prstGeom>
          <a:noFill/>
          <a:ln/>
        </p:spPr>
        <p:txBody>
          <a:bodyPr wrap="square" rtlCol="0" anchor="ctr"/>
          <a:lstStyle/>
          <a:p>
            <a:pPr marL="0" indent="0">
              <a:buNone/>
            </a:pPr>
            <a:r>
              <a:rPr lang="en-US" sz="950" b="1" kern="0" spc="150" dirty="0">
                <a:solidFill>
                  <a:srgbClr val="2E6CA4"/>
                </a:solidFill>
                <a:latin typeface="Segoe UI" pitchFamily="34" charset="0"/>
                <a:ea typeface="Segoe UI" pitchFamily="34" charset="-122"/>
                <a:cs typeface="Segoe UI" pitchFamily="34" charset="-120"/>
              </a:rPr>
              <a:t>PRIMARY ROOT CAUSE</a:t>
            </a:r>
            <a:endParaRPr lang="en-US" sz="950" dirty="0"/>
          </a:p>
        </p:txBody>
      </p:sp>
      <p:sp>
        <p:nvSpPr>
          <p:cNvPr id="12" name="Text 10"/>
          <p:cNvSpPr/>
          <p:nvPr/>
        </p:nvSpPr>
        <p:spPr>
          <a:xfrm>
            <a:off x="3063240" y="1975104"/>
            <a:ext cx="8394192" cy="932688"/>
          </a:xfrm>
          <a:prstGeom prst="rect">
            <a:avLst/>
          </a:prstGeom>
          <a:noFill/>
          <a:ln/>
        </p:spPr>
        <p:txBody>
          <a:bodyPr wrap="square" rtlCol="0" anchor="t"/>
          <a:lstStyle/>
          <a:p>
            <a:pPr marL="0" indent="0">
              <a:lnSpc>
                <a:spcPct val="116000"/>
              </a:lnSpc>
              <a:buNone/>
            </a:pPr>
            <a:r>
              <a:rPr lang="en-US" sz="1250" dirty="0">
                <a:solidFill>
                  <a:srgbClr val="1C2B3A"/>
                </a:solidFill>
                <a:latin typeface="Segoe UI" pitchFamily="34" charset="0"/>
                <a:ea typeface="Segoe UI" pitchFamily="34" charset="-122"/>
                <a:cs typeface="Segoe UI" pitchFamily="34" charset="-120"/>
              </a:rPr>
              <a:t>Long replenishment cycle, not supplier underperformance. The 64-day timeline and 26-day variance point to extended inbound flow, limited scheduling flexibility, and thin contingency for a long-cycle part.</a:t>
            </a:r>
            <a:endParaRPr lang="en-US" sz="1250" dirty="0"/>
          </a:p>
        </p:txBody>
      </p:sp>
      <p:sp>
        <p:nvSpPr>
          <p:cNvPr id="13" name="Shape 11"/>
          <p:cNvSpPr/>
          <p:nvPr/>
        </p:nvSpPr>
        <p:spPr>
          <a:xfrm>
            <a:off x="548640" y="3145536"/>
            <a:ext cx="11091672" cy="1481328"/>
          </a:xfrm>
          <a:prstGeom prst="rect">
            <a:avLst/>
          </a:prstGeom>
          <a:solidFill>
            <a:srgbClr val="F6F9FC"/>
          </a:solidFill>
          <a:ln w="12700">
            <a:solidFill>
              <a:srgbClr val="D5E0EC"/>
            </a:solidFill>
            <a:prstDash val="solid"/>
          </a:ln>
        </p:spPr>
        <p:txBody>
          <a:bodyPr/>
          <a:lstStyle/>
          <a:p>
            <a:endParaRPr lang="en-US"/>
          </a:p>
        </p:txBody>
      </p:sp>
      <p:sp>
        <p:nvSpPr>
          <p:cNvPr id="14" name="Shape 12"/>
          <p:cNvSpPr/>
          <p:nvPr/>
        </p:nvSpPr>
        <p:spPr>
          <a:xfrm>
            <a:off x="548640" y="3145536"/>
            <a:ext cx="2286000" cy="1481328"/>
          </a:xfrm>
          <a:prstGeom prst="rect">
            <a:avLst/>
          </a:prstGeom>
          <a:solidFill>
            <a:srgbClr val="0E2541"/>
          </a:solidFill>
          <a:ln/>
        </p:spPr>
        <p:txBody>
          <a:bodyPr/>
          <a:lstStyle/>
          <a:p>
            <a:endParaRPr lang="en-US"/>
          </a:p>
        </p:txBody>
      </p:sp>
      <p:sp>
        <p:nvSpPr>
          <p:cNvPr id="15" name="Shape 13"/>
          <p:cNvSpPr/>
          <p:nvPr/>
        </p:nvSpPr>
        <p:spPr>
          <a:xfrm>
            <a:off x="548640" y="3145536"/>
            <a:ext cx="82296" cy="1481328"/>
          </a:xfrm>
          <a:prstGeom prst="rect">
            <a:avLst/>
          </a:prstGeom>
          <a:solidFill>
            <a:srgbClr val="2E6CA4"/>
          </a:solidFill>
          <a:ln/>
        </p:spPr>
        <p:txBody>
          <a:bodyPr/>
          <a:lstStyle/>
          <a:p>
            <a:endParaRPr lang="en-US"/>
          </a:p>
        </p:txBody>
      </p:sp>
      <p:sp>
        <p:nvSpPr>
          <p:cNvPr id="16" name="Text 14"/>
          <p:cNvSpPr/>
          <p:nvPr/>
        </p:nvSpPr>
        <p:spPr>
          <a:xfrm>
            <a:off x="731520" y="3419856"/>
            <a:ext cx="2011680" cy="457200"/>
          </a:xfrm>
          <a:prstGeom prst="rect">
            <a:avLst/>
          </a:prstGeom>
          <a:noFill/>
          <a:ln/>
        </p:spPr>
        <p:txBody>
          <a:bodyPr wrap="square" rtlCol="0" anchor="ctr"/>
          <a:lstStyle/>
          <a:p>
            <a:pPr marL="0" indent="0">
              <a:buNone/>
            </a:pPr>
            <a:r>
              <a:rPr lang="en-US" sz="1900" b="1" dirty="0">
                <a:solidFill>
                  <a:srgbClr val="FFFFFF"/>
                </a:solidFill>
                <a:latin typeface="Segoe UI" pitchFamily="34" charset="0"/>
                <a:ea typeface="Segoe UI" pitchFamily="34" charset="-122"/>
                <a:cs typeface="Segoe UI" pitchFamily="34" charset="-120"/>
              </a:rPr>
              <a:t>COMP042</a:t>
            </a:r>
            <a:endParaRPr lang="en-US" sz="1900" dirty="0"/>
          </a:p>
        </p:txBody>
      </p:sp>
      <p:sp>
        <p:nvSpPr>
          <p:cNvPr id="17" name="Text 15"/>
          <p:cNvSpPr/>
          <p:nvPr/>
        </p:nvSpPr>
        <p:spPr>
          <a:xfrm>
            <a:off x="749808" y="3895344"/>
            <a:ext cx="2011680" cy="548640"/>
          </a:xfrm>
          <a:prstGeom prst="rect">
            <a:avLst/>
          </a:prstGeom>
          <a:noFill/>
          <a:ln/>
        </p:spPr>
        <p:txBody>
          <a:bodyPr wrap="square" rtlCol="0" anchor="ctr"/>
          <a:lstStyle/>
          <a:p>
            <a:pPr marL="0" indent="0">
              <a:lnSpc>
                <a:spcPct val="105000"/>
              </a:lnSpc>
              <a:buNone/>
            </a:pPr>
            <a:r>
              <a:rPr lang="en-US" sz="1000" b="1" kern="0" spc="50" dirty="0">
                <a:solidFill>
                  <a:srgbClr val="5B9BD5"/>
                </a:solidFill>
                <a:latin typeface="Segoe UI" pitchFamily="34" charset="0"/>
                <a:ea typeface="Segoe UI" pitchFamily="34" charset="-122"/>
                <a:cs typeface="Segoe UI" pitchFamily="34" charset="-120"/>
              </a:rPr>
              <a:t>FULFILLMENT VARIABILITY</a:t>
            </a:r>
            <a:endParaRPr lang="en-US" sz="1000" dirty="0"/>
          </a:p>
        </p:txBody>
      </p:sp>
      <p:sp>
        <p:nvSpPr>
          <p:cNvPr id="18" name="Text 16"/>
          <p:cNvSpPr/>
          <p:nvPr/>
        </p:nvSpPr>
        <p:spPr>
          <a:xfrm>
            <a:off x="3063240" y="3310128"/>
            <a:ext cx="8229600" cy="228600"/>
          </a:xfrm>
          <a:prstGeom prst="rect">
            <a:avLst/>
          </a:prstGeom>
          <a:noFill/>
          <a:ln/>
        </p:spPr>
        <p:txBody>
          <a:bodyPr wrap="square" rtlCol="0" anchor="ctr"/>
          <a:lstStyle/>
          <a:p>
            <a:pPr marL="0" indent="0">
              <a:buNone/>
            </a:pPr>
            <a:r>
              <a:rPr lang="en-US" sz="950" b="1" kern="0" spc="150" dirty="0">
                <a:solidFill>
                  <a:srgbClr val="2E6CA4"/>
                </a:solidFill>
                <a:latin typeface="Segoe UI" pitchFamily="34" charset="0"/>
                <a:ea typeface="Segoe UI" pitchFamily="34" charset="-122"/>
                <a:cs typeface="Segoe UI" pitchFamily="34" charset="-120"/>
              </a:rPr>
              <a:t>PRIMARY ROOT CAUSE</a:t>
            </a:r>
            <a:endParaRPr lang="en-US" sz="950" dirty="0"/>
          </a:p>
        </p:txBody>
      </p:sp>
      <p:sp>
        <p:nvSpPr>
          <p:cNvPr id="19" name="Text 17"/>
          <p:cNvSpPr/>
          <p:nvPr/>
        </p:nvSpPr>
        <p:spPr>
          <a:xfrm>
            <a:off x="3063240" y="3566160"/>
            <a:ext cx="8394192" cy="932688"/>
          </a:xfrm>
          <a:prstGeom prst="rect">
            <a:avLst/>
          </a:prstGeom>
          <a:noFill/>
          <a:ln/>
        </p:spPr>
        <p:txBody>
          <a:bodyPr wrap="square" rtlCol="0" anchor="t"/>
          <a:lstStyle/>
          <a:p>
            <a:pPr marL="0" indent="0">
              <a:lnSpc>
                <a:spcPct val="116000"/>
              </a:lnSpc>
              <a:buNone/>
            </a:pPr>
            <a:r>
              <a:rPr lang="en-US" sz="1250" dirty="0">
                <a:solidFill>
                  <a:srgbClr val="1C2B3A"/>
                </a:solidFill>
                <a:latin typeface="Segoe UI" pitchFamily="34" charset="0"/>
                <a:ea typeface="Segoe UI" pitchFamily="34" charset="-122"/>
                <a:cs typeface="Segoe UI" pitchFamily="34" charset="-120"/>
              </a:rPr>
              <a:t>Supplier execution consistency is the issue. PrimeLogistics shows lower on-time delivery and the highest defect average; an 86% on-time rate plus backorders signals weak coordination between order planning and supplier response.</a:t>
            </a:r>
            <a:endParaRPr lang="en-US" sz="1250" dirty="0"/>
          </a:p>
        </p:txBody>
      </p:sp>
      <p:sp>
        <p:nvSpPr>
          <p:cNvPr id="20" name="Shape 18"/>
          <p:cNvSpPr/>
          <p:nvPr/>
        </p:nvSpPr>
        <p:spPr>
          <a:xfrm>
            <a:off x="548640" y="4736592"/>
            <a:ext cx="11091672" cy="1481328"/>
          </a:xfrm>
          <a:prstGeom prst="rect">
            <a:avLst/>
          </a:prstGeom>
          <a:solidFill>
            <a:srgbClr val="F6F9FC"/>
          </a:solidFill>
          <a:ln w="12700">
            <a:solidFill>
              <a:srgbClr val="D5E0EC"/>
            </a:solidFill>
            <a:prstDash val="solid"/>
          </a:ln>
        </p:spPr>
        <p:txBody>
          <a:bodyPr/>
          <a:lstStyle/>
          <a:p>
            <a:endParaRPr lang="en-US"/>
          </a:p>
        </p:txBody>
      </p:sp>
      <p:sp>
        <p:nvSpPr>
          <p:cNvPr id="21" name="Shape 19"/>
          <p:cNvSpPr/>
          <p:nvPr/>
        </p:nvSpPr>
        <p:spPr>
          <a:xfrm>
            <a:off x="548640" y="4736592"/>
            <a:ext cx="2286000" cy="1481328"/>
          </a:xfrm>
          <a:prstGeom prst="rect">
            <a:avLst/>
          </a:prstGeom>
          <a:solidFill>
            <a:srgbClr val="0E2541"/>
          </a:solidFill>
          <a:ln/>
        </p:spPr>
        <p:txBody>
          <a:bodyPr/>
          <a:lstStyle/>
          <a:p>
            <a:endParaRPr lang="en-US"/>
          </a:p>
        </p:txBody>
      </p:sp>
      <p:sp>
        <p:nvSpPr>
          <p:cNvPr id="22" name="Shape 20"/>
          <p:cNvSpPr/>
          <p:nvPr/>
        </p:nvSpPr>
        <p:spPr>
          <a:xfrm>
            <a:off x="548640" y="4736592"/>
            <a:ext cx="82296" cy="1481328"/>
          </a:xfrm>
          <a:prstGeom prst="rect">
            <a:avLst/>
          </a:prstGeom>
          <a:solidFill>
            <a:srgbClr val="5B9BD5"/>
          </a:solidFill>
          <a:ln/>
        </p:spPr>
        <p:txBody>
          <a:bodyPr/>
          <a:lstStyle/>
          <a:p>
            <a:endParaRPr lang="en-US"/>
          </a:p>
        </p:txBody>
      </p:sp>
      <p:sp>
        <p:nvSpPr>
          <p:cNvPr id="23" name="Text 21"/>
          <p:cNvSpPr/>
          <p:nvPr/>
        </p:nvSpPr>
        <p:spPr>
          <a:xfrm>
            <a:off x="731520" y="5010912"/>
            <a:ext cx="2011680" cy="457200"/>
          </a:xfrm>
          <a:prstGeom prst="rect">
            <a:avLst/>
          </a:prstGeom>
          <a:noFill/>
          <a:ln/>
        </p:spPr>
        <p:txBody>
          <a:bodyPr wrap="square" rtlCol="0" anchor="ctr"/>
          <a:lstStyle/>
          <a:p>
            <a:pPr marL="0" indent="0">
              <a:buNone/>
            </a:pPr>
            <a:r>
              <a:rPr lang="en-US" sz="1900" b="1" dirty="0">
                <a:solidFill>
                  <a:srgbClr val="FFFFFF"/>
                </a:solidFill>
                <a:latin typeface="Segoe UI" pitchFamily="34" charset="0"/>
                <a:ea typeface="Segoe UI" pitchFamily="34" charset="-122"/>
                <a:cs typeface="Segoe UI" pitchFamily="34" charset="-120"/>
              </a:rPr>
              <a:t>COMP043</a:t>
            </a:r>
            <a:endParaRPr lang="en-US" sz="1900" dirty="0"/>
          </a:p>
        </p:txBody>
      </p:sp>
      <p:sp>
        <p:nvSpPr>
          <p:cNvPr id="24" name="Text 22"/>
          <p:cNvSpPr/>
          <p:nvPr/>
        </p:nvSpPr>
        <p:spPr>
          <a:xfrm>
            <a:off x="749808" y="5486400"/>
            <a:ext cx="2011680" cy="548640"/>
          </a:xfrm>
          <a:prstGeom prst="rect">
            <a:avLst/>
          </a:prstGeom>
          <a:noFill/>
          <a:ln/>
        </p:spPr>
        <p:txBody>
          <a:bodyPr wrap="square" rtlCol="0" anchor="ctr"/>
          <a:lstStyle/>
          <a:p>
            <a:pPr marL="0" indent="0">
              <a:lnSpc>
                <a:spcPct val="105000"/>
              </a:lnSpc>
              <a:buNone/>
            </a:pPr>
            <a:r>
              <a:rPr lang="en-US" sz="1000" b="1" kern="0" spc="50" dirty="0">
                <a:solidFill>
                  <a:srgbClr val="5B9BD5"/>
                </a:solidFill>
                <a:latin typeface="Segoe UI" pitchFamily="34" charset="0"/>
                <a:ea typeface="Segoe UI" pitchFamily="34" charset="-122"/>
                <a:cs typeface="Segoe UI" pitchFamily="34" charset="-120"/>
              </a:rPr>
              <a:t>QUALITY &amp; PLANNING DISCIPLINE</a:t>
            </a:r>
            <a:endParaRPr lang="en-US" sz="1000" dirty="0"/>
          </a:p>
        </p:txBody>
      </p:sp>
      <p:sp>
        <p:nvSpPr>
          <p:cNvPr id="25" name="Text 23"/>
          <p:cNvSpPr/>
          <p:nvPr/>
        </p:nvSpPr>
        <p:spPr>
          <a:xfrm>
            <a:off x="3063240" y="4901184"/>
            <a:ext cx="8229600" cy="228600"/>
          </a:xfrm>
          <a:prstGeom prst="rect">
            <a:avLst/>
          </a:prstGeom>
          <a:noFill/>
          <a:ln/>
        </p:spPr>
        <p:txBody>
          <a:bodyPr wrap="square" rtlCol="0" anchor="ctr"/>
          <a:lstStyle/>
          <a:p>
            <a:pPr marL="0" indent="0">
              <a:buNone/>
            </a:pPr>
            <a:r>
              <a:rPr lang="en-US" sz="950" b="1" kern="0" spc="150" dirty="0">
                <a:solidFill>
                  <a:srgbClr val="2E6CA4"/>
                </a:solidFill>
                <a:latin typeface="Segoe UI" pitchFamily="34" charset="0"/>
                <a:ea typeface="Segoe UI" pitchFamily="34" charset="-122"/>
                <a:cs typeface="Segoe UI" pitchFamily="34" charset="-120"/>
              </a:rPr>
              <a:t>PRIMARY ROOT CAUSE</a:t>
            </a:r>
            <a:endParaRPr lang="en-US" sz="950" dirty="0"/>
          </a:p>
        </p:txBody>
      </p:sp>
      <p:sp>
        <p:nvSpPr>
          <p:cNvPr id="26" name="Text 24"/>
          <p:cNvSpPr/>
          <p:nvPr/>
        </p:nvSpPr>
        <p:spPr>
          <a:xfrm>
            <a:off x="3063240" y="5157216"/>
            <a:ext cx="8394192" cy="932688"/>
          </a:xfrm>
          <a:prstGeom prst="rect">
            <a:avLst/>
          </a:prstGeom>
          <a:noFill/>
          <a:ln/>
        </p:spPr>
        <p:txBody>
          <a:bodyPr wrap="square" rtlCol="0" anchor="t"/>
          <a:lstStyle/>
          <a:p>
            <a:pPr marL="0" indent="0">
              <a:lnSpc>
                <a:spcPct val="116000"/>
              </a:lnSpc>
              <a:buNone/>
            </a:pPr>
            <a:r>
              <a:rPr lang="en-US" sz="1250" dirty="0">
                <a:solidFill>
                  <a:srgbClr val="1C2B3A"/>
                </a:solidFill>
                <a:latin typeface="Segoe UI" pitchFamily="34" charset="0"/>
                <a:ea typeface="Segoe UI" pitchFamily="34" charset="-122"/>
                <a:cs typeface="Segoe UI" pitchFamily="34" charset="-120"/>
              </a:rPr>
              <a:t>A 4.89% defect rate sits well above stronger records, and 80% forecast accuracy shows weak demand alignment. Likely causes: forecasting gaps, inventory positioning, and recurring quality escapes that reduce usable supply.</a:t>
            </a:r>
            <a:endParaRPr lang="en-US" sz="1250" dirty="0"/>
          </a:p>
        </p:txBody>
      </p:sp>
      <p:sp>
        <p:nvSpPr>
          <p:cNvPr id="27" name="Shape 25"/>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28" name="Text 26"/>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29" name="Text 27"/>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30" name="Text 28"/>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E6CA4"/>
          </a:solidFill>
          <a:ln/>
        </p:spPr>
        <p:txBody>
          <a:bodyPr/>
          <a:lstStyle/>
          <a:p>
            <a:endParaRPr lang="en-US"/>
          </a:p>
        </p:txBody>
      </p:sp>
      <p:sp>
        <p:nvSpPr>
          <p:cNvPr id="3" name="Text 1"/>
          <p:cNvSpPr/>
          <p:nvPr/>
        </p:nvSpPr>
        <p:spPr>
          <a:xfrm>
            <a:off x="548640" y="310896"/>
            <a:ext cx="8229600" cy="274320"/>
          </a:xfrm>
          <a:prstGeom prst="rect">
            <a:avLst/>
          </a:prstGeom>
          <a:noFill/>
          <a:ln/>
        </p:spPr>
        <p:txBody>
          <a:bodyPr wrap="square" rtlCol="0" anchor="ctr"/>
          <a:lstStyle/>
          <a:p>
            <a:pPr marL="0" indent="0">
              <a:buNone/>
            </a:pPr>
            <a:r>
              <a:rPr lang="en-US" sz="1150" b="1" kern="0" spc="200" dirty="0">
                <a:solidFill>
                  <a:srgbClr val="2E6CA4"/>
                </a:solidFill>
                <a:latin typeface="Segoe UI" pitchFamily="34" charset="0"/>
                <a:ea typeface="Segoe UI" pitchFamily="34" charset="-122"/>
                <a:cs typeface="Segoe UI" pitchFamily="34" charset="-120"/>
              </a:rPr>
              <a:t>MITIGATION ROADMAP</a:t>
            </a:r>
            <a:endParaRPr lang="en-US" sz="1150" dirty="0"/>
          </a:p>
        </p:txBody>
      </p:sp>
      <p:sp>
        <p:nvSpPr>
          <p:cNvPr id="4" name="Text 2"/>
          <p:cNvSpPr/>
          <p:nvPr/>
        </p:nvSpPr>
        <p:spPr>
          <a:xfrm>
            <a:off x="548640" y="548640"/>
            <a:ext cx="11064240" cy="512064"/>
          </a:xfrm>
          <a:prstGeom prst="rect">
            <a:avLst/>
          </a:prstGeom>
          <a:noFill/>
          <a:ln/>
        </p:spPr>
        <p:txBody>
          <a:bodyPr wrap="square" rtlCol="0" anchor="ctr"/>
          <a:lstStyle/>
          <a:p>
            <a:pPr marL="0" indent="0">
              <a:buNone/>
            </a:pPr>
            <a:r>
              <a:rPr lang="en-US" sz="2200" b="1" dirty="0">
                <a:solidFill>
                  <a:srgbClr val="0E2541"/>
                </a:solidFill>
                <a:latin typeface="Segoe UI" pitchFamily="34" charset="0"/>
                <a:ea typeface="Segoe UI" pitchFamily="34" charset="-122"/>
                <a:cs typeface="Segoe UI" pitchFamily="34" charset="-120"/>
              </a:rPr>
              <a:t>From monitoring to action — recommended next steps</a:t>
            </a:r>
            <a:endParaRPr lang="en-US" sz="2200" dirty="0"/>
          </a:p>
        </p:txBody>
      </p:sp>
      <p:sp>
        <p:nvSpPr>
          <p:cNvPr id="5" name="Shape 3"/>
          <p:cNvSpPr/>
          <p:nvPr/>
        </p:nvSpPr>
        <p:spPr>
          <a:xfrm>
            <a:off x="566928" y="1170432"/>
            <a:ext cx="914400" cy="45720"/>
          </a:xfrm>
          <a:prstGeom prst="rect">
            <a:avLst/>
          </a:prstGeom>
          <a:solidFill>
            <a:srgbClr val="C9A24B"/>
          </a:solidFill>
          <a:ln/>
        </p:spPr>
        <p:txBody>
          <a:bodyPr/>
          <a:lstStyle/>
          <a:p>
            <a:endParaRPr lang="en-US"/>
          </a:p>
        </p:txBody>
      </p:sp>
      <p:sp>
        <p:nvSpPr>
          <p:cNvPr id="6" name="Shape 4"/>
          <p:cNvSpPr/>
          <p:nvPr/>
        </p:nvSpPr>
        <p:spPr>
          <a:xfrm>
            <a:off x="548640" y="1572768"/>
            <a:ext cx="2505456" cy="1371600"/>
          </a:xfrm>
          <a:prstGeom prst="rect">
            <a:avLst/>
          </a:prstGeom>
          <a:solidFill>
            <a:srgbClr val="0E2541"/>
          </a:solidFill>
          <a:ln/>
          <a:effectLst>
            <a:outerShdw blurRad="114300" dist="38100" dir="5400000" algn="bl" rotWithShape="0">
              <a:srgbClr val="0E2541">
                <a:alpha val="18000"/>
              </a:srgbClr>
            </a:outerShdw>
          </a:effectLst>
        </p:spPr>
        <p:txBody>
          <a:bodyPr/>
          <a:lstStyle/>
          <a:p>
            <a:endParaRPr lang="en-US"/>
          </a:p>
        </p:txBody>
      </p:sp>
      <p:sp>
        <p:nvSpPr>
          <p:cNvPr id="7" name="Shape 5"/>
          <p:cNvSpPr/>
          <p:nvPr/>
        </p:nvSpPr>
        <p:spPr>
          <a:xfrm>
            <a:off x="548640" y="1572768"/>
            <a:ext cx="2505456" cy="109728"/>
          </a:xfrm>
          <a:prstGeom prst="rect">
            <a:avLst/>
          </a:prstGeom>
          <a:solidFill>
            <a:srgbClr val="C9A24B"/>
          </a:solidFill>
          <a:ln/>
        </p:spPr>
        <p:txBody>
          <a:bodyPr/>
          <a:lstStyle/>
          <a:p>
            <a:endParaRPr lang="en-US"/>
          </a:p>
        </p:txBody>
      </p:sp>
      <p:sp>
        <p:nvSpPr>
          <p:cNvPr id="8" name="Text 6"/>
          <p:cNvSpPr/>
          <p:nvPr/>
        </p:nvSpPr>
        <p:spPr>
          <a:xfrm>
            <a:off x="731520" y="1755648"/>
            <a:ext cx="2139696" cy="256032"/>
          </a:xfrm>
          <a:prstGeom prst="rect">
            <a:avLst/>
          </a:prstGeom>
          <a:noFill/>
          <a:ln/>
        </p:spPr>
        <p:txBody>
          <a:bodyPr wrap="square" rtlCol="0" anchor="ctr"/>
          <a:lstStyle/>
          <a:p>
            <a:pPr marL="0" indent="0">
              <a:buNone/>
            </a:pPr>
            <a:r>
              <a:rPr lang="en-US" sz="1000" b="1" kern="0" spc="150" dirty="0">
                <a:solidFill>
                  <a:srgbClr val="5B9BD5"/>
                </a:solidFill>
                <a:latin typeface="Segoe UI" pitchFamily="34" charset="0"/>
                <a:ea typeface="Segoe UI" pitchFamily="34" charset="-122"/>
                <a:cs typeface="Segoe UI" pitchFamily="34" charset="-120"/>
              </a:rPr>
              <a:t>STEP 1</a:t>
            </a:r>
            <a:endParaRPr lang="en-US" sz="1000" dirty="0"/>
          </a:p>
        </p:txBody>
      </p:sp>
      <p:sp>
        <p:nvSpPr>
          <p:cNvPr id="9" name="Text 7"/>
          <p:cNvSpPr/>
          <p:nvPr/>
        </p:nvSpPr>
        <p:spPr>
          <a:xfrm>
            <a:off x="731520" y="1993392"/>
            <a:ext cx="2139696"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Monitor</a:t>
            </a:r>
            <a:endParaRPr lang="en-US" sz="1700" dirty="0"/>
          </a:p>
        </p:txBody>
      </p:sp>
      <p:sp>
        <p:nvSpPr>
          <p:cNvPr id="10" name="Text 8"/>
          <p:cNvSpPr/>
          <p:nvPr/>
        </p:nvSpPr>
        <p:spPr>
          <a:xfrm>
            <a:off x="731520" y="2377440"/>
            <a:ext cx="2139696" cy="502920"/>
          </a:xfrm>
          <a:prstGeom prst="rect">
            <a:avLst/>
          </a:prstGeom>
          <a:noFill/>
          <a:ln/>
        </p:spPr>
        <p:txBody>
          <a:bodyPr wrap="square" rtlCol="0" anchor="t"/>
          <a:lstStyle/>
          <a:p>
            <a:pPr marL="0" indent="0">
              <a:lnSpc>
                <a:spcPct val="108000"/>
              </a:lnSpc>
              <a:buNone/>
            </a:pPr>
            <a:r>
              <a:rPr lang="en-US" sz="1000" dirty="0">
                <a:solidFill>
                  <a:srgbClr val="C5D6E8"/>
                </a:solidFill>
                <a:latin typeface="Segoe UI" pitchFamily="34" charset="0"/>
                <a:ea typeface="Segoe UI" pitchFamily="34" charset="-122"/>
                <a:cs typeface="Segoe UI" pitchFamily="34" charset="-120"/>
              </a:rPr>
              <a:t>Weekly supply review: lead-time variance, backorders, defects, coverage</a:t>
            </a:r>
            <a:endParaRPr lang="en-US" sz="1000" dirty="0"/>
          </a:p>
        </p:txBody>
      </p:sp>
      <p:sp>
        <p:nvSpPr>
          <p:cNvPr id="11" name="Shape 9"/>
          <p:cNvSpPr/>
          <p:nvPr/>
        </p:nvSpPr>
        <p:spPr>
          <a:xfrm>
            <a:off x="3090672" y="2093976"/>
            <a:ext cx="310896" cy="329184"/>
          </a:xfrm>
          <a:prstGeom prst="chevron">
            <a:avLst/>
          </a:prstGeom>
          <a:solidFill>
            <a:srgbClr val="2E6CA4"/>
          </a:solidFill>
          <a:ln/>
        </p:spPr>
        <p:txBody>
          <a:bodyPr/>
          <a:lstStyle/>
          <a:p>
            <a:endParaRPr lang="en-US"/>
          </a:p>
        </p:txBody>
      </p:sp>
      <p:sp>
        <p:nvSpPr>
          <p:cNvPr id="12" name="Shape 10"/>
          <p:cNvSpPr/>
          <p:nvPr/>
        </p:nvSpPr>
        <p:spPr>
          <a:xfrm>
            <a:off x="3438144" y="1572768"/>
            <a:ext cx="2505456" cy="1371600"/>
          </a:xfrm>
          <a:prstGeom prst="rect">
            <a:avLst/>
          </a:prstGeom>
          <a:solidFill>
            <a:srgbClr val="0E2541"/>
          </a:solidFill>
          <a:ln/>
          <a:effectLst>
            <a:outerShdw blurRad="114300" dist="38100" dir="5400000" algn="bl" rotWithShape="0">
              <a:srgbClr val="0E2541">
                <a:alpha val="18000"/>
              </a:srgbClr>
            </a:outerShdw>
          </a:effectLst>
        </p:spPr>
        <p:txBody>
          <a:bodyPr/>
          <a:lstStyle/>
          <a:p>
            <a:endParaRPr lang="en-US"/>
          </a:p>
        </p:txBody>
      </p:sp>
      <p:sp>
        <p:nvSpPr>
          <p:cNvPr id="13" name="Shape 11"/>
          <p:cNvSpPr/>
          <p:nvPr/>
        </p:nvSpPr>
        <p:spPr>
          <a:xfrm>
            <a:off x="3438144" y="1572768"/>
            <a:ext cx="2505456" cy="109728"/>
          </a:xfrm>
          <a:prstGeom prst="rect">
            <a:avLst/>
          </a:prstGeom>
          <a:solidFill>
            <a:srgbClr val="C9A24B"/>
          </a:solidFill>
          <a:ln/>
        </p:spPr>
        <p:txBody>
          <a:bodyPr/>
          <a:lstStyle/>
          <a:p>
            <a:endParaRPr lang="en-US"/>
          </a:p>
        </p:txBody>
      </p:sp>
      <p:sp>
        <p:nvSpPr>
          <p:cNvPr id="14" name="Text 12"/>
          <p:cNvSpPr/>
          <p:nvPr/>
        </p:nvSpPr>
        <p:spPr>
          <a:xfrm>
            <a:off x="3621024" y="1755648"/>
            <a:ext cx="2139696" cy="256032"/>
          </a:xfrm>
          <a:prstGeom prst="rect">
            <a:avLst/>
          </a:prstGeom>
          <a:noFill/>
          <a:ln/>
        </p:spPr>
        <p:txBody>
          <a:bodyPr wrap="square" rtlCol="0" anchor="ctr"/>
          <a:lstStyle/>
          <a:p>
            <a:pPr marL="0" indent="0">
              <a:buNone/>
            </a:pPr>
            <a:r>
              <a:rPr lang="en-US" sz="1000" b="1" kern="0" spc="150" dirty="0">
                <a:solidFill>
                  <a:srgbClr val="5B9BD5"/>
                </a:solidFill>
                <a:latin typeface="Segoe UI" pitchFamily="34" charset="0"/>
                <a:ea typeface="Segoe UI" pitchFamily="34" charset="-122"/>
                <a:cs typeface="Segoe UI" pitchFamily="34" charset="-120"/>
              </a:rPr>
              <a:t>STEP 2</a:t>
            </a:r>
            <a:endParaRPr lang="en-US" sz="1000" dirty="0"/>
          </a:p>
        </p:txBody>
      </p:sp>
      <p:sp>
        <p:nvSpPr>
          <p:cNvPr id="15" name="Text 13"/>
          <p:cNvSpPr/>
          <p:nvPr/>
        </p:nvSpPr>
        <p:spPr>
          <a:xfrm>
            <a:off x="3621024" y="1993392"/>
            <a:ext cx="2139696"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Govern</a:t>
            </a:r>
            <a:endParaRPr lang="en-US" sz="1700" dirty="0"/>
          </a:p>
        </p:txBody>
      </p:sp>
      <p:sp>
        <p:nvSpPr>
          <p:cNvPr id="16" name="Text 14"/>
          <p:cNvSpPr/>
          <p:nvPr/>
        </p:nvSpPr>
        <p:spPr>
          <a:xfrm>
            <a:off x="3621024" y="2377440"/>
            <a:ext cx="2139696" cy="502920"/>
          </a:xfrm>
          <a:prstGeom prst="rect">
            <a:avLst/>
          </a:prstGeom>
          <a:noFill/>
          <a:ln/>
        </p:spPr>
        <p:txBody>
          <a:bodyPr wrap="square" rtlCol="0" anchor="t"/>
          <a:lstStyle/>
          <a:p>
            <a:pPr marL="0" indent="0">
              <a:lnSpc>
                <a:spcPct val="108000"/>
              </a:lnSpc>
              <a:buNone/>
            </a:pPr>
            <a:r>
              <a:rPr lang="en-US" sz="1000" dirty="0">
                <a:solidFill>
                  <a:srgbClr val="C5D6E8"/>
                </a:solidFill>
                <a:latin typeface="Segoe UI" pitchFamily="34" charset="0"/>
                <a:ea typeface="Segoe UI" pitchFamily="34" charset="-122"/>
                <a:cs typeface="Segoe UI" pitchFamily="34" charset="-120"/>
              </a:rPr>
              <a:t>Tighten supplier contracts, escalation paths &amp; service levels</a:t>
            </a:r>
            <a:endParaRPr lang="en-US" sz="1000" dirty="0"/>
          </a:p>
        </p:txBody>
      </p:sp>
      <p:sp>
        <p:nvSpPr>
          <p:cNvPr id="17" name="Shape 15"/>
          <p:cNvSpPr/>
          <p:nvPr/>
        </p:nvSpPr>
        <p:spPr>
          <a:xfrm>
            <a:off x="5980176" y="2093976"/>
            <a:ext cx="310896" cy="329184"/>
          </a:xfrm>
          <a:prstGeom prst="chevron">
            <a:avLst/>
          </a:prstGeom>
          <a:solidFill>
            <a:srgbClr val="2E6CA4"/>
          </a:solidFill>
          <a:ln/>
        </p:spPr>
        <p:txBody>
          <a:bodyPr/>
          <a:lstStyle/>
          <a:p>
            <a:endParaRPr lang="en-US"/>
          </a:p>
        </p:txBody>
      </p:sp>
      <p:sp>
        <p:nvSpPr>
          <p:cNvPr id="18" name="Shape 16"/>
          <p:cNvSpPr/>
          <p:nvPr/>
        </p:nvSpPr>
        <p:spPr>
          <a:xfrm>
            <a:off x="6327648" y="1572768"/>
            <a:ext cx="2505456" cy="1371600"/>
          </a:xfrm>
          <a:prstGeom prst="rect">
            <a:avLst/>
          </a:prstGeom>
          <a:solidFill>
            <a:srgbClr val="0E2541"/>
          </a:solidFill>
          <a:ln/>
          <a:effectLst>
            <a:outerShdw blurRad="114300" dist="38100" dir="5400000" algn="bl" rotWithShape="0">
              <a:srgbClr val="0E2541">
                <a:alpha val="18000"/>
              </a:srgbClr>
            </a:outerShdw>
          </a:effectLst>
        </p:spPr>
        <p:txBody>
          <a:bodyPr/>
          <a:lstStyle/>
          <a:p>
            <a:endParaRPr lang="en-US"/>
          </a:p>
        </p:txBody>
      </p:sp>
      <p:sp>
        <p:nvSpPr>
          <p:cNvPr id="19" name="Shape 17"/>
          <p:cNvSpPr/>
          <p:nvPr/>
        </p:nvSpPr>
        <p:spPr>
          <a:xfrm>
            <a:off x="6327648" y="1572768"/>
            <a:ext cx="2505456" cy="109728"/>
          </a:xfrm>
          <a:prstGeom prst="rect">
            <a:avLst/>
          </a:prstGeom>
          <a:solidFill>
            <a:srgbClr val="C9A24B"/>
          </a:solidFill>
          <a:ln/>
        </p:spPr>
        <p:txBody>
          <a:bodyPr/>
          <a:lstStyle/>
          <a:p>
            <a:endParaRPr lang="en-US"/>
          </a:p>
        </p:txBody>
      </p:sp>
      <p:sp>
        <p:nvSpPr>
          <p:cNvPr id="20" name="Text 18"/>
          <p:cNvSpPr/>
          <p:nvPr/>
        </p:nvSpPr>
        <p:spPr>
          <a:xfrm>
            <a:off x="6510528" y="1755648"/>
            <a:ext cx="2139696" cy="256032"/>
          </a:xfrm>
          <a:prstGeom prst="rect">
            <a:avLst/>
          </a:prstGeom>
          <a:noFill/>
          <a:ln/>
        </p:spPr>
        <p:txBody>
          <a:bodyPr wrap="square" rtlCol="0" anchor="ctr"/>
          <a:lstStyle/>
          <a:p>
            <a:pPr marL="0" indent="0">
              <a:buNone/>
            </a:pPr>
            <a:r>
              <a:rPr lang="en-US" sz="1000" b="1" kern="0" spc="150" dirty="0">
                <a:solidFill>
                  <a:srgbClr val="5B9BD5"/>
                </a:solidFill>
                <a:latin typeface="Segoe UI" pitchFamily="34" charset="0"/>
                <a:ea typeface="Segoe UI" pitchFamily="34" charset="-122"/>
                <a:cs typeface="Segoe UI" pitchFamily="34" charset="-120"/>
              </a:rPr>
              <a:t>STEP 3</a:t>
            </a:r>
            <a:endParaRPr lang="en-US" sz="1000" dirty="0"/>
          </a:p>
        </p:txBody>
      </p:sp>
      <p:sp>
        <p:nvSpPr>
          <p:cNvPr id="21" name="Text 19"/>
          <p:cNvSpPr/>
          <p:nvPr/>
        </p:nvSpPr>
        <p:spPr>
          <a:xfrm>
            <a:off x="6510528" y="1993392"/>
            <a:ext cx="2139696"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Buffer</a:t>
            </a:r>
            <a:endParaRPr lang="en-US" sz="1700" dirty="0"/>
          </a:p>
        </p:txBody>
      </p:sp>
      <p:sp>
        <p:nvSpPr>
          <p:cNvPr id="22" name="Text 20"/>
          <p:cNvSpPr/>
          <p:nvPr/>
        </p:nvSpPr>
        <p:spPr>
          <a:xfrm>
            <a:off x="6510528" y="2377440"/>
            <a:ext cx="2139696" cy="502920"/>
          </a:xfrm>
          <a:prstGeom prst="rect">
            <a:avLst/>
          </a:prstGeom>
          <a:noFill/>
          <a:ln/>
        </p:spPr>
        <p:txBody>
          <a:bodyPr wrap="square" rtlCol="0" anchor="t"/>
          <a:lstStyle/>
          <a:p>
            <a:pPr marL="0" indent="0">
              <a:lnSpc>
                <a:spcPct val="108000"/>
              </a:lnSpc>
              <a:buNone/>
            </a:pPr>
            <a:r>
              <a:rPr lang="en-US" sz="1000" dirty="0">
                <a:solidFill>
                  <a:srgbClr val="C5D6E8"/>
                </a:solidFill>
                <a:latin typeface="Segoe UI" pitchFamily="34" charset="0"/>
                <a:ea typeface="Segoe UI" pitchFamily="34" charset="-122"/>
                <a:cs typeface="Segoe UI" pitchFamily="34" charset="-120"/>
              </a:rPr>
              <a:t>Reassess safety stock &amp; reorder points; expedite selectively</a:t>
            </a:r>
            <a:endParaRPr lang="en-US" sz="1000" dirty="0"/>
          </a:p>
        </p:txBody>
      </p:sp>
      <p:sp>
        <p:nvSpPr>
          <p:cNvPr id="23" name="Shape 21"/>
          <p:cNvSpPr/>
          <p:nvPr/>
        </p:nvSpPr>
        <p:spPr>
          <a:xfrm>
            <a:off x="8869680" y="2093976"/>
            <a:ext cx="310896" cy="329184"/>
          </a:xfrm>
          <a:prstGeom prst="chevron">
            <a:avLst/>
          </a:prstGeom>
          <a:solidFill>
            <a:srgbClr val="2E6CA4"/>
          </a:solidFill>
          <a:ln/>
        </p:spPr>
        <p:txBody>
          <a:bodyPr/>
          <a:lstStyle/>
          <a:p>
            <a:endParaRPr lang="en-US"/>
          </a:p>
        </p:txBody>
      </p:sp>
      <p:sp>
        <p:nvSpPr>
          <p:cNvPr id="24" name="Shape 22"/>
          <p:cNvSpPr/>
          <p:nvPr/>
        </p:nvSpPr>
        <p:spPr>
          <a:xfrm>
            <a:off x="9217152" y="1572768"/>
            <a:ext cx="2505456" cy="1371600"/>
          </a:xfrm>
          <a:prstGeom prst="rect">
            <a:avLst/>
          </a:prstGeom>
          <a:solidFill>
            <a:srgbClr val="0E2541"/>
          </a:solidFill>
          <a:ln/>
          <a:effectLst>
            <a:outerShdw blurRad="114300" dist="38100" dir="5400000" algn="bl" rotWithShape="0">
              <a:srgbClr val="0E2541">
                <a:alpha val="18000"/>
              </a:srgbClr>
            </a:outerShdw>
          </a:effectLst>
        </p:spPr>
        <p:txBody>
          <a:bodyPr/>
          <a:lstStyle/>
          <a:p>
            <a:endParaRPr lang="en-US"/>
          </a:p>
        </p:txBody>
      </p:sp>
      <p:sp>
        <p:nvSpPr>
          <p:cNvPr id="25" name="Shape 23"/>
          <p:cNvSpPr/>
          <p:nvPr/>
        </p:nvSpPr>
        <p:spPr>
          <a:xfrm>
            <a:off x="9217152" y="1572768"/>
            <a:ext cx="2505456" cy="109728"/>
          </a:xfrm>
          <a:prstGeom prst="rect">
            <a:avLst/>
          </a:prstGeom>
          <a:solidFill>
            <a:srgbClr val="C9A24B"/>
          </a:solidFill>
          <a:ln/>
        </p:spPr>
        <p:txBody>
          <a:bodyPr/>
          <a:lstStyle/>
          <a:p>
            <a:endParaRPr lang="en-US"/>
          </a:p>
        </p:txBody>
      </p:sp>
      <p:sp>
        <p:nvSpPr>
          <p:cNvPr id="26" name="Text 24"/>
          <p:cNvSpPr/>
          <p:nvPr/>
        </p:nvSpPr>
        <p:spPr>
          <a:xfrm>
            <a:off x="9400032" y="1755648"/>
            <a:ext cx="2139696" cy="256032"/>
          </a:xfrm>
          <a:prstGeom prst="rect">
            <a:avLst/>
          </a:prstGeom>
          <a:noFill/>
          <a:ln/>
        </p:spPr>
        <p:txBody>
          <a:bodyPr wrap="square" rtlCol="0" anchor="ctr"/>
          <a:lstStyle/>
          <a:p>
            <a:pPr marL="0" indent="0">
              <a:buNone/>
            </a:pPr>
            <a:r>
              <a:rPr lang="en-US" sz="1000" b="1" kern="0" spc="150" dirty="0">
                <a:solidFill>
                  <a:srgbClr val="5B9BD5"/>
                </a:solidFill>
                <a:latin typeface="Segoe UI" pitchFamily="34" charset="0"/>
                <a:ea typeface="Segoe UI" pitchFamily="34" charset="-122"/>
                <a:cs typeface="Segoe UI" pitchFamily="34" charset="-120"/>
              </a:rPr>
              <a:t>STEP 4</a:t>
            </a:r>
            <a:endParaRPr lang="en-US" sz="1000" dirty="0"/>
          </a:p>
        </p:txBody>
      </p:sp>
      <p:sp>
        <p:nvSpPr>
          <p:cNvPr id="27" name="Text 25"/>
          <p:cNvSpPr/>
          <p:nvPr/>
        </p:nvSpPr>
        <p:spPr>
          <a:xfrm>
            <a:off x="9400032" y="1993392"/>
            <a:ext cx="2139696"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Document</a:t>
            </a:r>
            <a:endParaRPr lang="en-US" sz="1700" dirty="0"/>
          </a:p>
        </p:txBody>
      </p:sp>
      <p:sp>
        <p:nvSpPr>
          <p:cNvPr id="28" name="Text 26"/>
          <p:cNvSpPr/>
          <p:nvPr/>
        </p:nvSpPr>
        <p:spPr>
          <a:xfrm>
            <a:off x="9400032" y="2377440"/>
            <a:ext cx="2139696" cy="502920"/>
          </a:xfrm>
          <a:prstGeom prst="rect">
            <a:avLst/>
          </a:prstGeom>
          <a:noFill/>
          <a:ln/>
        </p:spPr>
        <p:txBody>
          <a:bodyPr wrap="square" rtlCol="0" anchor="t"/>
          <a:lstStyle/>
          <a:p>
            <a:pPr marL="0" indent="0">
              <a:lnSpc>
                <a:spcPct val="108000"/>
              </a:lnSpc>
              <a:buNone/>
            </a:pPr>
            <a:r>
              <a:rPr lang="en-US" sz="1000" dirty="0">
                <a:solidFill>
                  <a:srgbClr val="C5D6E8"/>
                </a:solidFill>
                <a:latin typeface="Segoe UI" pitchFamily="34" charset="0"/>
                <a:ea typeface="Segoe UI" pitchFamily="34" charset="-122"/>
                <a:cs typeface="Segoe UI" pitchFamily="34" charset="-120"/>
              </a:rPr>
              <a:t>Keep exception &amp; sourcing-change records audit-ready</a:t>
            </a:r>
            <a:endParaRPr lang="en-US" sz="1000" dirty="0"/>
          </a:p>
        </p:txBody>
      </p:sp>
      <p:sp>
        <p:nvSpPr>
          <p:cNvPr id="29" name="Text 27"/>
          <p:cNvSpPr/>
          <p:nvPr/>
        </p:nvSpPr>
        <p:spPr>
          <a:xfrm>
            <a:off x="548640" y="3246120"/>
            <a:ext cx="7315200" cy="274320"/>
          </a:xfrm>
          <a:prstGeom prst="rect">
            <a:avLst/>
          </a:prstGeom>
          <a:noFill/>
          <a:ln/>
        </p:spPr>
        <p:txBody>
          <a:bodyPr wrap="square" rtlCol="0" anchor="ctr"/>
          <a:lstStyle/>
          <a:p>
            <a:pPr marL="0" indent="0">
              <a:buNone/>
            </a:pPr>
            <a:r>
              <a:rPr lang="en-US" sz="1200" b="1" kern="0" spc="150" dirty="0">
                <a:solidFill>
                  <a:srgbClr val="2E6CA4"/>
                </a:solidFill>
                <a:latin typeface="Segoe UI" pitchFamily="34" charset="0"/>
                <a:ea typeface="Segoe UI" pitchFamily="34" charset="-122"/>
                <a:cs typeface="Segoe UI" pitchFamily="34" charset="-120"/>
              </a:rPr>
              <a:t>COMPONENT-SPECIFIC ACTIONS</a:t>
            </a:r>
            <a:endParaRPr lang="en-US" sz="1200" dirty="0"/>
          </a:p>
        </p:txBody>
      </p:sp>
      <p:sp>
        <p:nvSpPr>
          <p:cNvPr id="30" name="Shape 28"/>
          <p:cNvSpPr/>
          <p:nvPr/>
        </p:nvSpPr>
        <p:spPr>
          <a:xfrm>
            <a:off x="548640" y="3611880"/>
            <a:ext cx="3602736" cy="1993392"/>
          </a:xfrm>
          <a:prstGeom prst="rect">
            <a:avLst/>
          </a:prstGeom>
          <a:solidFill>
            <a:srgbClr val="FFFFFF"/>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31" name="Shape 29"/>
          <p:cNvSpPr/>
          <p:nvPr/>
        </p:nvSpPr>
        <p:spPr>
          <a:xfrm>
            <a:off x="548640" y="3611880"/>
            <a:ext cx="3602736" cy="457200"/>
          </a:xfrm>
          <a:prstGeom prst="rect">
            <a:avLst/>
          </a:prstGeom>
          <a:solidFill>
            <a:srgbClr val="1F4E79"/>
          </a:solidFill>
          <a:ln/>
        </p:spPr>
        <p:txBody>
          <a:bodyPr/>
          <a:lstStyle/>
          <a:p>
            <a:endParaRPr lang="en-US"/>
          </a:p>
        </p:txBody>
      </p:sp>
      <p:sp>
        <p:nvSpPr>
          <p:cNvPr id="32" name="Text 30"/>
          <p:cNvSpPr/>
          <p:nvPr/>
        </p:nvSpPr>
        <p:spPr>
          <a:xfrm>
            <a:off x="749808" y="3611880"/>
            <a:ext cx="3236976" cy="457200"/>
          </a:xfrm>
          <a:prstGeom prst="rect">
            <a:avLst/>
          </a:prstGeom>
          <a:noFill/>
          <a:ln/>
        </p:spPr>
        <p:txBody>
          <a:bodyPr wrap="square" rtlCol="0" anchor="ctr"/>
          <a:lstStyle/>
          <a:p>
            <a:pPr marL="0" indent="0">
              <a:buNone/>
            </a:pPr>
            <a:r>
              <a:rPr lang="en-US" sz="1500" b="1" dirty="0">
                <a:solidFill>
                  <a:srgbClr val="FFFFFF"/>
                </a:solidFill>
                <a:latin typeface="Segoe UI" pitchFamily="34" charset="0"/>
                <a:ea typeface="Segoe UI" pitchFamily="34" charset="-122"/>
                <a:cs typeface="Segoe UI" pitchFamily="34" charset="-120"/>
              </a:rPr>
              <a:t>BIND567</a:t>
            </a:r>
            <a:endParaRPr lang="en-US" sz="1500" dirty="0"/>
          </a:p>
        </p:txBody>
      </p:sp>
      <p:sp>
        <p:nvSpPr>
          <p:cNvPr id="33" name="Text 31"/>
          <p:cNvSpPr/>
          <p:nvPr/>
        </p:nvSpPr>
        <p:spPr>
          <a:xfrm>
            <a:off x="768096" y="4197096"/>
            <a:ext cx="3163824" cy="1325880"/>
          </a:xfrm>
          <a:prstGeom prst="rect">
            <a:avLst/>
          </a:prstGeom>
          <a:noFill/>
          <a:ln/>
        </p:spPr>
        <p:txBody>
          <a:bodyPr wrap="square" rtlCol="0" anchor="t"/>
          <a:lstStyle/>
          <a:p>
            <a:pPr marL="0" indent="0">
              <a:lnSpc>
                <a:spcPct val="118000"/>
              </a:lnSpc>
              <a:buNone/>
            </a:pPr>
            <a:r>
              <a:rPr lang="en-US" sz="1150" dirty="0">
                <a:solidFill>
                  <a:srgbClr val="1C2B3A"/>
                </a:solidFill>
                <a:latin typeface="Segoe UI" pitchFamily="34" charset="0"/>
                <a:ea typeface="Segoe UI" pitchFamily="34" charset="-122"/>
                <a:cs typeface="Segoe UI" pitchFamily="34" charset="-120"/>
              </a:rPr>
              <a:t>Build buffer inventory and pursue earlier ordering, alternate transport, or staged deliveries from EcoSupply. Emphasize resiliency, not supplier replacement.</a:t>
            </a:r>
            <a:endParaRPr lang="en-US" sz="1150" dirty="0"/>
          </a:p>
        </p:txBody>
      </p:sp>
      <p:sp>
        <p:nvSpPr>
          <p:cNvPr id="34" name="Shape 32"/>
          <p:cNvSpPr/>
          <p:nvPr/>
        </p:nvSpPr>
        <p:spPr>
          <a:xfrm>
            <a:off x="4407408" y="3611880"/>
            <a:ext cx="3602736" cy="1993392"/>
          </a:xfrm>
          <a:prstGeom prst="rect">
            <a:avLst/>
          </a:prstGeom>
          <a:solidFill>
            <a:srgbClr val="FFFFFF"/>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35" name="Shape 33"/>
          <p:cNvSpPr/>
          <p:nvPr/>
        </p:nvSpPr>
        <p:spPr>
          <a:xfrm>
            <a:off x="4407408" y="3611880"/>
            <a:ext cx="3602736" cy="457200"/>
          </a:xfrm>
          <a:prstGeom prst="rect">
            <a:avLst/>
          </a:prstGeom>
          <a:solidFill>
            <a:srgbClr val="2E6CA4"/>
          </a:solidFill>
          <a:ln/>
        </p:spPr>
        <p:txBody>
          <a:bodyPr/>
          <a:lstStyle/>
          <a:p>
            <a:endParaRPr lang="en-US"/>
          </a:p>
        </p:txBody>
      </p:sp>
      <p:sp>
        <p:nvSpPr>
          <p:cNvPr id="36" name="Text 34"/>
          <p:cNvSpPr/>
          <p:nvPr/>
        </p:nvSpPr>
        <p:spPr>
          <a:xfrm>
            <a:off x="4608576" y="3611880"/>
            <a:ext cx="3236976" cy="457200"/>
          </a:xfrm>
          <a:prstGeom prst="rect">
            <a:avLst/>
          </a:prstGeom>
          <a:noFill/>
          <a:ln/>
        </p:spPr>
        <p:txBody>
          <a:bodyPr wrap="square" rtlCol="0" anchor="ctr"/>
          <a:lstStyle/>
          <a:p>
            <a:pPr marL="0" indent="0">
              <a:buNone/>
            </a:pPr>
            <a:r>
              <a:rPr lang="en-US" sz="1500" b="1" dirty="0">
                <a:solidFill>
                  <a:srgbClr val="FFFFFF"/>
                </a:solidFill>
                <a:latin typeface="Segoe UI" pitchFamily="34" charset="0"/>
                <a:ea typeface="Segoe UI" pitchFamily="34" charset="-122"/>
                <a:cs typeface="Segoe UI" pitchFamily="34" charset="-120"/>
              </a:rPr>
              <a:t>COMP042</a:t>
            </a:r>
            <a:endParaRPr lang="en-US" sz="1500" dirty="0"/>
          </a:p>
        </p:txBody>
      </p:sp>
      <p:sp>
        <p:nvSpPr>
          <p:cNvPr id="37" name="Text 35"/>
          <p:cNvSpPr/>
          <p:nvPr/>
        </p:nvSpPr>
        <p:spPr>
          <a:xfrm>
            <a:off x="4626864" y="4197096"/>
            <a:ext cx="3163824" cy="1325880"/>
          </a:xfrm>
          <a:prstGeom prst="rect">
            <a:avLst/>
          </a:prstGeom>
          <a:noFill/>
          <a:ln/>
        </p:spPr>
        <p:txBody>
          <a:bodyPr wrap="square" rtlCol="0" anchor="t"/>
          <a:lstStyle/>
          <a:p>
            <a:pPr marL="0" indent="0">
              <a:lnSpc>
                <a:spcPct val="118000"/>
              </a:lnSpc>
              <a:buNone/>
            </a:pPr>
            <a:r>
              <a:rPr lang="en-US" sz="1150" dirty="0">
                <a:solidFill>
                  <a:srgbClr val="1C2B3A"/>
                </a:solidFill>
                <a:latin typeface="Segoe UI" pitchFamily="34" charset="0"/>
                <a:ea typeface="Segoe UI" pitchFamily="34" charset="-122"/>
                <a:cs typeface="Segoe UI" pitchFamily="34" charset="-120"/>
              </a:rPr>
              <a:t>Work with PrimeLogistics on shipping acceleration and tighter order planning. Clear open backorders, align replenishment to usage, add temporary safety stock.</a:t>
            </a:r>
            <a:endParaRPr lang="en-US" sz="1150" dirty="0"/>
          </a:p>
        </p:txBody>
      </p:sp>
      <p:sp>
        <p:nvSpPr>
          <p:cNvPr id="38" name="Shape 36"/>
          <p:cNvSpPr/>
          <p:nvPr/>
        </p:nvSpPr>
        <p:spPr>
          <a:xfrm>
            <a:off x="8266176" y="3611880"/>
            <a:ext cx="3602736" cy="1993392"/>
          </a:xfrm>
          <a:prstGeom prst="rect">
            <a:avLst/>
          </a:prstGeom>
          <a:solidFill>
            <a:srgbClr val="FFFFFF"/>
          </a:solidFill>
          <a:ln w="12700">
            <a:solidFill>
              <a:srgbClr val="D5E0EC"/>
            </a:solidFill>
            <a:prstDash val="solid"/>
          </a:ln>
          <a:effectLst>
            <a:outerShdw blurRad="114300" dist="38100" dir="5400000" algn="bl" rotWithShape="0">
              <a:srgbClr val="0E2541">
                <a:alpha val="18000"/>
              </a:srgbClr>
            </a:outerShdw>
          </a:effectLst>
        </p:spPr>
        <p:txBody>
          <a:bodyPr/>
          <a:lstStyle/>
          <a:p>
            <a:endParaRPr lang="en-US"/>
          </a:p>
        </p:txBody>
      </p:sp>
      <p:sp>
        <p:nvSpPr>
          <p:cNvPr id="39" name="Shape 37"/>
          <p:cNvSpPr/>
          <p:nvPr/>
        </p:nvSpPr>
        <p:spPr>
          <a:xfrm>
            <a:off x="8266176" y="3611880"/>
            <a:ext cx="3602736" cy="457200"/>
          </a:xfrm>
          <a:prstGeom prst="rect">
            <a:avLst/>
          </a:prstGeom>
          <a:solidFill>
            <a:srgbClr val="5B9BD5"/>
          </a:solidFill>
          <a:ln/>
        </p:spPr>
        <p:txBody>
          <a:bodyPr/>
          <a:lstStyle/>
          <a:p>
            <a:endParaRPr lang="en-US"/>
          </a:p>
        </p:txBody>
      </p:sp>
      <p:sp>
        <p:nvSpPr>
          <p:cNvPr id="40" name="Text 38"/>
          <p:cNvSpPr/>
          <p:nvPr/>
        </p:nvSpPr>
        <p:spPr>
          <a:xfrm>
            <a:off x="8467344" y="3611880"/>
            <a:ext cx="3236976" cy="457200"/>
          </a:xfrm>
          <a:prstGeom prst="rect">
            <a:avLst/>
          </a:prstGeom>
          <a:noFill/>
          <a:ln/>
        </p:spPr>
        <p:txBody>
          <a:bodyPr wrap="square" rtlCol="0" anchor="ctr"/>
          <a:lstStyle/>
          <a:p>
            <a:pPr marL="0" indent="0">
              <a:buNone/>
            </a:pPr>
            <a:r>
              <a:rPr lang="en-US" sz="1500" b="1" dirty="0">
                <a:solidFill>
                  <a:srgbClr val="FFFFFF"/>
                </a:solidFill>
                <a:latin typeface="Segoe UI" pitchFamily="34" charset="0"/>
                <a:ea typeface="Segoe UI" pitchFamily="34" charset="-122"/>
                <a:cs typeface="Segoe UI" pitchFamily="34" charset="-120"/>
              </a:rPr>
              <a:t>COMP043</a:t>
            </a:r>
            <a:endParaRPr lang="en-US" sz="1500" dirty="0"/>
          </a:p>
        </p:txBody>
      </p:sp>
      <p:sp>
        <p:nvSpPr>
          <p:cNvPr id="41" name="Text 39"/>
          <p:cNvSpPr/>
          <p:nvPr/>
        </p:nvSpPr>
        <p:spPr>
          <a:xfrm>
            <a:off x="8485632" y="4197096"/>
            <a:ext cx="3163824" cy="1325880"/>
          </a:xfrm>
          <a:prstGeom prst="rect">
            <a:avLst/>
          </a:prstGeom>
          <a:noFill/>
          <a:ln/>
        </p:spPr>
        <p:txBody>
          <a:bodyPr wrap="square" rtlCol="0" anchor="t"/>
          <a:lstStyle/>
          <a:p>
            <a:pPr marL="0" indent="0">
              <a:lnSpc>
                <a:spcPct val="118000"/>
              </a:lnSpc>
              <a:buNone/>
            </a:pPr>
            <a:r>
              <a:rPr lang="en-US" sz="1150" dirty="0">
                <a:solidFill>
                  <a:srgbClr val="1C2B3A"/>
                </a:solidFill>
                <a:latin typeface="Segoe UI" pitchFamily="34" charset="0"/>
                <a:ea typeface="Segoe UI" pitchFamily="34" charset="-122"/>
                <a:cs typeface="Segoe UI" pitchFamily="34" charset="-120"/>
              </a:rPr>
              <a:t>Prioritize quality containment and forecast improvement. Increase incoming inspection, engage NextGen on defect reduction, refine demand-planning assumptions.</a:t>
            </a:r>
            <a:endParaRPr lang="en-US" sz="1150" dirty="0"/>
          </a:p>
        </p:txBody>
      </p:sp>
      <p:sp>
        <p:nvSpPr>
          <p:cNvPr id="42" name="Shape 40"/>
          <p:cNvSpPr/>
          <p:nvPr/>
        </p:nvSpPr>
        <p:spPr>
          <a:xfrm>
            <a:off x="548640" y="5806440"/>
            <a:ext cx="11091672" cy="502920"/>
          </a:xfrm>
          <a:prstGeom prst="rect">
            <a:avLst/>
          </a:prstGeom>
          <a:solidFill>
            <a:srgbClr val="EDF3F9"/>
          </a:solidFill>
          <a:ln/>
        </p:spPr>
        <p:txBody>
          <a:bodyPr/>
          <a:lstStyle/>
          <a:p>
            <a:endParaRPr lang="en-US"/>
          </a:p>
        </p:txBody>
      </p:sp>
      <p:sp>
        <p:nvSpPr>
          <p:cNvPr id="43" name="Text 41"/>
          <p:cNvSpPr/>
          <p:nvPr/>
        </p:nvSpPr>
        <p:spPr>
          <a:xfrm>
            <a:off x="777240" y="5806440"/>
            <a:ext cx="10698480" cy="502920"/>
          </a:xfrm>
          <a:prstGeom prst="rect">
            <a:avLst/>
          </a:prstGeom>
          <a:noFill/>
          <a:ln/>
        </p:spPr>
        <p:txBody>
          <a:bodyPr wrap="square" rtlCol="0" anchor="ctr"/>
          <a:lstStyle/>
          <a:p>
            <a:pPr marL="0" indent="0">
              <a:lnSpc>
                <a:spcPct val="100000"/>
              </a:lnSpc>
              <a:buNone/>
            </a:pPr>
            <a:r>
              <a:rPr lang="en-US" sz="1200" b="1" dirty="0">
                <a:solidFill>
                  <a:srgbClr val="0E2541"/>
                </a:solidFill>
                <a:latin typeface="Segoe UI" pitchFamily="34" charset="0"/>
                <a:ea typeface="Segoe UI" pitchFamily="34" charset="-122"/>
                <a:cs typeface="Segoe UI" pitchFamily="34" charset="-120"/>
              </a:rPr>
              <a:t>Decision requested:  </a:t>
            </a:r>
            <a:r>
              <a:rPr lang="en-US" sz="1200" dirty="0">
                <a:solidFill>
                  <a:srgbClr val="1C2B3A"/>
                </a:solidFill>
                <a:latin typeface="Segoe UI" pitchFamily="34" charset="0"/>
                <a:ea typeface="Segoe UI" pitchFamily="34" charset="-122"/>
                <a:cs typeface="Segoe UI" pitchFamily="34" charset="-120"/>
              </a:rPr>
              <a:t>endorse the weekly supply-review cadence and approve component-specific buffer, governance, and quality actions.</a:t>
            </a:r>
            <a:endParaRPr lang="en-US" sz="1200" dirty="0"/>
          </a:p>
        </p:txBody>
      </p:sp>
      <p:sp>
        <p:nvSpPr>
          <p:cNvPr id="44" name="Shape 42"/>
          <p:cNvSpPr/>
          <p:nvPr/>
        </p:nvSpPr>
        <p:spPr>
          <a:xfrm>
            <a:off x="548640" y="6446520"/>
            <a:ext cx="11091672" cy="0"/>
          </a:xfrm>
          <a:prstGeom prst="line">
            <a:avLst/>
          </a:prstGeom>
          <a:noFill/>
          <a:ln w="12700">
            <a:solidFill>
              <a:srgbClr val="D5E0EC"/>
            </a:solidFill>
            <a:prstDash val="solid"/>
          </a:ln>
        </p:spPr>
        <p:txBody>
          <a:bodyPr/>
          <a:lstStyle/>
          <a:p>
            <a:endParaRPr lang="en-US"/>
          </a:p>
        </p:txBody>
      </p:sp>
      <p:sp>
        <p:nvSpPr>
          <p:cNvPr id="45" name="Text 43"/>
          <p:cNvSpPr/>
          <p:nvPr/>
        </p:nvSpPr>
        <p:spPr>
          <a:xfrm>
            <a:off x="548640" y="6473952"/>
            <a:ext cx="6400800" cy="274320"/>
          </a:xfrm>
          <a:prstGeom prst="rect">
            <a:avLst/>
          </a:prstGeom>
          <a:noFill/>
          <a:ln/>
        </p:spPr>
        <p:txBody>
          <a:bodyPr wrap="square" rtlCol="0" anchor="ctr"/>
          <a:lstStyle/>
          <a:p>
            <a:pPr marL="0" indent="0">
              <a:buNone/>
            </a:pPr>
            <a:r>
              <a:rPr lang="en-US" sz="850" dirty="0">
                <a:solidFill>
                  <a:srgbClr val="5B6B7B"/>
                </a:solidFill>
                <a:latin typeface="Segoe UI" pitchFamily="34" charset="0"/>
                <a:ea typeface="Segoe UI" pitchFamily="34" charset="-122"/>
                <a:cs typeface="Segoe UI" pitchFamily="34" charset="-120"/>
              </a:rPr>
              <a:t>Supply Chain Issue Compliance Report</a:t>
            </a:r>
            <a:endParaRPr lang="en-US" sz="850" dirty="0"/>
          </a:p>
        </p:txBody>
      </p:sp>
      <p:sp>
        <p:nvSpPr>
          <p:cNvPr id="46" name="Text 44"/>
          <p:cNvSpPr/>
          <p:nvPr/>
        </p:nvSpPr>
        <p:spPr>
          <a:xfrm>
            <a:off x="5486400" y="6473952"/>
            <a:ext cx="475488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Confidential — Executive Use Only</a:t>
            </a:r>
            <a:endParaRPr lang="en-US" sz="850" dirty="0"/>
          </a:p>
        </p:txBody>
      </p:sp>
      <p:sp>
        <p:nvSpPr>
          <p:cNvPr id="47" name="Text 45"/>
          <p:cNvSpPr/>
          <p:nvPr/>
        </p:nvSpPr>
        <p:spPr>
          <a:xfrm>
            <a:off x="11109960" y="6473952"/>
            <a:ext cx="548640" cy="274320"/>
          </a:xfrm>
          <a:prstGeom prst="rect">
            <a:avLst/>
          </a:prstGeom>
          <a:noFill/>
          <a:ln/>
        </p:spPr>
        <p:txBody>
          <a:bodyPr wrap="square" rtlCol="0" anchor="ctr"/>
          <a:lstStyle/>
          <a:p>
            <a:pPr marL="0" indent="0" algn="r">
              <a:buNone/>
            </a:pPr>
            <a:r>
              <a:rPr lang="en-US" sz="850" dirty="0">
                <a:solidFill>
                  <a:srgbClr val="5B6B7B"/>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a48ea3-8c75-4d36-b64f-70604b11fd22}" enabled="1" method="Standard" siteId="{3ac94b33-9135-4821-9502-eafda6592a35}" contentBits="0" removed="0"/>
</clbl:labelList>
</file>

<file path=docProps/app.xml><?xml version="1.0" encoding="utf-8"?>
<Properties xmlns="http://schemas.openxmlformats.org/officeDocument/2006/extended-properties" xmlns:vt="http://schemas.openxmlformats.org/officeDocument/2006/docPropsVTypes">
  <TotalTime>11</TotalTime>
  <Words>2052</Words>
  <Application>Microsoft Office PowerPoint</Application>
  <PresentationFormat>Widescreen</PresentationFormat>
  <Paragraphs>167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JnJ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Narayanan, Arvinth [GTSUS]</dc:creator>
  <cp:lastModifiedBy>Narayanan, Arvinth [GTSUS]</cp:lastModifiedBy>
  <cp:revision>1</cp:revision>
  <dcterms:created xsi:type="dcterms:W3CDTF">2026-06-15T02:49:33Z</dcterms:created>
  <dcterms:modified xsi:type="dcterms:W3CDTF">2026-06-15T03:01:31Z</dcterms:modified>
</cp:coreProperties>
</file>
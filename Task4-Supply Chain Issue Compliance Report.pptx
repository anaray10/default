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8" d="100"/>
          <a:sy n="98" d="100"/>
        </p:scale>
        <p:origin x="1044"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Delivery (days)</c:v>
                </c:pt>
              </c:strCache>
            </c:strRef>
          </c:tx>
          <c:spPr>
            <a:solidFill>
              <a:srgbClr val="E0922F"/>
            </a:solidFill>
            <a:effectLst/>
          </c:spPr>
          <c:invertIfNegative val="0"/>
          <c:dPt>
            <c:idx val="0"/>
            <c:invertIfNegative val="0"/>
            <c:bubble3D val="0"/>
            <c:extLst>
              <c:ext xmlns:c16="http://schemas.microsoft.com/office/drawing/2014/chart" uri="{C3380CC4-5D6E-409C-BE32-E72D297353CC}">
                <c16:uniqueId val="{00000001-10EF-44AA-BDE4-18D1A4B20E9D}"/>
              </c:ext>
            </c:extLst>
          </c:dPt>
          <c:dPt>
            <c:idx val="1"/>
            <c:invertIfNegative val="0"/>
            <c:bubble3D val="0"/>
            <c:spPr>
              <a:solidFill>
                <a:srgbClr val="3C424C"/>
              </a:solidFill>
              <a:effectLst/>
            </c:spPr>
            <c:extLst>
              <c:ext xmlns:c16="http://schemas.microsoft.com/office/drawing/2014/chart" uri="{C3380CC4-5D6E-409C-BE32-E72D297353CC}">
                <c16:uniqueId val="{00000003-10EF-44AA-BDE4-18D1A4B20E9D}"/>
              </c:ext>
            </c:extLst>
          </c:dPt>
          <c:dPt>
            <c:idx val="2"/>
            <c:invertIfNegative val="0"/>
            <c:bubble3D val="0"/>
            <c:spPr>
              <a:solidFill>
                <a:srgbClr val="262A31"/>
              </a:solidFill>
              <a:effectLst/>
            </c:spPr>
            <c:extLst>
              <c:ext xmlns:c16="http://schemas.microsoft.com/office/drawing/2014/chart" uri="{C3380CC4-5D6E-409C-BE32-E72D297353CC}">
                <c16:uniqueId val="{00000005-10EF-44AA-BDE4-18D1A4B20E9D}"/>
              </c:ext>
            </c:extLst>
          </c:dPt>
          <c:dLbls>
            <c:numFmt formatCode="0.0&quot; d&quot;" sourceLinked="0"/>
            <c:spPr>
              <a:noFill/>
              <a:ln>
                <a:noFill/>
              </a:ln>
              <a:effectLst/>
            </c:spPr>
            <c:txPr>
              <a:bodyPr/>
              <a:lstStyle/>
              <a:p>
                <a:pPr>
                  <a:defRPr sz="1200" b="1" i="0" u="none" strike="noStrike">
                    <a:solidFill>
                      <a:srgbClr val="262A31"/>
                    </a:solidFill>
                    <a:latin typeface="Trebuchet M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Medium risk</c:v>
                </c:pt>
                <c:pt idx="1">
                  <c:v>Low risk</c:v>
                </c:pt>
                <c:pt idx="2">
                  <c:v>High risk</c:v>
                </c:pt>
              </c:strCache>
            </c:strRef>
          </c:cat>
          <c:val>
            <c:numRef>
              <c:f>Sheet1!$B$2:$B$4</c:f>
              <c:numCache>
                <c:formatCode>General</c:formatCode>
                <c:ptCount val="3"/>
                <c:pt idx="0">
                  <c:v>15.1</c:v>
                </c:pt>
                <c:pt idx="1">
                  <c:v>12.9</c:v>
                </c:pt>
                <c:pt idx="2">
                  <c:v>11.3</c:v>
                </c:pt>
              </c:numCache>
            </c:numRef>
          </c:val>
          <c:extLst>
            <c:ext xmlns:c16="http://schemas.microsoft.com/office/drawing/2014/chart" uri="{C3380CC4-5D6E-409C-BE32-E72D297353CC}">
              <c16:uniqueId val="{00000006-10EF-44AA-BDE4-18D1A4B20E9D}"/>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C424C"/>
                </a:solidFill>
                <a:latin typeface="Calibri"/>
              </a:defRPr>
            </a:pPr>
            <a:endParaRPr lang="en-US"/>
          </a:p>
        </c:txPr>
        <c:crossAx val="2094734552"/>
        <c:crosses val="autoZero"/>
        <c:auto val="1"/>
        <c:lblAlgn val="ctr"/>
        <c:lblOffset val="100"/>
        <c:noMultiLvlLbl val="1"/>
      </c:catAx>
      <c:valAx>
        <c:axId val="2094734552"/>
        <c:scaling>
          <c:orientation val="minMax"/>
          <c:max val="18"/>
          <c:min val="0"/>
        </c:scaling>
        <c:delete val="0"/>
        <c:axPos val="l"/>
        <c:majorGridlines>
          <c:spPr>
            <a:ln w="6350" cap="flat">
              <a:solidFill>
                <a:srgbClr val="D8D4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099"/>
                </a:solidFill>
                <a:latin typeface="Calibri"/>
              </a:defRPr>
            </a:pPr>
            <a:endParaRPr lang="en-US"/>
          </a:p>
        </c:txPr>
        <c:crossAx val="2094734554"/>
        <c:crosses val="autoZero"/>
        <c:crossBetween val="between"/>
        <c:majorUnit val="3"/>
      </c:valAx>
      <c:spPr>
        <a:solidFill>
          <a:srgbClr val="F4F2ED"/>
        </a:solidFill>
        <a:ln>
          <a:noFill/>
        </a:ln>
        <a:effectLst/>
      </c:spPr>
    </c:plotArea>
    <c:plotVisOnly val="1"/>
    <c:dispBlanksAs val="span"/>
    <c:showDLblsOverMax val="1"/>
  </c:chart>
  <c:spPr>
    <a:solidFill>
      <a:srgbClr val="F4F2ED"/>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reports supply chain compliance findings drawn from the Supply Chain Issue Analysis Report and the underlying 50-record dataset. The focus is on component-level delays, supplier performance, and the regulatory risk these create in a compliance-sensitive manufacturing environment. Audience is the compliance and quality team. We will cover the executive summary, delivery timelines by risk level, the components of greatest concern, supplier performance, compliance and root-cause analysis, and recommended mitigation actions.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takeaways: medium-risk components carry the longest average delivery timeline at 15.1 days, which is counter-intuitive and suggests these parts are not getting the same escalation urgency as high-risk items. NextGen Pharma is the strongest supplier operationally, combining the shortest average delivery timeline of 10.7 days with the highest on-time delivery rate of 91.5%. Two suppliers need closer review for different reasons: EcoSupply for the lowest on-time delivery despite strong reliability, and PrimeLogistics for the highest defect rate. Because each supplier presents a distinct failure mode, mitigation must be both cross-cutting and component-specific.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compares the average delivery timeline across risk levels, calculated from the Delivery Timeline field grouped by Risk Level in the dataset. Medium-risk components average 15.1 days, low-risk 12.9 days, and high-risk only 11.3 days. The concern is the inversion: medium-risk parts are actually the slowest, taking about 33% longer than high-risk parts. That suggests medium-risk items are not being escalated with the same urgency, even though they support meaningful and sometimes compliance-relevant production. This is a prioritisation gap that supply planning should address.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components carry elevated supply-chain concern. BIND567 from EcoSupply has a confirmed delay close to critical production deadlines and reflects a recurring delay pattern, though its on-time rate within the delayed subset is actually the strongest at 99%. CARB123 from RawMatPlus shows inconsistent delivery across risk categories. COAT890 is the weakest on-time performer of the named delayed components at 84.2%, raising the chance of planning disruption. COMP042 from PrimeLogistics shows lead-time variance and a 13-day timeline that exceeds typical thresholds. COMP043 from NextGen Pharma points to forecasting inaccuracy and inventory misalignment, which could affect consistent supply for regulated products. On-time figures for BIND567, CARB123 and COAT890 average 88.1%.</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groups all dataset records by supplier and averages delivery timeline, on-time delivery, reliability, and defect rate. The read-out: NextGen Pharma leads on both speed (10.7 days) and on-time delivery (91.5%). EcoSupply has the highest average reliability at 93.2% but, paradoxically, the lowest on-time rate at 87.9% — meaning broad reliability scores can mask delivery-specific execution problems. GlobalChem is structurally the slowest at 16.4 days. PrimeLogistics has the highest defect rate at 2.89%. The highlighted cells flag where each supplier is an outlier and where supplier oversight should be strengthened through documented corrective actions and performance reviews.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compliance: in regulated manufacturing, supply delays are not just operational — they create control and regulatory risk. Delays in critical or medium-risk components disrupt schedules, push the organisation toward expedited logistics, and reduce the margin available for quality review and product release. BIND567 and COMP043 are specifically called out because their delay patterns could undermine consistent supply for regulated products, which matters under FDA expectations around reliability, traceability, and availability. Exposure is worst when delays coincide with PrimeLogistics' high defect rate or EcoSupply's weak on-time delivery. On root causes: supplier execution is uneven, internal planning shows an escalation gap for medium-risk parts, and there is forecasting inaccuracy, thin safety stock, and slow activation of mitigation actions. Governance should ensure all of these decisions are documented for audit and inspection.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Mitigation has two layers. Portfolio-wide: expand supplier scorecards so hidden delivery risk surfaces earlier by weighting on-time performance, lead-time variance, and defect trends rather than reliability alone; reassess how medium-risk components are prioritised, especially where they support time-sensitive or compliance-relevant production; and review safety stock and reorder points for delay-prone components while setting escalation triggers for expedited shipping, supplier review, or alternate sourcing. Component-specific: BIND567 — negotiate expedited terms with EcoSupply and raise the inventory buffer; CARB123 — review sourcing and planning assumptions; COAT890 — strengthen follow-up and assess alternate sourcing; COMP042 — work with PrimeLogistics on demand planning and adjust order cycles; COMP043 — improve forecasting with NextGen Pharma and add dynamic replenishment. Critically, every action must be documented and tracked through formal supplier governance or quality review so it can be defended during audits and regulatory inspection.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0418151"/>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A31"/>
        </a:solidFill>
        <a:effectLst/>
      </p:bgPr>
    </p:bg>
    <p:spTree>
      <p:nvGrpSpPr>
        <p:cNvPr id="1" name=""/>
        <p:cNvGrpSpPr/>
        <p:nvPr/>
      </p:nvGrpSpPr>
      <p:grpSpPr>
        <a:xfrm>
          <a:off x="0" y="0"/>
          <a:ext cx="0" cy="0"/>
          <a:chOff x="0" y="0"/>
          <a:chExt cx="0" cy="0"/>
        </a:xfrm>
      </p:grpSpPr>
      <p:pic>
        <p:nvPicPr>
          <p:cNvPr id="2" name="Image 0" descr="/agent/turn1/workspace/images/professional-pharmaceutical-supply-chain-warehouse_2026-06-11T21-25-43_image_DAS_0.jpg"/>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62A31">
              <a:alpha val="70000"/>
            </a:srgbClr>
          </a:solidFill>
          <a:ln/>
        </p:spPr>
        <p:txBody>
          <a:bodyPr/>
          <a:lstStyle/>
          <a:p>
            <a:endParaRPr lang="en-US"/>
          </a:p>
        </p:txBody>
      </p:sp>
      <p:sp>
        <p:nvSpPr>
          <p:cNvPr id="4" name="Shape 1"/>
          <p:cNvSpPr/>
          <p:nvPr/>
        </p:nvSpPr>
        <p:spPr>
          <a:xfrm>
            <a:off x="0" y="0"/>
            <a:ext cx="5577840" cy="5143500"/>
          </a:xfrm>
          <a:prstGeom prst="rect">
            <a:avLst/>
          </a:prstGeom>
          <a:solidFill>
            <a:srgbClr val="262A31">
              <a:alpha val="94000"/>
            </a:srgbClr>
          </a:solidFill>
          <a:ln/>
        </p:spPr>
        <p:txBody>
          <a:bodyPr/>
          <a:lstStyle/>
          <a:p>
            <a:endParaRPr lang="en-US"/>
          </a:p>
        </p:txBody>
      </p:sp>
      <p:sp>
        <p:nvSpPr>
          <p:cNvPr id="5" name="Shape 2"/>
          <p:cNvSpPr/>
          <p:nvPr/>
        </p:nvSpPr>
        <p:spPr>
          <a:xfrm>
            <a:off x="594360" y="1993392"/>
            <a:ext cx="822960" cy="64008"/>
          </a:xfrm>
          <a:prstGeom prst="rect">
            <a:avLst/>
          </a:prstGeom>
          <a:solidFill>
            <a:srgbClr val="E0922F"/>
          </a:solidFill>
          <a:ln/>
        </p:spPr>
        <p:txBody>
          <a:bodyPr/>
          <a:lstStyle/>
          <a:p>
            <a:endParaRPr lang="en-US"/>
          </a:p>
        </p:txBody>
      </p:sp>
      <p:sp>
        <p:nvSpPr>
          <p:cNvPr id="6" name="Text 3"/>
          <p:cNvSpPr/>
          <p:nvPr/>
        </p:nvSpPr>
        <p:spPr>
          <a:xfrm>
            <a:off x="594360" y="1554480"/>
            <a:ext cx="6400800" cy="320040"/>
          </a:xfrm>
          <a:prstGeom prst="rect">
            <a:avLst/>
          </a:prstGeom>
          <a:noFill/>
          <a:ln/>
        </p:spPr>
        <p:txBody>
          <a:bodyPr wrap="square" rtlCol="0" anchor="ctr"/>
          <a:lstStyle/>
          <a:p>
            <a:pPr marL="0" indent="0">
              <a:buNone/>
            </a:pPr>
            <a:r>
              <a:rPr lang="en-US" sz="1300" b="1" kern="0" spc="300" dirty="0">
                <a:solidFill>
                  <a:srgbClr val="E0922F"/>
                </a:solidFill>
                <a:latin typeface="Trebuchet MS" pitchFamily="34" charset="0"/>
                <a:ea typeface="Trebuchet MS" pitchFamily="34" charset="-122"/>
                <a:cs typeface="Trebuchet MS" pitchFamily="34" charset="-120"/>
              </a:rPr>
              <a:t>COMPLIANCE &amp; QUALITY REVIEW</a:t>
            </a:r>
            <a:endParaRPr lang="en-US" sz="1300" dirty="0"/>
          </a:p>
        </p:txBody>
      </p:sp>
      <p:sp>
        <p:nvSpPr>
          <p:cNvPr id="7" name="Text 4"/>
          <p:cNvSpPr/>
          <p:nvPr/>
        </p:nvSpPr>
        <p:spPr>
          <a:xfrm>
            <a:off x="566928" y="2212848"/>
            <a:ext cx="7498080" cy="1371600"/>
          </a:xfrm>
          <a:prstGeom prst="rect">
            <a:avLst/>
          </a:prstGeom>
          <a:noFill/>
          <a:ln/>
        </p:spPr>
        <p:txBody>
          <a:bodyPr wrap="square" rtlCol="0" anchor="ctr"/>
          <a:lstStyle/>
          <a:p>
            <a:pPr marL="0" indent="0">
              <a:lnSpc>
                <a:spcPct val="98000"/>
              </a:lnSpc>
              <a:buNone/>
            </a:pPr>
            <a:r>
              <a:rPr lang="en-US" sz="4000" b="1" dirty="0">
                <a:solidFill>
                  <a:srgbClr val="FFFFFF"/>
                </a:solidFill>
                <a:latin typeface="Trebuchet MS" pitchFamily="34" charset="0"/>
                <a:ea typeface="Trebuchet MS" pitchFamily="34" charset="-122"/>
                <a:cs typeface="Trebuchet MS" pitchFamily="34" charset="-120"/>
              </a:rPr>
              <a:t>Supply Chain Issue</a:t>
            </a:r>
            <a:endParaRPr lang="en-US" sz="4000" dirty="0"/>
          </a:p>
          <a:p>
            <a:pPr marL="0" indent="0">
              <a:lnSpc>
                <a:spcPct val="98000"/>
              </a:lnSpc>
              <a:buNone/>
            </a:pPr>
            <a:r>
              <a:rPr lang="en-US" sz="4000" b="1" dirty="0">
                <a:solidFill>
                  <a:srgbClr val="FFFFFF"/>
                </a:solidFill>
                <a:latin typeface="Trebuchet MS" pitchFamily="34" charset="0"/>
                <a:ea typeface="Trebuchet MS" pitchFamily="34" charset="-122"/>
                <a:cs typeface="Trebuchet MS" pitchFamily="34" charset="-120"/>
              </a:rPr>
              <a:t>Compliance Report</a:t>
            </a:r>
            <a:endParaRPr lang="en-US" sz="4000" dirty="0"/>
          </a:p>
        </p:txBody>
      </p:sp>
      <p:sp>
        <p:nvSpPr>
          <p:cNvPr id="8" name="Text 5"/>
          <p:cNvSpPr/>
          <p:nvPr/>
        </p:nvSpPr>
        <p:spPr>
          <a:xfrm>
            <a:off x="594360" y="3657600"/>
            <a:ext cx="4800600" cy="713232"/>
          </a:xfrm>
          <a:prstGeom prst="rect">
            <a:avLst/>
          </a:prstGeom>
          <a:noFill/>
          <a:ln/>
        </p:spPr>
        <p:txBody>
          <a:bodyPr wrap="square" rtlCol="0" anchor="ctr"/>
          <a:lstStyle/>
          <a:p>
            <a:pPr marL="0" indent="0">
              <a:buNone/>
            </a:pPr>
            <a:r>
              <a:rPr lang="en-US" sz="1350" dirty="0">
                <a:solidFill>
                  <a:srgbClr val="EEECE8"/>
                </a:solidFill>
                <a:latin typeface="Calibri" pitchFamily="34" charset="0"/>
                <a:ea typeface="Calibri" pitchFamily="34" charset="-122"/>
                <a:cs typeface="Calibri" pitchFamily="34" charset="-120"/>
              </a:rPr>
              <a:t>Component delays, supplier performance, and regulatory risk — findings and mitigation strategies for compliance-sensitive manufacturing.</a:t>
            </a:r>
            <a:endParaRPr lang="en-US" sz="1350" dirty="0"/>
          </a:p>
        </p:txBody>
      </p:sp>
      <p:sp>
        <p:nvSpPr>
          <p:cNvPr id="9" name="Text 6"/>
          <p:cNvSpPr/>
          <p:nvPr/>
        </p:nvSpPr>
        <p:spPr>
          <a:xfrm>
            <a:off x="594360" y="4553712"/>
            <a:ext cx="4937760" cy="274320"/>
          </a:xfrm>
          <a:prstGeom prst="rect">
            <a:avLst/>
          </a:prstGeom>
          <a:noFill/>
          <a:ln/>
        </p:spPr>
        <p:txBody>
          <a:bodyPr wrap="square" rtlCol="0" anchor="ctr"/>
          <a:lstStyle/>
          <a:p>
            <a:pPr marL="0" indent="0">
              <a:buNone/>
            </a:pPr>
            <a:r>
              <a:rPr lang="en-US" sz="1000" i="1" dirty="0">
                <a:solidFill>
                  <a:srgbClr val="CFCCC6"/>
                </a:solidFill>
                <a:latin typeface="Calibri" pitchFamily="34" charset="0"/>
                <a:ea typeface="Calibri" pitchFamily="34" charset="-122"/>
                <a:cs typeface="Calibri" pitchFamily="34" charset="-120"/>
              </a:rPr>
              <a:t>Prepared June 2026  ·  Source: Supply Chain Issue Analysis &amp; dataset (50 records)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D"/>
        </a:solidFill>
        <a:effectLst/>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marL="0" indent="0">
              <a:buNone/>
            </a:pPr>
            <a:r>
              <a:rPr lang="en-US" sz="1100" b="1" kern="0" spc="300" dirty="0">
                <a:solidFill>
                  <a:srgbClr val="E0922F"/>
                </a:solidFill>
                <a:latin typeface="Trebuchet MS" pitchFamily="34" charset="0"/>
                <a:ea typeface="Trebuchet MS" pitchFamily="34" charset="-122"/>
                <a:cs typeface="Trebuchet MS" pitchFamily="34" charset="-120"/>
              </a:rPr>
              <a:t>EXECUTIVE SUMMARY</a:t>
            </a:r>
            <a:endParaRPr lang="en-US" sz="1100" dirty="0"/>
          </a:p>
        </p:txBody>
      </p:sp>
      <p:sp>
        <p:nvSpPr>
          <p:cNvPr id="3" name="Text 1"/>
          <p:cNvSpPr/>
          <p:nvPr/>
        </p:nvSpPr>
        <p:spPr>
          <a:xfrm>
            <a:off x="548640" y="566928"/>
            <a:ext cx="8046720" cy="603504"/>
          </a:xfrm>
          <a:prstGeom prst="rect">
            <a:avLst/>
          </a:prstGeom>
          <a:noFill/>
          <a:ln/>
        </p:spPr>
        <p:txBody>
          <a:bodyPr wrap="square" lIns="0" tIns="0" rIns="0" bIns="0" rtlCol="0" anchor="ctr"/>
          <a:lstStyle/>
          <a:p>
            <a:pPr marL="0" indent="0">
              <a:buNone/>
            </a:pPr>
            <a:r>
              <a:rPr lang="en-US" sz="2700" b="1" dirty="0">
                <a:solidFill>
                  <a:srgbClr val="262A31"/>
                </a:solidFill>
                <a:latin typeface="Trebuchet MS" pitchFamily="34" charset="0"/>
                <a:ea typeface="Trebuchet MS" pitchFamily="34" charset="-122"/>
                <a:cs typeface="Trebuchet MS" pitchFamily="34" charset="-120"/>
              </a:rPr>
              <a:t>What the data is telling us</a:t>
            </a:r>
            <a:endParaRPr lang="en-US" sz="2700" dirty="0"/>
          </a:p>
        </p:txBody>
      </p:sp>
      <p:sp>
        <p:nvSpPr>
          <p:cNvPr id="4" name="Shape 2"/>
          <p:cNvSpPr/>
          <p:nvPr/>
        </p:nvSpPr>
        <p:spPr>
          <a:xfrm>
            <a:off x="548640" y="1371600"/>
            <a:ext cx="2615184" cy="1463040"/>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5" name="Shape 3"/>
          <p:cNvSpPr/>
          <p:nvPr/>
        </p:nvSpPr>
        <p:spPr>
          <a:xfrm>
            <a:off x="548640" y="1371600"/>
            <a:ext cx="2615184" cy="73152"/>
          </a:xfrm>
          <a:prstGeom prst="rect">
            <a:avLst/>
          </a:prstGeom>
          <a:solidFill>
            <a:srgbClr val="E0922F"/>
          </a:solidFill>
          <a:ln/>
        </p:spPr>
        <p:txBody>
          <a:bodyPr/>
          <a:lstStyle/>
          <a:p>
            <a:endParaRPr lang="en-US"/>
          </a:p>
        </p:txBody>
      </p:sp>
      <p:sp>
        <p:nvSpPr>
          <p:cNvPr id="6" name="Text 4"/>
          <p:cNvSpPr/>
          <p:nvPr/>
        </p:nvSpPr>
        <p:spPr>
          <a:xfrm>
            <a:off x="713232" y="1499616"/>
            <a:ext cx="2286000" cy="457200"/>
          </a:xfrm>
          <a:prstGeom prst="rect">
            <a:avLst/>
          </a:prstGeom>
          <a:noFill/>
          <a:ln/>
        </p:spPr>
        <p:txBody>
          <a:bodyPr wrap="square" lIns="0" tIns="0" rIns="0" bIns="0" rtlCol="0" anchor="t"/>
          <a:lstStyle/>
          <a:p>
            <a:pPr marL="0" indent="0">
              <a:buNone/>
            </a:pPr>
            <a:r>
              <a:rPr lang="en-US" sz="1900" b="1" dirty="0">
                <a:solidFill>
                  <a:srgbClr val="262A31"/>
                </a:solidFill>
                <a:latin typeface="Trebuchet MS" pitchFamily="34" charset="0"/>
                <a:ea typeface="Trebuchet MS" pitchFamily="34" charset="-122"/>
                <a:cs typeface="Trebuchet MS" pitchFamily="34" charset="-120"/>
              </a:rPr>
              <a:t>15.1 days</a:t>
            </a:r>
            <a:endParaRPr lang="en-US" sz="1900" dirty="0"/>
          </a:p>
        </p:txBody>
      </p:sp>
      <p:sp>
        <p:nvSpPr>
          <p:cNvPr id="7" name="Text 5"/>
          <p:cNvSpPr/>
          <p:nvPr/>
        </p:nvSpPr>
        <p:spPr>
          <a:xfrm>
            <a:off x="713232" y="2029968"/>
            <a:ext cx="2286000" cy="713232"/>
          </a:xfrm>
          <a:prstGeom prst="rect">
            <a:avLst/>
          </a:prstGeom>
          <a:noFill/>
          <a:ln/>
        </p:spPr>
        <p:txBody>
          <a:bodyPr wrap="square" lIns="0" tIns="0" rIns="0" bIns="0" rtlCol="0" anchor="ctr"/>
          <a:lstStyle/>
          <a:p>
            <a:pPr marL="0" indent="0">
              <a:buNone/>
            </a:pPr>
            <a:r>
              <a:rPr lang="en-US" sz="1150" dirty="0">
                <a:solidFill>
                  <a:srgbClr val="434851"/>
                </a:solidFill>
                <a:latin typeface="Calibri" pitchFamily="34" charset="0"/>
                <a:ea typeface="Calibri" pitchFamily="34" charset="-122"/>
                <a:cs typeface="Calibri" pitchFamily="34" charset="-120"/>
              </a:rPr>
              <a:t>Longest average delivery timeline</a:t>
            </a:r>
            <a:endParaRPr lang="en-US" sz="1150" dirty="0"/>
          </a:p>
          <a:p>
            <a:pPr marL="0" indent="0">
              <a:buNone/>
            </a:pPr>
            <a:r>
              <a:rPr lang="en-US" sz="1150" dirty="0">
                <a:solidFill>
                  <a:srgbClr val="434851"/>
                </a:solidFill>
                <a:latin typeface="Calibri" pitchFamily="34" charset="0"/>
                <a:ea typeface="Calibri" pitchFamily="34" charset="-122"/>
                <a:cs typeface="Calibri" pitchFamily="34" charset="-120"/>
              </a:rPr>
              <a:t>sits with MEDIUM-risk components</a:t>
            </a:r>
            <a:endParaRPr lang="en-US" sz="1150" dirty="0"/>
          </a:p>
        </p:txBody>
      </p:sp>
      <p:sp>
        <p:nvSpPr>
          <p:cNvPr id="8" name="Shape 6"/>
          <p:cNvSpPr/>
          <p:nvPr/>
        </p:nvSpPr>
        <p:spPr>
          <a:xfrm>
            <a:off x="3447288" y="1371600"/>
            <a:ext cx="2615184" cy="1463040"/>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9" name="Shape 7"/>
          <p:cNvSpPr/>
          <p:nvPr/>
        </p:nvSpPr>
        <p:spPr>
          <a:xfrm>
            <a:off x="3447288" y="1371600"/>
            <a:ext cx="2615184" cy="73152"/>
          </a:xfrm>
          <a:prstGeom prst="rect">
            <a:avLst/>
          </a:prstGeom>
          <a:solidFill>
            <a:srgbClr val="262A31"/>
          </a:solidFill>
          <a:ln/>
        </p:spPr>
        <p:txBody>
          <a:bodyPr/>
          <a:lstStyle/>
          <a:p>
            <a:endParaRPr lang="en-US"/>
          </a:p>
        </p:txBody>
      </p:sp>
      <p:sp>
        <p:nvSpPr>
          <p:cNvPr id="10" name="Text 8"/>
          <p:cNvSpPr/>
          <p:nvPr/>
        </p:nvSpPr>
        <p:spPr>
          <a:xfrm>
            <a:off x="3611880" y="1499616"/>
            <a:ext cx="2286000" cy="457200"/>
          </a:xfrm>
          <a:prstGeom prst="rect">
            <a:avLst/>
          </a:prstGeom>
          <a:noFill/>
          <a:ln/>
        </p:spPr>
        <p:txBody>
          <a:bodyPr wrap="square" lIns="0" tIns="0" rIns="0" bIns="0" rtlCol="0" anchor="t"/>
          <a:lstStyle/>
          <a:p>
            <a:pPr marL="0" indent="0">
              <a:buNone/>
            </a:pPr>
            <a:r>
              <a:rPr lang="en-US" sz="1900" b="1" dirty="0">
                <a:solidFill>
                  <a:srgbClr val="262A31"/>
                </a:solidFill>
                <a:latin typeface="Trebuchet MS" pitchFamily="34" charset="0"/>
                <a:ea typeface="Trebuchet MS" pitchFamily="34" charset="-122"/>
                <a:cs typeface="Trebuchet MS" pitchFamily="34" charset="-120"/>
              </a:rPr>
              <a:t>NextGen Pharma</a:t>
            </a:r>
            <a:endParaRPr lang="en-US" sz="1900" dirty="0"/>
          </a:p>
        </p:txBody>
      </p:sp>
      <p:sp>
        <p:nvSpPr>
          <p:cNvPr id="11" name="Text 9"/>
          <p:cNvSpPr/>
          <p:nvPr/>
        </p:nvSpPr>
        <p:spPr>
          <a:xfrm>
            <a:off x="3611880" y="2029968"/>
            <a:ext cx="2286000" cy="713232"/>
          </a:xfrm>
          <a:prstGeom prst="rect">
            <a:avLst/>
          </a:prstGeom>
          <a:noFill/>
          <a:ln/>
        </p:spPr>
        <p:txBody>
          <a:bodyPr wrap="square" lIns="0" tIns="0" rIns="0" bIns="0" rtlCol="0" anchor="ctr"/>
          <a:lstStyle/>
          <a:p>
            <a:pPr marL="0" indent="0">
              <a:buNone/>
            </a:pPr>
            <a:r>
              <a:rPr lang="en-US" sz="1150" dirty="0">
                <a:solidFill>
                  <a:srgbClr val="434851"/>
                </a:solidFill>
                <a:latin typeface="Calibri" pitchFamily="34" charset="0"/>
                <a:ea typeface="Calibri" pitchFamily="34" charset="-122"/>
                <a:cs typeface="Calibri" pitchFamily="34" charset="-120"/>
              </a:rPr>
              <a:t>Strongest profile: fastest delivery</a:t>
            </a:r>
            <a:endParaRPr lang="en-US" sz="1150" dirty="0"/>
          </a:p>
          <a:p>
            <a:pPr marL="0" indent="0">
              <a:buNone/>
            </a:pPr>
            <a:r>
              <a:rPr lang="en-US" sz="1150" dirty="0">
                <a:solidFill>
                  <a:srgbClr val="434851"/>
                </a:solidFill>
                <a:latin typeface="Calibri" pitchFamily="34" charset="0"/>
                <a:ea typeface="Calibri" pitchFamily="34" charset="-122"/>
                <a:cs typeface="Calibri" pitchFamily="34" charset="-120"/>
              </a:rPr>
              <a:t>(10.7 d) and best on-time (91.5%)</a:t>
            </a:r>
            <a:endParaRPr lang="en-US" sz="1150" dirty="0"/>
          </a:p>
        </p:txBody>
      </p:sp>
      <p:sp>
        <p:nvSpPr>
          <p:cNvPr id="12" name="Shape 10"/>
          <p:cNvSpPr/>
          <p:nvPr/>
        </p:nvSpPr>
        <p:spPr>
          <a:xfrm>
            <a:off x="6345936" y="1371600"/>
            <a:ext cx="2615184" cy="1463040"/>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13" name="Shape 11"/>
          <p:cNvSpPr/>
          <p:nvPr/>
        </p:nvSpPr>
        <p:spPr>
          <a:xfrm>
            <a:off x="6345936" y="1371600"/>
            <a:ext cx="2615184" cy="73152"/>
          </a:xfrm>
          <a:prstGeom prst="rect">
            <a:avLst/>
          </a:prstGeom>
          <a:solidFill>
            <a:srgbClr val="3C424C"/>
          </a:solidFill>
          <a:ln/>
        </p:spPr>
        <p:txBody>
          <a:bodyPr/>
          <a:lstStyle/>
          <a:p>
            <a:endParaRPr lang="en-US"/>
          </a:p>
        </p:txBody>
      </p:sp>
      <p:sp>
        <p:nvSpPr>
          <p:cNvPr id="14" name="Text 12"/>
          <p:cNvSpPr/>
          <p:nvPr/>
        </p:nvSpPr>
        <p:spPr>
          <a:xfrm>
            <a:off x="6510528" y="1499616"/>
            <a:ext cx="2286000" cy="457200"/>
          </a:xfrm>
          <a:prstGeom prst="rect">
            <a:avLst/>
          </a:prstGeom>
          <a:noFill/>
          <a:ln/>
        </p:spPr>
        <p:txBody>
          <a:bodyPr wrap="square" lIns="0" tIns="0" rIns="0" bIns="0" rtlCol="0" anchor="t"/>
          <a:lstStyle/>
          <a:p>
            <a:pPr marL="0" indent="0">
              <a:buNone/>
            </a:pPr>
            <a:r>
              <a:rPr lang="en-US" sz="1900" b="1" dirty="0">
                <a:solidFill>
                  <a:srgbClr val="262A31"/>
                </a:solidFill>
                <a:latin typeface="Trebuchet MS" pitchFamily="34" charset="0"/>
                <a:ea typeface="Trebuchet MS" pitchFamily="34" charset="-122"/>
                <a:cs typeface="Trebuchet MS" pitchFamily="34" charset="-120"/>
              </a:rPr>
              <a:t>2 suppliers</a:t>
            </a:r>
            <a:endParaRPr lang="en-US" sz="1900" dirty="0"/>
          </a:p>
        </p:txBody>
      </p:sp>
      <p:sp>
        <p:nvSpPr>
          <p:cNvPr id="15" name="Text 13"/>
          <p:cNvSpPr/>
          <p:nvPr/>
        </p:nvSpPr>
        <p:spPr>
          <a:xfrm>
            <a:off x="6510528" y="2029968"/>
            <a:ext cx="2286000" cy="713232"/>
          </a:xfrm>
          <a:prstGeom prst="rect">
            <a:avLst/>
          </a:prstGeom>
          <a:noFill/>
          <a:ln/>
        </p:spPr>
        <p:txBody>
          <a:bodyPr wrap="square" lIns="0" tIns="0" rIns="0" bIns="0" rtlCol="0" anchor="ctr"/>
          <a:lstStyle/>
          <a:p>
            <a:pPr marL="0" indent="0">
              <a:buNone/>
            </a:pPr>
            <a:r>
              <a:rPr lang="en-US" sz="1150" dirty="0">
                <a:solidFill>
                  <a:srgbClr val="434851"/>
                </a:solidFill>
                <a:latin typeface="Calibri" pitchFamily="34" charset="0"/>
                <a:ea typeface="Calibri" pitchFamily="34" charset="-122"/>
                <a:cs typeface="Calibri" pitchFamily="34" charset="-120"/>
              </a:rPr>
              <a:t>Need closer review — EcoSupply</a:t>
            </a:r>
            <a:endParaRPr lang="en-US" sz="1150" dirty="0"/>
          </a:p>
          <a:p>
            <a:pPr marL="0" indent="0">
              <a:buNone/>
            </a:pPr>
            <a:r>
              <a:rPr lang="en-US" sz="1150" dirty="0">
                <a:solidFill>
                  <a:srgbClr val="434851"/>
                </a:solidFill>
                <a:latin typeface="Calibri" pitchFamily="34" charset="0"/>
                <a:ea typeface="Calibri" pitchFamily="34" charset="-122"/>
                <a:cs typeface="Calibri" pitchFamily="34" charset="-120"/>
              </a:rPr>
              <a:t>(on-time) &amp; PrimeLogistics (defects)</a:t>
            </a:r>
            <a:endParaRPr lang="en-US" sz="1150" dirty="0"/>
          </a:p>
        </p:txBody>
      </p:sp>
      <p:sp>
        <p:nvSpPr>
          <p:cNvPr id="16" name="Text 14"/>
          <p:cNvSpPr/>
          <p:nvPr/>
        </p:nvSpPr>
        <p:spPr>
          <a:xfrm>
            <a:off x="548640" y="3072384"/>
            <a:ext cx="8046720" cy="274320"/>
          </a:xfrm>
          <a:prstGeom prst="rect">
            <a:avLst/>
          </a:prstGeom>
          <a:noFill/>
          <a:ln/>
        </p:spPr>
        <p:txBody>
          <a:bodyPr wrap="square" lIns="0" tIns="0" rIns="0" bIns="0" rtlCol="0" anchor="ctr"/>
          <a:lstStyle/>
          <a:p>
            <a:pPr marL="0" indent="0">
              <a:buNone/>
            </a:pPr>
            <a:r>
              <a:rPr lang="en-US" sz="1400" b="1" dirty="0">
                <a:solidFill>
                  <a:srgbClr val="3C424C"/>
                </a:solidFill>
                <a:latin typeface="Trebuchet MS" pitchFamily="34" charset="0"/>
                <a:ea typeface="Trebuchet MS" pitchFamily="34" charset="-122"/>
                <a:cs typeface="Trebuchet MS" pitchFamily="34" charset="-120"/>
              </a:rPr>
              <a:t>Key findings</a:t>
            </a:r>
            <a:endParaRPr lang="en-US" sz="1400" dirty="0"/>
          </a:p>
        </p:txBody>
      </p:sp>
      <p:sp>
        <p:nvSpPr>
          <p:cNvPr id="17" name="Text 15"/>
          <p:cNvSpPr/>
          <p:nvPr/>
        </p:nvSpPr>
        <p:spPr>
          <a:xfrm>
            <a:off x="566928" y="3346704"/>
            <a:ext cx="8046720" cy="1371600"/>
          </a:xfrm>
          <a:prstGeom prst="rect">
            <a:avLst/>
          </a:prstGeom>
          <a:noFill/>
          <a:ln/>
        </p:spPr>
        <p:txBody>
          <a:bodyPr wrap="square" rtlCol="0" anchor="ctr"/>
          <a:lstStyle/>
          <a:p>
            <a:pPr marL="177800" indent="-177800">
              <a:spcAft>
                <a:spcPts val="500"/>
              </a:spcAft>
              <a:buSzPct val="100000"/>
              <a:buChar char="•"/>
            </a:pPr>
            <a:r>
              <a:rPr lang="en-US" sz="1250" dirty="0">
                <a:solidFill>
                  <a:srgbClr val="434851"/>
                </a:solidFill>
                <a:latin typeface="Calibri" pitchFamily="34" charset="0"/>
                <a:ea typeface="Calibri" pitchFamily="34" charset="-122"/>
                <a:cs typeface="Calibri" pitchFamily="34" charset="-120"/>
              </a:rPr>
              <a:t>Medium-risk items move slowest on average, signalling a possible escalation gap in procurement and supply planning.</a:t>
            </a:r>
            <a:endParaRPr lang="en-US" sz="1250" dirty="0"/>
          </a:p>
          <a:p>
            <a:pPr marL="177800" indent="-177800">
              <a:spcAft>
                <a:spcPts val="500"/>
              </a:spcAft>
              <a:buSzPct val="100000"/>
              <a:buChar char="•"/>
            </a:pPr>
            <a:r>
              <a:rPr lang="en-US" sz="1250" dirty="0">
                <a:solidFill>
                  <a:srgbClr val="434851"/>
                </a:solidFill>
                <a:latin typeface="Calibri" pitchFamily="34" charset="0"/>
                <a:ea typeface="Calibri" pitchFamily="34" charset="-122"/>
                <a:cs typeface="Calibri" pitchFamily="34" charset="-120"/>
              </a:rPr>
              <a:t>Among named delayed components, COAT890 is the weakest on-time performer (84.2%); BIND567 is the strongest (99.0%).</a:t>
            </a:r>
            <a:endParaRPr lang="en-US" sz="1250" dirty="0"/>
          </a:p>
          <a:p>
            <a:pPr marL="177800" indent="-177800">
              <a:spcAft>
                <a:spcPts val="500"/>
              </a:spcAft>
              <a:buSzPct val="100000"/>
              <a:buChar char="•"/>
            </a:pPr>
            <a:r>
              <a:rPr lang="en-US" sz="1250" dirty="0">
                <a:solidFill>
                  <a:srgbClr val="434851"/>
                </a:solidFill>
                <a:latin typeface="Calibri" pitchFamily="34" charset="0"/>
                <a:ea typeface="Calibri" pitchFamily="34" charset="-122"/>
                <a:cs typeface="Calibri" pitchFamily="34" charset="-120"/>
              </a:rPr>
              <a:t>Different suppliers contribute different risks — delivery inconsistency, defect exposure, lead-time variance, and forecasting mismatch — so a single mitigation approach is insufficient.</a:t>
            </a:r>
            <a:endParaRPr lang="en-US" sz="1250" dirty="0"/>
          </a:p>
          <a:p>
            <a:pPr marL="177800" indent="-177800">
              <a:buSzPct val="100000"/>
              <a:buChar char="•"/>
            </a:pPr>
            <a:r>
              <a:rPr lang="en-US" sz="1250" dirty="0">
                <a:solidFill>
                  <a:srgbClr val="434851"/>
                </a:solidFill>
                <a:latin typeface="Calibri" pitchFamily="34" charset="0"/>
                <a:ea typeface="Calibri" pitchFamily="34" charset="-122"/>
                <a:cs typeface="Calibri" pitchFamily="34" charset="-120"/>
              </a:rPr>
              <a:t>Supply consistency, quality, and traceable mitigation actions are essential to sustain production readiness and regulatory confidence.</a:t>
            </a:r>
            <a:endParaRPr lang="en-US" sz="1250" dirty="0"/>
          </a:p>
        </p:txBody>
      </p:sp>
      <p:sp>
        <p:nvSpPr>
          <p:cNvPr id="18" name="Text 16"/>
          <p:cNvSpPr/>
          <p:nvPr/>
        </p:nvSpPr>
        <p:spPr>
          <a:xfrm>
            <a:off x="548640" y="4828032"/>
            <a:ext cx="5486400" cy="228600"/>
          </a:xfrm>
          <a:prstGeom prst="rect">
            <a:avLst/>
          </a:prstGeom>
          <a:noFill/>
          <a:ln/>
        </p:spPr>
        <p:txBody>
          <a:bodyPr wrap="square" lIns="0" tIns="0" rIns="0" bIns="0" rtlCol="0" anchor="ctr"/>
          <a:lstStyle/>
          <a:p>
            <a:pPr marL="0" indent="0">
              <a:buNone/>
            </a:pPr>
            <a:r>
              <a:rPr lang="en-US" sz="800" dirty="0">
                <a:solidFill>
                  <a:srgbClr val="8A9099"/>
                </a:solidFill>
                <a:latin typeface="Calibri" pitchFamily="34" charset="0"/>
                <a:ea typeface="Calibri" pitchFamily="34" charset="-122"/>
                <a:cs typeface="Calibri" pitchFamily="34" charset="-120"/>
              </a:rPr>
              <a:t>Supply Chain Issue Compliance Report</a:t>
            </a:r>
            <a:endParaRPr lang="en-US" sz="800" dirty="0"/>
          </a:p>
        </p:txBody>
      </p:sp>
      <p:sp>
        <p:nvSpPr>
          <p:cNvPr id="19" name="Text 17"/>
          <p:cNvSpPr/>
          <p:nvPr/>
        </p:nvSpPr>
        <p:spPr>
          <a:xfrm>
            <a:off x="5486400" y="4828032"/>
            <a:ext cx="2743200" cy="228600"/>
          </a:xfrm>
          <a:prstGeom prst="rect">
            <a:avLst/>
          </a:prstGeom>
          <a:noFill/>
          <a:ln/>
        </p:spPr>
        <p:txBody>
          <a:bodyPr wrap="square" lIns="0" tIns="0" rIns="0" bIns="0" rtlCol="0" anchor="ctr"/>
          <a:lstStyle/>
          <a:p>
            <a:pPr marL="0" indent="0" algn="r">
              <a:buNone/>
            </a:pPr>
            <a:r>
              <a:rPr lang="en-US" sz="800" dirty="0">
                <a:solidFill>
                  <a:srgbClr val="8A9099"/>
                </a:solidFill>
                <a:latin typeface="Calibri" pitchFamily="34" charset="0"/>
                <a:ea typeface="Calibri" pitchFamily="34" charset="-122"/>
                <a:cs typeface="Calibri" pitchFamily="34" charset="-120"/>
              </a:rPr>
              <a:t>Confidential  |  Compliance &amp; Quality  |  June 2026</a:t>
            </a:r>
            <a:endParaRPr lang="en-US" sz="800" dirty="0"/>
          </a:p>
        </p:txBody>
      </p:sp>
      <p:sp>
        <p:nvSpPr>
          <p:cNvPr id="20" name="Text 18"/>
          <p:cNvSpPr/>
          <p:nvPr/>
        </p:nvSpPr>
        <p:spPr>
          <a:xfrm>
            <a:off x="8321040" y="4828032"/>
            <a:ext cx="274320" cy="228600"/>
          </a:xfrm>
          <a:prstGeom prst="rect">
            <a:avLst/>
          </a:prstGeom>
          <a:noFill/>
          <a:ln/>
        </p:spPr>
        <p:txBody>
          <a:bodyPr wrap="square" lIns="0" tIns="0" rIns="0" bIns="0" rtlCol="0" anchor="ctr"/>
          <a:lstStyle/>
          <a:p>
            <a:pPr marL="0" indent="0" algn="r">
              <a:buNone/>
            </a:pPr>
            <a:r>
              <a:rPr lang="en-US" sz="800" dirty="0">
                <a:solidFill>
                  <a:srgbClr val="8A9099"/>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D"/>
        </a:solidFill>
        <a:effectLst/>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marL="0" indent="0">
              <a:buNone/>
            </a:pPr>
            <a:r>
              <a:rPr lang="en-US" sz="1100" b="1" kern="0" spc="300" dirty="0">
                <a:solidFill>
                  <a:srgbClr val="E0922F"/>
                </a:solidFill>
                <a:latin typeface="Trebuchet MS" pitchFamily="34" charset="0"/>
                <a:ea typeface="Trebuchet MS" pitchFamily="34" charset="-122"/>
                <a:cs typeface="Trebuchet MS" pitchFamily="34" charset="-120"/>
              </a:rPr>
              <a:t>DELIVERY PERFORMANCE</a:t>
            </a:r>
            <a:endParaRPr lang="en-US" sz="1100" dirty="0"/>
          </a:p>
        </p:txBody>
      </p:sp>
      <p:sp>
        <p:nvSpPr>
          <p:cNvPr id="3" name="Text 1"/>
          <p:cNvSpPr/>
          <p:nvPr/>
        </p:nvSpPr>
        <p:spPr>
          <a:xfrm>
            <a:off x="548640" y="566928"/>
            <a:ext cx="8046720" cy="603504"/>
          </a:xfrm>
          <a:prstGeom prst="rect">
            <a:avLst/>
          </a:prstGeom>
          <a:noFill/>
          <a:ln/>
        </p:spPr>
        <p:txBody>
          <a:bodyPr wrap="square" lIns="0" tIns="0" rIns="0" bIns="0" rtlCol="0" anchor="ctr"/>
          <a:lstStyle/>
          <a:p>
            <a:pPr marL="0" indent="0">
              <a:buNone/>
            </a:pPr>
            <a:r>
              <a:rPr lang="en-US" sz="2700" b="1" dirty="0">
                <a:solidFill>
                  <a:srgbClr val="262A31"/>
                </a:solidFill>
                <a:latin typeface="Trebuchet MS" pitchFamily="34" charset="0"/>
                <a:ea typeface="Trebuchet MS" pitchFamily="34" charset="-122"/>
                <a:cs typeface="Trebuchet MS" pitchFamily="34" charset="-120"/>
              </a:rPr>
              <a:t>Average delivery timeline by risk level</a:t>
            </a:r>
            <a:endParaRPr lang="en-US" sz="2700" dirty="0"/>
          </a:p>
        </p:txBody>
      </p:sp>
      <p:graphicFrame>
        <p:nvGraphicFramePr>
          <p:cNvPr id="4" name="Chart 0"/>
          <p:cNvGraphicFramePr/>
          <p:nvPr/>
        </p:nvGraphicFramePr>
        <p:xfrm>
          <a:off x="502920" y="1417320"/>
          <a:ext cx="525780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035040" y="1417320"/>
            <a:ext cx="2606040" cy="3063240"/>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6" name="Shape 3"/>
          <p:cNvSpPr/>
          <p:nvPr/>
        </p:nvSpPr>
        <p:spPr>
          <a:xfrm>
            <a:off x="6035040" y="1417320"/>
            <a:ext cx="73152" cy="3063240"/>
          </a:xfrm>
          <a:prstGeom prst="rect">
            <a:avLst/>
          </a:prstGeom>
          <a:solidFill>
            <a:srgbClr val="E0922F"/>
          </a:solidFill>
          <a:ln/>
        </p:spPr>
        <p:txBody>
          <a:bodyPr/>
          <a:lstStyle/>
          <a:p>
            <a:endParaRPr lang="en-US"/>
          </a:p>
        </p:txBody>
      </p:sp>
      <p:sp>
        <p:nvSpPr>
          <p:cNvPr id="7" name="Text 4"/>
          <p:cNvSpPr/>
          <p:nvPr/>
        </p:nvSpPr>
        <p:spPr>
          <a:xfrm>
            <a:off x="6272784" y="1591056"/>
            <a:ext cx="2194560" cy="274320"/>
          </a:xfrm>
          <a:prstGeom prst="rect">
            <a:avLst/>
          </a:prstGeom>
          <a:noFill/>
          <a:ln/>
        </p:spPr>
        <p:txBody>
          <a:bodyPr wrap="square" lIns="0" tIns="0" rIns="0" bIns="0" rtlCol="0" anchor="ctr"/>
          <a:lstStyle/>
          <a:p>
            <a:pPr marL="0" indent="0">
              <a:buNone/>
            </a:pPr>
            <a:r>
              <a:rPr lang="en-US" sz="1200" b="1" kern="0" spc="200" dirty="0">
                <a:solidFill>
                  <a:srgbClr val="E0922F"/>
                </a:solidFill>
                <a:latin typeface="Trebuchet MS" pitchFamily="34" charset="0"/>
                <a:ea typeface="Trebuchet MS" pitchFamily="34" charset="-122"/>
                <a:cs typeface="Trebuchet MS" pitchFamily="34" charset="-120"/>
              </a:rPr>
              <a:t>ESCALATION GAP</a:t>
            </a:r>
            <a:endParaRPr lang="en-US" sz="1200" dirty="0"/>
          </a:p>
        </p:txBody>
      </p:sp>
      <p:sp>
        <p:nvSpPr>
          <p:cNvPr id="8" name="Text 5"/>
          <p:cNvSpPr/>
          <p:nvPr/>
        </p:nvSpPr>
        <p:spPr>
          <a:xfrm>
            <a:off x="6272784" y="1938528"/>
            <a:ext cx="2212848" cy="868680"/>
          </a:xfrm>
          <a:prstGeom prst="rect">
            <a:avLst/>
          </a:prstGeom>
          <a:noFill/>
          <a:ln/>
        </p:spPr>
        <p:txBody>
          <a:bodyPr wrap="square" lIns="0" tIns="0" rIns="0" bIns="0" rtlCol="0" anchor="ctr"/>
          <a:lstStyle/>
          <a:p>
            <a:pPr marL="0" indent="0">
              <a:buNone/>
            </a:pPr>
            <a:r>
              <a:rPr lang="en-US" sz="1300" dirty="0">
                <a:solidFill>
                  <a:srgbClr val="434851"/>
                </a:solidFill>
                <a:latin typeface="Calibri" pitchFamily="34" charset="0"/>
                <a:ea typeface="Calibri" pitchFamily="34" charset="-122"/>
                <a:cs typeface="Calibri" pitchFamily="34" charset="-120"/>
              </a:rPr>
              <a:t>Medium-risk components take </a:t>
            </a:r>
            <a:r>
              <a:rPr lang="en-US" sz="1300" b="1" dirty="0">
                <a:solidFill>
                  <a:srgbClr val="262A31"/>
                </a:solidFill>
                <a:latin typeface="Calibri" pitchFamily="34" charset="0"/>
                <a:ea typeface="Calibri" pitchFamily="34" charset="-122"/>
                <a:cs typeface="Calibri" pitchFamily="34" charset="-120"/>
              </a:rPr>
              <a:t>33% longer</a:t>
            </a:r>
            <a:r>
              <a:rPr lang="en-US" sz="1300" dirty="0">
                <a:solidFill>
                  <a:srgbClr val="434851"/>
                </a:solidFill>
                <a:latin typeface="Calibri" pitchFamily="34" charset="0"/>
                <a:ea typeface="Calibri" pitchFamily="34" charset="-122"/>
                <a:cs typeface="Calibri" pitchFamily="34" charset="-120"/>
              </a:rPr>
              <a:t> to arrive than high-risk components.</a:t>
            </a:r>
            <a:endParaRPr lang="en-US" sz="1300" dirty="0"/>
          </a:p>
        </p:txBody>
      </p:sp>
      <p:sp>
        <p:nvSpPr>
          <p:cNvPr id="9" name="Text 6"/>
          <p:cNvSpPr/>
          <p:nvPr/>
        </p:nvSpPr>
        <p:spPr>
          <a:xfrm>
            <a:off x="6272784" y="2907792"/>
            <a:ext cx="2212848" cy="1417320"/>
          </a:xfrm>
          <a:prstGeom prst="rect">
            <a:avLst/>
          </a:prstGeom>
          <a:noFill/>
          <a:ln/>
        </p:spPr>
        <p:txBody>
          <a:bodyPr wrap="square" lIns="0" tIns="0" rIns="0" bIns="0" rtlCol="0" anchor="ctr"/>
          <a:lstStyle/>
          <a:p>
            <a:pPr marL="0" indent="0">
              <a:buNone/>
            </a:pPr>
            <a:r>
              <a:rPr lang="en-US" sz="1150" dirty="0">
                <a:solidFill>
                  <a:srgbClr val="434851"/>
                </a:solidFill>
                <a:latin typeface="Calibri" pitchFamily="34" charset="0"/>
                <a:ea typeface="Calibri" pitchFamily="34" charset="-122"/>
                <a:cs typeface="Calibri" pitchFamily="34" charset="-120"/>
              </a:rPr>
              <a:t>These parts may not be receiving the same urgency despite meaningful production exposure — a likely prioritisation gap in supply planning.</a:t>
            </a:r>
            <a:endParaRPr lang="en-US" sz="1150" dirty="0"/>
          </a:p>
        </p:txBody>
      </p:sp>
      <p:sp>
        <p:nvSpPr>
          <p:cNvPr id="10" name="Text 7"/>
          <p:cNvSpPr/>
          <p:nvPr/>
        </p:nvSpPr>
        <p:spPr>
          <a:xfrm>
            <a:off x="548640" y="4828032"/>
            <a:ext cx="5486400" cy="228600"/>
          </a:xfrm>
          <a:prstGeom prst="rect">
            <a:avLst/>
          </a:prstGeom>
          <a:noFill/>
          <a:ln/>
        </p:spPr>
        <p:txBody>
          <a:bodyPr wrap="square" lIns="0" tIns="0" rIns="0" bIns="0" rtlCol="0" anchor="ctr"/>
          <a:lstStyle/>
          <a:p>
            <a:pPr marL="0" indent="0">
              <a:buNone/>
            </a:pPr>
            <a:r>
              <a:rPr lang="en-US" sz="800" dirty="0">
                <a:solidFill>
                  <a:srgbClr val="8A9099"/>
                </a:solidFill>
                <a:latin typeface="Calibri" pitchFamily="34" charset="0"/>
                <a:ea typeface="Calibri" pitchFamily="34" charset="-122"/>
                <a:cs typeface="Calibri" pitchFamily="34" charset="-120"/>
              </a:rPr>
              <a:t>Supply Chain Issue Compliance Report</a:t>
            </a:r>
            <a:endParaRPr lang="en-US" sz="800" dirty="0"/>
          </a:p>
        </p:txBody>
      </p:sp>
      <p:sp>
        <p:nvSpPr>
          <p:cNvPr id="11" name="Text 8"/>
          <p:cNvSpPr/>
          <p:nvPr/>
        </p:nvSpPr>
        <p:spPr>
          <a:xfrm>
            <a:off x="5486400" y="4828032"/>
            <a:ext cx="2743200" cy="228600"/>
          </a:xfrm>
          <a:prstGeom prst="rect">
            <a:avLst/>
          </a:prstGeom>
          <a:noFill/>
          <a:ln/>
        </p:spPr>
        <p:txBody>
          <a:bodyPr wrap="square" lIns="0" tIns="0" rIns="0" bIns="0" rtlCol="0" anchor="ctr"/>
          <a:lstStyle/>
          <a:p>
            <a:pPr marL="0" indent="0" algn="r">
              <a:buNone/>
            </a:pPr>
            <a:r>
              <a:rPr lang="en-US" sz="800" dirty="0">
                <a:solidFill>
                  <a:srgbClr val="8A9099"/>
                </a:solidFill>
                <a:latin typeface="Calibri" pitchFamily="34" charset="0"/>
                <a:ea typeface="Calibri" pitchFamily="34" charset="-122"/>
                <a:cs typeface="Calibri" pitchFamily="34" charset="-120"/>
              </a:rPr>
              <a:t>Confidential  |  Compliance &amp; Quality  |  June 2026</a:t>
            </a:r>
            <a:endParaRPr lang="en-US" sz="800" dirty="0"/>
          </a:p>
        </p:txBody>
      </p:sp>
      <p:sp>
        <p:nvSpPr>
          <p:cNvPr id="12" name="Text 9"/>
          <p:cNvSpPr/>
          <p:nvPr/>
        </p:nvSpPr>
        <p:spPr>
          <a:xfrm>
            <a:off x="8321040" y="4828032"/>
            <a:ext cx="274320" cy="228600"/>
          </a:xfrm>
          <a:prstGeom prst="rect">
            <a:avLst/>
          </a:prstGeom>
          <a:noFill/>
          <a:ln/>
        </p:spPr>
        <p:txBody>
          <a:bodyPr wrap="square" lIns="0" tIns="0" rIns="0" bIns="0" rtlCol="0" anchor="ctr"/>
          <a:lstStyle/>
          <a:p>
            <a:pPr marL="0" indent="0" algn="r">
              <a:buNone/>
            </a:pPr>
            <a:r>
              <a:rPr lang="en-US" sz="800" dirty="0">
                <a:solidFill>
                  <a:srgbClr val="8A9099"/>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D"/>
        </a:solidFill>
        <a:effectLst/>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marL="0" indent="0">
              <a:buNone/>
            </a:pPr>
            <a:r>
              <a:rPr lang="en-US" sz="1100" b="1" kern="0" spc="300" dirty="0">
                <a:solidFill>
                  <a:srgbClr val="E0922F"/>
                </a:solidFill>
                <a:latin typeface="Trebuchet MS" pitchFamily="34" charset="0"/>
                <a:ea typeface="Trebuchet MS" pitchFamily="34" charset="-122"/>
                <a:cs typeface="Trebuchet MS" pitchFamily="34" charset="-120"/>
              </a:rPr>
              <a:t>COMPONENT OVERVIEW</a:t>
            </a:r>
            <a:endParaRPr lang="en-US" sz="1100" dirty="0"/>
          </a:p>
        </p:txBody>
      </p:sp>
      <p:sp>
        <p:nvSpPr>
          <p:cNvPr id="3" name="Text 1"/>
          <p:cNvSpPr/>
          <p:nvPr/>
        </p:nvSpPr>
        <p:spPr>
          <a:xfrm>
            <a:off x="548640" y="566928"/>
            <a:ext cx="8046720" cy="603504"/>
          </a:xfrm>
          <a:prstGeom prst="rect">
            <a:avLst/>
          </a:prstGeom>
          <a:noFill/>
          <a:ln/>
        </p:spPr>
        <p:txBody>
          <a:bodyPr wrap="square" lIns="0" tIns="0" rIns="0" bIns="0" rtlCol="0" anchor="ctr"/>
          <a:lstStyle/>
          <a:p>
            <a:pPr marL="0" indent="0">
              <a:buNone/>
            </a:pPr>
            <a:r>
              <a:rPr lang="en-US" sz="2700" b="1" dirty="0">
                <a:solidFill>
                  <a:srgbClr val="262A31"/>
                </a:solidFill>
                <a:latin typeface="Trebuchet MS" pitchFamily="34" charset="0"/>
                <a:ea typeface="Trebuchet MS" pitchFamily="34" charset="-122"/>
                <a:cs typeface="Trebuchet MS" pitchFamily="34" charset="-120"/>
              </a:rPr>
              <a:t>Components of greatest concern</a:t>
            </a:r>
            <a:endParaRPr lang="en-US" sz="2700" dirty="0"/>
          </a:p>
        </p:txBody>
      </p:sp>
      <p:sp>
        <p:nvSpPr>
          <p:cNvPr id="4" name="Shape 2"/>
          <p:cNvSpPr/>
          <p:nvPr/>
        </p:nvSpPr>
        <p:spPr>
          <a:xfrm>
            <a:off x="548640" y="1325880"/>
            <a:ext cx="2615184" cy="1371600"/>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5" name="Shape 3"/>
          <p:cNvSpPr/>
          <p:nvPr/>
        </p:nvSpPr>
        <p:spPr>
          <a:xfrm>
            <a:off x="548640" y="1325880"/>
            <a:ext cx="2615184" cy="384048"/>
          </a:xfrm>
          <a:prstGeom prst="rect">
            <a:avLst/>
          </a:prstGeom>
          <a:solidFill>
            <a:srgbClr val="262A31"/>
          </a:solidFill>
          <a:ln/>
        </p:spPr>
        <p:txBody>
          <a:bodyPr/>
          <a:lstStyle/>
          <a:p>
            <a:endParaRPr lang="en-US"/>
          </a:p>
        </p:txBody>
      </p:sp>
      <p:sp>
        <p:nvSpPr>
          <p:cNvPr id="6" name="Text 4"/>
          <p:cNvSpPr/>
          <p:nvPr/>
        </p:nvSpPr>
        <p:spPr>
          <a:xfrm>
            <a:off x="694944" y="1344168"/>
            <a:ext cx="1371600" cy="34747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BIND567</a:t>
            </a:r>
            <a:endParaRPr lang="en-US" sz="1400" dirty="0"/>
          </a:p>
        </p:txBody>
      </p:sp>
      <p:sp>
        <p:nvSpPr>
          <p:cNvPr id="7" name="Text 5"/>
          <p:cNvSpPr/>
          <p:nvPr/>
        </p:nvSpPr>
        <p:spPr>
          <a:xfrm>
            <a:off x="1773936" y="1344168"/>
            <a:ext cx="1188720" cy="347472"/>
          </a:xfrm>
          <a:prstGeom prst="rect">
            <a:avLst/>
          </a:prstGeom>
          <a:noFill/>
          <a:ln/>
        </p:spPr>
        <p:txBody>
          <a:bodyPr wrap="square" lIns="0" tIns="0" rIns="0" bIns="0" rtlCol="0" anchor="ctr"/>
          <a:lstStyle/>
          <a:p>
            <a:pPr marL="0" indent="0" algn="r">
              <a:buNone/>
            </a:pPr>
            <a:r>
              <a:rPr lang="en-US" sz="950" b="1" dirty="0">
                <a:solidFill>
                  <a:srgbClr val="E0922F"/>
                </a:solidFill>
                <a:latin typeface="Trebuchet MS" pitchFamily="34" charset="0"/>
                <a:ea typeface="Trebuchet MS" pitchFamily="34" charset="-122"/>
                <a:cs typeface="Trebuchet MS" pitchFamily="34" charset="-120"/>
              </a:rPr>
              <a:t>99.0% on-time</a:t>
            </a:r>
            <a:endParaRPr lang="en-US" sz="950" dirty="0"/>
          </a:p>
        </p:txBody>
      </p:sp>
      <p:sp>
        <p:nvSpPr>
          <p:cNvPr id="8" name="Text 6"/>
          <p:cNvSpPr/>
          <p:nvPr/>
        </p:nvSpPr>
        <p:spPr>
          <a:xfrm>
            <a:off x="694944" y="1746504"/>
            <a:ext cx="2340864" cy="237744"/>
          </a:xfrm>
          <a:prstGeom prst="rect">
            <a:avLst/>
          </a:prstGeom>
          <a:noFill/>
          <a:ln/>
        </p:spPr>
        <p:txBody>
          <a:bodyPr wrap="square" lIns="0" tIns="0" rIns="0" bIns="0" rtlCol="0" anchor="ctr"/>
          <a:lstStyle/>
          <a:p>
            <a:pPr marL="0" indent="0">
              <a:buNone/>
            </a:pPr>
            <a:r>
              <a:rPr lang="en-US" sz="1000" b="1" dirty="0">
                <a:solidFill>
                  <a:srgbClr val="3C424C"/>
                </a:solidFill>
                <a:latin typeface="Calibri" pitchFamily="34" charset="0"/>
                <a:ea typeface="Calibri" pitchFamily="34" charset="-122"/>
                <a:cs typeface="Calibri" pitchFamily="34" charset="-120"/>
              </a:rPr>
              <a:t>EcoSupply</a:t>
            </a:r>
            <a:r>
              <a:rPr lang="en-US" sz="1000" dirty="0">
                <a:solidFill>
                  <a:srgbClr val="8A9099"/>
                </a:solidFill>
                <a:latin typeface="Calibri" pitchFamily="34" charset="0"/>
                <a:ea typeface="Calibri" pitchFamily="34" charset="-122"/>
                <a:cs typeface="Calibri" pitchFamily="34" charset="-120"/>
              </a:rPr>
              <a:t>   ·   Medium risk</a:t>
            </a:r>
            <a:endParaRPr lang="en-US" sz="1000" dirty="0"/>
          </a:p>
        </p:txBody>
      </p:sp>
      <p:sp>
        <p:nvSpPr>
          <p:cNvPr id="9" name="Text 7"/>
          <p:cNvSpPr/>
          <p:nvPr/>
        </p:nvSpPr>
        <p:spPr>
          <a:xfrm>
            <a:off x="694944" y="1984248"/>
            <a:ext cx="2340864" cy="658368"/>
          </a:xfrm>
          <a:prstGeom prst="rect">
            <a:avLst/>
          </a:prstGeom>
          <a:noFill/>
          <a:ln/>
        </p:spPr>
        <p:txBody>
          <a:bodyPr wrap="square" lIns="0" tIns="0" rIns="0" bIns="0" rtlCol="0" anchor="ctr"/>
          <a:lstStyle/>
          <a:p>
            <a:pPr marL="0" indent="0">
              <a:buNone/>
            </a:pPr>
            <a:r>
              <a:rPr lang="en-US" sz="1000" dirty="0">
                <a:solidFill>
                  <a:srgbClr val="434851"/>
                </a:solidFill>
                <a:latin typeface="Calibri" pitchFamily="34" charset="0"/>
                <a:ea typeface="Calibri" pitchFamily="34" charset="-122"/>
                <a:cs typeface="Calibri" pitchFamily="34" charset="-120"/>
              </a:rPr>
              <a:t>Confirmed delay near critical production deadlines; part of a recurring delay pattern.</a:t>
            </a:r>
            <a:endParaRPr lang="en-US" sz="1000" dirty="0"/>
          </a:p>
        </p:txBody>
      </p:sp>
      <p:sp>
        <p:nvSpPr>
          <p:cNvPr id="10" name="Shape 8"/>
          <p:cNvSpPr/>
          <p:nvPr/>
        </p:nvSpPr>
        <p:spPr>
          <a:xfrm>
            <a:off x="3447288" y="1325880"/>
            <a:ext cx="2615184" cy="1371600"/>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11" name="Shape 9"/>
          <p:cNvSpPr/>
          <p:nvPr/>
        </p:nvSpPr>
        <p:spPr>
          <a:xfrm>
            <a:off x="3447288" y="1325880"/>
            <a:ext cx="2615184" cy="384048"/>
          </a:xfrm>
          <a:prstGeom prst="rect">
            <a:avLst/>
          </a:prstGeom>
          <a:solidFill>
            <a:srgbClr val="262A31"/>
          </a:solidFill>
          <a:ln/>
        </p:spPr>
        <p:txBody>
          <a:bodyPr/>
          <a:lstStyle/>
          <a:p>
            <a:endParaRPr lang="en-US"/>
          </a:p>
        </p:txBody>
      </p:sp>
      <p:sp>
        <p:nvSpPr>
          <p:cNvPr id="12" name="Text 10"/>
          <p:cNvSpPr/>
          <p:nvPr/>
        </p:nvSpPr>
        <p:spPr>
          <a:xfrm>
            <a:off x="3593592" y="1344168"/>
            <a:ext cx="1371600" cy="34747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CARB123</a:t>
            </a:r>
            <a:endParaRPr lang="en-US" sz="1400" dirty="0"/>
          </a:p>
        </p:txBody>
      </p:sp>
      <p:sp>
        <p:nvSpPr>
          <p:cNvPr id="13" name="Text 11"/>
          <p:cNvSpPr/>
          <p:nvPr/>
        </p:nvSpPr>
        <p:spPr>
          <a:xfrm>
            <a:off x="4672584" y="1344168"/>
            <a:ext cx="1188720" cy="347472"/>
          </a:xfrm>
          <a:prstGeom prst="rect">
            <a:avLst/>
          </a:prstGeom>
          <a:noFill/>
          <a:ln/>
        </p:spPr>
        <p:txBody>
          <a:bodyPr wrap="square" lIns="0" tIns="0" rIns="0" bIns="0" rtlCol="0" anchor="ctr"/>
          <a:lstStyle/>
          <a:p>
            <a:pPr marL="0" indent="0" algn="r">
              <a:buNone/>
            </a:pPr>
            <a:r>
              <a:rPr lang="en-US" sz="950" b="1" dirty="0">
                <a:solidFill>
                  <a:srgbClr val="E0922F"/>
                </a:solidFill>
                <a:latin typeface="Trebuchet MS" pitchFamily="34" charset="0"/>
                <a:ea typeface="Trebuchet MS" pitchFamily="34" charset="-122"/>
                <a:cs typeface="Trebuchet MS" pitchFamily="34" charset="-120"/>
              </a:rPr>
              <a:t>90.3% on-time</a:t>
            </a:r>
            <a:endParaRPr lang="en-US" sz="950" dirty="0"/>
          </a:p>
        </p:txBody>
      </p:sp>
      <p:sp>
        <p:nvSpPr>
          <p:cNvPr id="14" name="Text 12"/>
          <p:cNvSpPr/>
          <p:nvPr/>
        </p:nvSpPr>
        <p:spPr>
          <a:xfrm>
            <a:off x="3593592" y="1746504"/>
            <a:ext cx="2340864" cy="237744"/>
          </a:xfrm>
          <a:prstGeom prst="rect">
            <a:avLst/>
          </a:prstGeom>
          <a:noFill/>
          <a:ln/>
        </p:spPr>
        <p:txBody>
          <a:bodyPr wrap="square" lIns="0" tIns="0" rIns="0" bIns="0" rtlCol="0" anchor="ctr"/>
          <a:lstStyle/>
          <a:p>
            <a:pPr marL="0" indent="0">
              <a:buNone/>
            </a:pPr>
            <a:r>
              <a:rPr lang="en-US" sz="1000" b="1" dirty="0">
                <a:solidFill>
                  <a:srgbClr val="3C424C"/>
                </a:solidFill>
                <a:latin typeface="Calibri" pitchFamily="34" charset="0"/>
                <a:ea typeface="Calibri" pitchFamily="34" charset="-122"/>
                <a:cs typeface="Calibri" pitchFamily="34" charset="-120"/>
              </a:rPr>
              <a:t>RawMatPlus</a:t>
            </a:r>
            <a:r>
              <a:rPr lang="en-US" sz="1000" dirty="0">
                <a:solidFill>
                  <a:srgbClr val="8A9099"/>
                </a:solidFill>
                <a:latin typeface="Calibri" pitchFamily="34" charset="0"/>
                <a:ea typeface="Calibri" pitchFamily="34" charset="-122"/>
                <a:cs typeface="Calibri" pitchFamily="34" charset="-120"/>
              </a:rPr>
              <a:t>   ·   Variable risk</a:t>
            </a:r>
            <a:endParaRPr lang="en-US" sz="1000" dirty="0"/>
          </a:p>
        </p:txBody>
      </p:sp>
      <p:sp>
        <p:nvSpPr>
          <p:cNvPr id="15" name="Text 13"/>
          <p:cNvSpPr/>
          <p:nvPr/>
        </p:nvSpPr>
        <p:spPr>
          <a:xfrm>
            <a:off x="3593592" y="1984248"/>
            <a:ext cx="2340864" cy="658368"/>
          </a:xfrm>
          <a:prstGeom prst="rect">
            <a:avLst/>
          </a:prstGeom>
          <a:noFill/>
          <a:ln/>
        </p:spPr>
        <p:txBody>
          <a:bodyPr wrap="square" lIns="0" tIns="0" rIns="0" bIns="0" rtlCol="0" anchor="ctr"/>
          <a:lstStyle/>
          <a:p>
            <a:pPr marL="0" indent="0">
              <a:buNone/>
            </a:pPr>
            <a:r>
              <a:rPr lang="en-US" sz="1000" dirty="0">
                <a:solidFill>
                  <a:srgbClr val="434851"/>
                </a:solidFill>
                <a:latin typeface="Calibri" pitchFamily="34" charset="0"/>
                <a:ea typeface="Calibri" pitchFamily="34" charset="-122"/>
                <a:cs typeface="Calibri" pitchFamily="34" charset="-120"/>
              </a:rPr>
              <a:t>Inconsistent delivery behaviour across risk categories depending on sourcing and planning.</a:t>
            </a:r>
            <a:endParaRPr lang="en-US" sz="1000" dirty="0"/>
          </a:p>
        </p:txBody>
      </p:sp>
      <p:sp>
        <p:nvSpPr>
          <p:cNvPr id="16" name="Shape 14"/>
          <p:cNvSpPr/>
          <p:nvPr/>
        </p:nvSpPr>
        <p:spPr>
          <a:xfrm>
            <a:off x="6345936" y="1325880"/>
            <a:ext cx="2615184" cy="1371600"/>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17" name="Shape 15"/>
          <p:cNvSpPr/>
          <p:nvPr/>
        </p:nvSpPr>
        <p:spPr>
          <a:xfrm>
            <a:off x="6345936" y="1325880"/>
            <a:ext cx="2615184" cy="384048"/>
          </a:xfrm>
          <a:prstGeom prst="rect">
            <a:avLst/>
          </a:prstGeom>
          <a:solidFill>
            <a:srgbClr val="262A31"/>
          </a:solidFill>
          <a:ln/>
        </p:spPr>
        <p:txBody>
          <a:bodyPr/>
          <a:lstStyle/>
          <a:p>
            <a:endParaRPr lang="en-US"/>
          </a:p>
        </p:txBody>
      </p:sp>
      <p:sp>
        <p:nvSpPr>
          <p:cNvPr id="18" name="Text 16"/>
          <p:cNvSpPr/>
          <p:nvPr/>
        </p:nvSpPr>
        <p:spPr>
          <a:xfrm>
            <a:off x="6492240" y="1344168"/>
            <a:ext cx="1371600" cy="34747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COAT890</a:t>
            </a:r>
            <a:endParaRPr lang="en-US" sz="1400" dirty="0"/>
          </a:p>
        </p:txBody>
      </p:sp>
      <p:sp>
        <p:nvSpPr>
          <p:cNvPr id="19" name="Text 17"/>
          <p:cNvSpPr/>
          <p:nvPr/>
        </p:nvSpPr>
        <p:spPr>
          <a:xfrm>
            <a:off x="7571232" y="1344168"/>
            <a:ext cx="1188720" cy="347472"/>
          </a:xfrm>
          <a:prstGeom prst="rect">
            <a:avLst/>
          </a:prstGeom>
          <a:noFill/>
          <a:ln/>
        </p:spPr>
        <p:txBody>
          <a:bodyPr wrap="square" lIns="0" tIns="0" rIns="0" bIns="0" rtlCol="0" anchor="ctr"/>
          <a:lstStyle/>
          <a:p>
            <a:pPr marL="0" indent="0" algn="r">
              <a:buNone/>
            </a:pPr>
            <a:r>
              <a:rPr lang="en-US" sz="950" b="1" dirty="0">
                <a:solidFill>
                  <a:srgbClr val="E0922F"/>
                </a:solidFill>
                <a:latin typeface="Trebuchet MS" pitchFamily="34" charset="0"/>
                <a:ea typeface="Trebuchet MS" pitchFamily="34" charset="-122"/>
                <a:cs typeface="Trebuchet MS" pitchFamily="34" charset="-120"/>
              </a:rPr>
              <a:t>84.2% on-time</a:t>
            </a:r>
            <a:endParaRPr lang="en-US" sz="950" dirty="0"/>
          </a:p>
        </p:txBody>
      </p:sp>
      <p:sp>
        <p:nvSpPr>
          <p:cNvPr id="20" name="Text 18"/>
          <p:cNvSpPr/>
          <p:nvPr/>
        </p:nvSpPr>
        <p:spPr>
          <a:xfrm>
            <a:off x="6492240" y="1746504"/>
            <a:ext cx="2340864" cy="237744"/>
          </a:xfrm>
          <a:prstGeom prst="rect">
            <a:avLst/>
          </a:prstGeom>
          <a:noFill/>
          <a:ln/>
        </p:spPr>
        <p:txBody>
          <a:bodyPr wrap="square" lIns="0" tIns="0" rIns="0" bIns="0" rtlCol="0" anchor="ctr"/>
          <a:lstStyle/>
          <a:p>
            <a:pPr marL="0" indent="0">
              <a:buNone/>
            </a:pPr>
            <a:r>
              <a:rPr lang="en-US" sz="1000" b="1" dirty="0">
                <a:solidFill>
                  <a:srgbClr val="3C424C"/>
                </a:solidFill>
                <a:latin typeface="Calibri" pitchFamily="34" charset="0"/>
                <a:ea typeface="Calibri" pitchFamily="34" charset="-122"/>
                <a:cs typeface="Calibri" pitchFamily="34" charset="-120"/>
              </a:rPr>
              <a:t>GlobalChem</a:t>
            </a:r>
            <a:r>
              <a:rPr lang="en-US" sz="1000" dirty="0">
                <a:solidFill>
                  <a:srgbClr val="8A9099"/>
                </a:solidFill>
                <a:latin typeface="Calibri" pitchFamily="34" charset="0"/>
                <a:ea typeface="Calibri" pitchFamily="34" charset="-122"/>
                <a:cs typeface="Calibri" pitchFamily="34" charset="-120"/>
              </a:rPr>
              <a:t>   ·   Medium risk</a:t>
            </a:r>
            <a:endParaRPr lang="en-US" sz="1000" dirty="0"/>
          </a:p>
        </p:txBody>
      </p:sp>
      <p:sp>
        <p:nvSpPr>
          <p:cNvPr id="21" name="Text 19"/>
          <p:cNvSpPr/>
          <p:nvPr/>
        </p:nvSpPr>
        <p:spPr>
          <a:xfrm>
            <a:off x="6492240" y="1984248"/>
            <a:ext cx="2340864" cy="658368"/>
          </a:xfrm>
          <a:prstGeom prst="rect">
            <a:avLst/>
          </a:prstGeom>
          <a:noFill/>
          <a:ln/>
        </p:spPr>
        <p:txBody>
          <a:bodyPr wrap="square" lIns="0" tIns="0" rIns="0" bIns="0" rtlCol="0" anchor="ctr"/>
          <a:lstStyle/>
          <a:p>
            <a:pPr marL="0" indent="0">
              <a:buNone/>
            </a:pPr>
            <a:r>
              <a:rPr lang="en-US" sz="1000" dirty="0">
                <a:solidFill>
                  <a:srgbClr val="434851"/>
                </a:solidFill>
                <a:latin typeface="Calibri" pitchFamily="34" charset="0"/>
                <a:ea typeface="Calibri" pitchFamily="34" charset="-122"/>
                <a:cs typeface="Calibri" pitchFamily="34" charset="-120"/>
              </a:rPr>
              <a:t>Weakest on-time performer among delayed parts; higher risk of planning disruption.</a:t>
            </a:r>
            <a:endParaRPr lang="en-US" sz="1000" dirty="0"/>
          </a:p>
        </p:txBody>
      </p:sp>
      <p:sp>
        <p:nvSpPr>
          <p:cNvPr id="22" name="Shape 20"/>
          <p:cNvSpPr/>
          <p:nvPr/>
        </p:nvSpPr>
        <p:spPr>
          <a:xfrm>
            <a:off x="1627632" y="2898648"/>
            <a:ext cx="2615184" cy="1371600"/>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23" name="Shape 21"/>
          <p:cNvSpPr/>
          <p:nvPr/>
        </p:nvSpPr>
        <p:spPr>
          <a:xfrm>
            <a:off x="1627632" y="2898648"/>
            <a:ext cx="2615184" cy="384048"/>
          </a:xfrm>
          <a:prstGeom prst="rect">
            <a:avLst/>
          </a:prstGeom>
          <a:solidFill>
            <a:srgbClr val="262A31"/>
          </a:solidFill>
          <a:ln/>
        </p:spPr>
        <p:txBody>
          <a:bodyPr/>
          <a:lstStyle/>
          <a:p>
            <a:endParaRPr lang="en-US"/>
          </a:p>
        </p:txBody>
      </p:sp>
      <p:sp>
        <p:nvSpPr>
          <p:cNvPr id="24" name="Text 22"/>
          <p:cNvSpPr/>
          <p:nvPr/>
        </p:nvSpPr>
        <p:spPr>
          <a:xfrm>
            <a:off x="1773936" y="2916936"/>
            <a:ext cx="1371600" cy="34747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COMP042</a:t>
            </a:r>
            <a:endParaRPr lang="en-US" sz="1400" dirty="0"/>
          </a:p>
        </p:txBody>
      </p:sp>
      <p:sp>
        <p:nvSpPr>
          <p:cNvPr id="25" name="Text 23"/>
          <p:cNvSpPr/>
          <p:nvPr/>
        </p:nvSpPr>
        <p:spPr>
          <a:xfrm>
            <a:off x="2852928" y="2916936"/>
            <a:ext cx="1188720" cy="347472"/>
          </a:xfrm>
          <a:prstGeom prst="rect">
            <a:avLst/>
          </a:prstGeom>
          <a:noFill/>
          <a:ln/>
        </p:spPr>
        <p:txBody>
          <a:bodyPr wrap="square" lIns="0" tIns="0" rIns="0" bIns="0" rtlCol="0" anchor="ctr"/>
          <a:lstStyle/>
          <a:p>
            <a:pPr marL="0" indent="0" algn="r">
              <a:buNone/>
            </a:pPr>
            <a:r>
              <a:rPr lang="en-US" sz="950" b="1" dirty="0">
                <a:solidFill>
                  <a:srgbClr val="E0922F"/>
                </a:solidFill>
                <a:latin typeface="Trebuchet MS" pitchFamily="34" charset="0"/>
                <a:ea typeface="Trebuchet MS" pitchFamily="34" charset="-122"/>
                <a:cs typeface="Trebuchet MS" pitchFamily="34" charset="-120"/>
              </a:rPr>
              <a:t>Lead-time risk</a:t>
            </a:r>
            <a:endParaRPr lang="en-US" sz="950" dirty="0"/>
          </a:p>
        </p:txBody>
      </p:sp>
      <p:sp>
        <p:nvSpPr>
          <p:cNvPr id="26" name="Text 24"/>
          <p:cNvSpPr/>
          <p:nvPr/>
        </p:nvSpPr>
        <p:spPr>
          <a:xfrm>
            <a:off x="1773936" y="3319272"/>
            <a:ext cx="2340864" cy="237744"/>
          </a:xfrm>
          <a:prstGeom prst="rect">
            <a:avLst/>
          </a:prstGeom>
          <a:noFill/>
          <a:ln/>
        </p:spPr>
        <p:txBody>
          <a:bodyPr wrap="square" lIns="0" tIns="0" rIns="0" bIns="0" rtlCol="0" anchor="ctr"/>
          <a:lstStyle/>
          <a:p>
            <a:pPr marL="0" indent="0">
              <a:buNone/>
            </a:pPr>
            <a:r>
              <a:rPr lang="en-US" sz="1000" b="1" dirty="0">
                <a:solidFill>
                  <a:srgbClr val="3C424C"/>
                </a:solidFill>
                <a:latin typeface="Calibri" pitchFamily="34" charset="0"/>
                <a:ea typeface="Calibri" pitchFamily="34" charset="-122"/>
                <a:cs typeface="Calibri" pitchFamily="34" charset="-120"/>
              </a:rPr>
              <a:t>PrimeLogistics</a:t>
            </a:r>
            <a:r>
              <a:rPr lang="en-US" sz="1000" dirty="0">
                <a:solidFill>
                  <a:srgbClr val="8A9099"/>
                </a:solidFill>
                <a:latin typeface="Calibri" pitchFamily="34" charset="0"/>
                <a:ea typeface="Calibri" pitchFamily="34" charset="-122"/>
                <a:cs typeface="Calibri" pitchFamily="34" charset="-120"/>
              </a:rPr>
              <a:t>   ·   Medium risk</a:t>
            </a:r>
            <a:endParaRPr lang="en-US" sz="1000" dirty="0"/>
          </a:p>
        </p:txBody>
      </p:sp>
      <p:sp>
        <p:nvSpPr>
          <p:cNvPr id="27" name="Text 25"/>
          <p:cNvSpPr/>
          <p:nvPr/>
        </p:nvSpPr>
        <p:spPr>
          <a:xfrm>
            <a:off x="1773936" y="3557016"/>
            <a:ext cx="2340864" cy="658368"/>
          </a:xfrm>
          <a:prstGeom prst="rect">
            <a:avLst/>
          </a:prstGeom>
          <a:noFill/>
          <a:ln/>
        </p:spPr>
        <p:txBody>
          <a:bodyPr wrap="square" lIns="0" tIns="0" rIns="0" bIns="0" rtlCol="0" anchor="ctr"/>
          <a:lstStyle/>
          <a:p>
            <a:pPr marL="0" indent="0">
              <a:buNone/>
            </a:pPr>
            <a:r>
              <a:rPr lang="en-US" sz="1000" dirty="0">
                <a:solidFill>
                  <a:srgbClr val="434851"/>
                </a:solidFill>
                <a:latin typeface="Calibri" pitchFamily="34" charset="0"/>
                <a:ea typeface="Calibri" pitchFamily="34" charset="-122"/>
                <a:cs typeface="Calibri" pitchFamily="34" charset="-120"/>
              </a:rPr>
              <a:t>Lead-time variance and elevated planning uncertainty; a 13-day timeline exceeds thresholds.</a:t>
            </a:r>
            <a:endParaRPr lang="en-US" sz="1000" dirty="0"/>
          </a:p>
        </p:txBody>
      </p:sp>
      <p:sp>
        <p:nvSpPr>
          <p:cNvPr id="28" name="Shape 26"/>
          <p:cNvSpPr/>
          <p:nvPr/>
        </p:nvSpPr>
        <p:spPr>
          <a:xfrm>
            <a:off x="4526280" y="2898648"/>
            <a:ext cx="2615184" cy="1371600"/>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29" name="Shape 27"/>
          <p:cNvSpPr/>
          <p:nvPr/>
        </p:nvSpPr>
        <p:spPr>
          <a:xfrm>
            <a:off x="4526280" y="2898648"/>
            <a:ext cx="2615184" cy="384048"/>
          </a:xfrm>
          <a:prstGeom prst="rect">
            <a:avLst/>
          </a:prstGeom>
          <a:solidFill>
            <a:srgbClr val="262A31"/>
          </a:solidFill>
          <a:ln/>
        </p:spPr>
        <p:txBody>
          <a:bodyPr/>
          <a:lstStyle/>
          <a:p>
            <a:endParaRPr lang="en-US"/>
          </a:p>
        </p:txBody>
      </p:sp>
      <p:sp>
        <p:nvSpPr>
          <p:cNvPr id="30" name="Text 28"/>
          <p:cNvSpPr/>
          <p:nvPr/>
        </p:nvSpPr>
        <p:spPr>
          <a:xfrm>
            <a:off x="4672584" y="2916936"/>
            <a:ext cx="1371600" cy="34747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COMP043</a:t>
            </a:r>
            <a:endParaRPr lang="en-US" sz="1400" dirty="0"/>
          </a:p>
        </p:txBody>
      </p:sp>
      <p:sp>
        <p:nvSpPr>
          <p:cNvPr id="31" name="Text 29"/>
          <p:cNvSpPr/>
          <p:nvPr/>
        </p:nvSpPr>
        <p:spPr>
          <a:xfrm>
            <a:off x="5751576" y="2916936"/>
            <a:ext cx="1188720" cy="347472"/>
          </a:xfrm>
          <a:prstGeom prst="rect">
            <a:avLst/>
          </a:prstGeom>
          <a:noFill/>
          <a:ln/>
        </p:spPr>
        <p:txBody>
          <a:bodyPr wrap="square" lIns="0" tIns="0" rIns="0" bIns="0" rtlCol="0" anchor="ctr"/>
          <a:lstStyle/>
          <a:p>
            <a:pPr marL="0" indent="0" algn="r">
              <a:buNone/>
            </a:pPr>
            <a:r>
              <a:rPr lang="en-US" sz="950" b="1" dirty="0">
                <a:solidFill>
                  <a:srgbClr val="E0922F"/>
                </a:solidFill>
                <a:latin typeface="Trebuchet MS" pitchFamily="34" charset="0"/>
                <a:ea typeface="Trebuchet MS" pitchFamily="34" charset="-122"/>
                <a:cs typeface="Trebuchet MS" pitchFamily="34" charset="-120"/>
              </a:rPr>
              <a:t>Forecast risk</a:t>
            </a:r>
            <a:endParaRPr lang="en-US" sz="950" dirty="0"/>
          </a:p>
        </p:txBody>
      </p:sp>
      <p:sp>
        <p:nvSpPr>
          <p:cNvPr id="32" name="Text 30"/>
          <p:cNvSpPr/>
          <p:nvPr/>
        </p:nvSpPr>
        <p:spPr>
          <a:xfrm>
            <a:off x="4672584" y="3319272"/>
            <a:ext cx="2340864" cy="237744"/>
          </a:xfrm>
          <a:prstGeom prst="rect">
            <a:avLst/>
          </a:prstGeom>
          <a:noFill/>
          <a:ln/>
        </p:spPr>
        <p:txBody>
          <a:bodyPr wrap="square" lIns="0" tIns="0" rIns="0" bIns="0" rtlCol="0" anchor="ctr"/>
          <a:lstStyle/>
          <a:p>
            <a:pPr marL="0" indent="0">
              <a:buNone/>
            </a:pPr>
            <a:r>
              <a:rPr lang="en-US" sz="1000" b="1" dirty="0">
                <a:solidFill>
                  <a:srgbClr val="3C424C"/>
                </a:solidFill>
                <a:latin typeface="Calibri" pitchFamily="34" charset="0"/>
                <a:ea typeface="Calibri" pitchFamily="34" charset="-122"/>
                <a:cs typeface="Calibri" pitchFamily="34" charset="-120"/>
              </a:rPr>
              <a:t>NextGen Pharma</a:t>
            </a:r>
            <a:r>
              <a:rPr lang="en-US" sz="1000" dirty="0">
                <a:solidFill>
                  <a:srgbClr val="8A9099"/>
                </a:solidFill>
                <a:latin typeface="Calibri" pitchFamily="34" charset="0"/>
                <a:ea typeface="Calibri" pitchFamily="34" charset="-122"/>
                <a:cs typeface="Calibri" pitchFamily="34" charset="-120"/>
              </a:rPr>
              <a:t>   ·   Medium risk</a:t>
            </a:r>
            <a:endParaRPr lang="en-US" sz="1000" dirty="0"/>
          </a:p>
        </p:txBody>
      </p:sp>
      <p:sp>
        <p:nvSpPr>
          <p:cNvPr id="33" name="Text 31"/>
          <p:cNvSpPr/>
          <p:nvPr/>
        </p:nvSpPr>
        <p:spPr>
          <a:xfrm>
            <a:off x="4672584" y="3557016"/>
            <a:ext cx="2340864" cy="658368"/>
          </a:xfrm>
          <a:prstGeom prst="rect">
            <a:avLst/>
          </a:prstGeom>
          <a:noFill/>
          <a:ln/>
        </p:spPr>
        <p:txBody>
          <a:bodyPr wrap="square" lIns="0" tIns="0" rIns="0" bIns="0" rtlCol="0" anchor="ctr"/>
          <a:lstStyle/>
          <a:p>
            <a:pPr marL="0" indent="0">
              <a:buNone/>
            </a:pPr>
            <a:r>
              <a:rPr lang="en-US" sz="1000" dirty="0">
                <a:solidFill>
                  <a:srgbClr val="434851"/>
                </a:solidFill>
                <a:latin typeface="Calibri" pitchFamily="34" charset="0"/>
                <a:ea typeface="Calibri" pitchFamily="34" charset="-122"/>
                <a:cs typeface="Calibri" pitchFamily="34" charset="-120"/>
              </a:rPr>
              <a:t>Forecasting inaccuracy and inventory misalignment threaten consistent regulated supply.</a:t>
            </a:r>
            <a:endParaRPr lang="en-US" sz="1000" dirty="0"/>
          </a:p>
        </p:txBody>
      </p:sp>
      <p:sp>
        <p:nvSpPr>
          <p:cNvPr id="34" name="Text 32"/>
          <p:cNvSpPr/>
          <p:nvPr/>
        </p:nvSpPr>
        <p:spPr>
          <a:xfrm>
            <a:off x="548640" y="4828032"/>
            <a:ext cx="5486400" cy="228600"/>
          </a:xfrm>
          <a:prstGeom prst="rect">
            <a:avLst/>
          </a:prstGeom>
          <a:noFill/>
          <a:ln/>
        </p:spPr>
        <p:txBody>
          <a:bodyPr wrap="square" lIns="0" tIns="0" rIns="0" bIns="0" rtlCol="0" anchor="ctr"/>
          <a:lstStyle/>
          <a:p>
            <a:pPr marL="0" indent="0">
              <a:buNone/>
            </a:pPr>
            <a:r>
              <a:rPr lang="en-US" sz="800" dirty="0">
                <a:solidFill>
                  <a:srgbClr val="8A9099"/>
                </a:solidFill>
                <a:latin typeface="Calibri" pitchFamily="34" charset="0"/>
                <a:ea typeface="Calibri" pitchFamily="34" charset="-122"/>
                <a:cs typeface="Calibri" pitchFamily="34" charset="-120"/>
              </a:rPr>
              <a:t>Supply Chain Issue Compliance Report</a:t>
            </a:r>
            <a:endParaRPr lang="en-US" sz="800" dirty="0"/>
          </a:p>
        </p:txBody>
      </p:sp>
      <p:sp>
        <p:nvSpPr>
          <p:cNvPr id="35" name="Text 33"/>
          <p:cNvSpPr/>
          <p:nvPr/>
        </p:nvSpPr>
        <p:spPr>
          <a:xfrm>
            <a:off x="5486400" y="4828032"/>
            <a:ext cx="2743200" cy="228600"/>
          </a:xfrm>
          <a:prstGeom prst="rect">
            <a:avLst/>
          </a:prstGeom>
          <a:noFill/>
          <a:ln/>
        </p:spPr>
        <p:txBody>
          <a:bodyPr wrap="square" lIns="0" tIns="0" rIns="0" bIns="0" rtlCol="0" anchor="ctr"/>
          <a:lstStyle/>
          <a:p>
            <a:pPr marL="0" indent="0" algn="r">
              <a:buNone/>
            </a:pPr>
            <a:r>
              <a:rPr lang="en-US" sz="800" dirty="0">
                <a:solidFill>
                  <a:srgbClr val="8A9099"/>
                </a:solidFill>
                <a:latin typeface="Calibri" pitchFamily="34" charset="0"/>
                <a:ea typeface="Calibri" pitchFamily="34" charset="-122"/>
                <a:cs typeface="Calibri" pitchFamily="34" charset="-120"/>
              </a:rPr>
              <a:t>Confidential  |  Compliance &amp; Quality  |  June 2026</a:t>
            </a:r>
            <a:endParaRPr lang="en-US" sz="800" dirty="0"/>
          </a:p>
        </p:txBody>
      </p:sp>
      <p:sp>
        <p:nvSpPr>
          <p:cNvPr id="36" name="Text 34"/>
          <p:cNvSpPr/>
          <p:nvPr/>
        </p:nvSpPr>
        <p:spPr>
          <a:xfrm>
            <a:off x="8321040" y="4828032"/>
            <a:ext cx="274320" cy="228600"/>
          </a:xfrm>
          <a:prstGeom prst="rect">
            <a:avLst/>
          </a:prstGeom>
          <a:noFill/>
          <a:ln/>
        </p:spPr>
        <p:txBody>
          <a:bodyPr wrap="square" lIns="0" tIns="0" rIns="0" bIns="0" rtlCol="0" anchor="ctr"/>
          <a:lstStyle/>
          <a:p>
            <a:pPr marL="0" indent="0" algn="r">
              <a:buNone/>
            </a:pPr>
            <a:r>
              <a:rPr lang="en-US" sz="800" dirty="0">
                <a:solidFill>
                  <a:srgbClr val="8A9099"/>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D"/>
        </a:solidFill>
        <a:effectLst/>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marL="0" indent="0">
              <a:buNone/>
            </a:pPr>
            <a:r>
              <a:rPr lang="en-US" sz="1100" b="1" kern="0" spc="300" dirty="0">
                <a:solidFill>
                  <a:srgbClr val="E0922F"/>
                </a:solidFill>
                <a:latin typeface="Trebuchet MS" pitchFamily="34" charset="0"/>
                <a:ea typeface="Trebuchet MS" pitchFamily="34" charset="-122"/>
                <a:cs typeface="Trebuchet MS" pitchFamily="34" charset="-120"/>
              </a:rPr>
              <a:t>SUPPLIER PERFORMANCE</a:t>
            </a:r>
            <a:endParaRPr lang="en-US" sz="1100" dirty="0"/>
          </a:p>
        </p:txBody>
      </p:sp>
      <p:sp>
        <p:nvSpPr>
          <p:cNvPr id="3" name="Text 1"/>
          <p:cNvSpPr/>
          <p:nvPr/>
        </p:nvSpPr>
        <p:spPr>
          <a:xfrm>
            <a:off x="548640" y="566928"/>
            <a:ext cx="8046720" cy="603504"/>
          </a:xfrm>
          <a:prstGeom prst="rect">
            <a:avLst/>
          </a:prstGeom>
          <a:noFill/>
          <a:ln/>
        </p:spPr>
        <p:txBody>
          <a:bodyPr wrap="square" lIns="0" tIns="0" rIns="0" bIns="0" rtlCol="0" anchor="ctr"/>
          <a:lstStyle/>
          <a:p>
            <a:pPr marL="0" indent="0">
              <a:buNone/>
            </a:pPr>
            <a:r>
              <a:rPr lang="en-US" sz="2700" b="1" dirty="0">
                <a:solidFill>
                  <a:srgbClr val="262A31"/>
                </a:solidFill>
                <a:latin typeface="Trebuchet MS" pitchFamily="34" charset="0"/>
                <a:ea typeface="Trebuchet MS" pitchFamily="34" charset="-122"/>
                <a:cs typeface="Trebuchet MS" pitchFamily="34" charset="-120"/>
              </a:rPr>
              <a:t>Supplier performance breakdown</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21808" cy="2468880"/>
        </p:xfrm>
        <a:graphic>
          <a:graphicData uri="http://schemas.openxmlformats.org/drawingml/2006/table">
            <a:tbl>
              <a:tblPr/>
              <a:tblGrid>
                <a:gridCol w="1481328">
                  <a:extLst>
                    <a:ext uri="{9D8B030D-6E8A-4147-A177-3AD203B41FA5}">
                      <a16:colId xmlns:a16="http://schemas.microsoft.com/office/drawing/2014/main" val="20000"/>
                    </a:ext>
                  </a:extLst>
                </a:gridCol>
                <a:gridCol w="603504">
                  <a:extLst>
                    <a:ext uri="{9D8B030D-6E8A-4147-A177-3AD203B41FA5}">
                      <a16:colId xmlns:a16="http://schemas.microsoft.com/office/drawing/2014/main" val="20001"/>
                    </a:ext>
                  </a:extLst>
                </a:gridCol>
                <a:gridCol w="877824">
                  <a:extLst>
                    <a:ext uri="{9D8B030D-6E8A-4147-A177-3AD203B41FA5}">
                      <a16:colId xmlns:a16="http://schemas.microsoft.com/office/drawing/2014/main" val="20002"/>
                    </a:ext>
                  </a:extLst>
                </a:gridCol>
                <a:gridCol w="841248">
                  <a:extLst>
                    <a:ext uri="{9D8B030D-6E8A-4147-A177-3AD203B41FA5}">
                      <a16:colId xmlns:a16="http://schemas.microsoft.com/office/drawing/2014/main" val="20003"/>
                    </a:ext>
                  </a:extLst>
                </a:gridCol>
                <a:gridCol w="786384">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tblGrid>
              <a:tr h="365760">
                <a:tc>
                  <a:txBody>
                    <a:bodyP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Supplier</a:t>
                      </a:r>
                      <a:endParaRPr lang="en-US" sz="950" dirty="0">
                        <a:latin typeface="Trebuchet MS" charset="0"/>
                        <a:ea typeface="Trebuchet MS" charset="0"/>
                        <a:cs typeface="Trebuchet MS"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262A31"/>
                    </a:solidFill>
                  </a:tcPr>
                </a:tc>
                <a:tc>
                  <a:txBody>
                    <a:bodyP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Recs</a:t>
                      </a:r>
                      <a:endParaRPr lang="en-US" sz="950" dirty="0">
                        <a:latin typeface="Trebuchet MS" charset="0"/>
                        <a:ea typeface="Trebuchet MS" charset="0"/>
                        <a:cs typeface="Trebuchet MS"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262A31"/>
                    </a:solidFill>
                  </a:tcPr>
                </a:tc>
                <a:tc>
                  <a:txBody>
                    <a:bodyP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Avg Days</a:t>
                      </a:r>
                      <a:endParaRPr lang="en-US" sz="950" dirty="0">
                        <a:latin typeface="Trebuchet MS" charset="0"/>
                        <a:ea typeface="Trebuchet MS" charset="0"/>
                        <a:cs typeface="Trebuchet MS"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262A31"/>
                    </a:solidFill>
                  </a:tcPr>
                </a:tc>
                <a:tc>
                  <a:txBody>
                    <a:bodyP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On-Time</a:t>
                      </a:r>
                      <a:endParaRPr lang="en-US" sz="950" dirty="0">
                        <a:latin typeface="Trebuchet MS" charset="0"/>
                        <a:ea typeface="Trebuchet MS" charset="0"/>
                        <a:cs typeface="Trebuchet MS"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262A31"/>
                    </a:solidFill>
                  </a:tcPr>
                </a:tc>
                <a:tc>
                  <a:txBody>
                    <a:bodyP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Reliab.</a:t>
                      </a:r>
                      <a:endParaRPr lang="en-US" sz="950" dirty="0">
                        <a:latin typeface="Trebuchet MS" charset="0"/>
                        <a:ea typeface="Trebuchet MS" charset="0"/>
                        <a:cs typeface="Trebuchet MS"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262A31"/>
                    </a:solidFill>
                  </a:tcPr>
                </a:tc>
                <a:tc>
                  <a:txBody>
                    <a:bodyP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Defect</a:t>
                      </a:r>
                      <a:endParaRPr lang="en-US" sz="950" dirty="0">
                        <a:latin typeface="Trebuchet MS" charset="0"/>
                        <a:ea typeface="Trebuchet MS" charset="0"/>
                        <a:cs typeface="Trebuchet MS"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262A31"/>
                    </a:solidFill>
                  </a:tcPr>
                </a:tc>
                <a:extLst>
                  <a:ext uri="{0D108BD9-81ED-4DB2-BD59-A6C34878D82A}">
                    <a16:rowId xmlns:a16="http://schemas.microsoft.com/office/drawing/2014/main" val="10000"/>
                  </a:ext>
                </a:extLst>
              </a:tr>
              <a:tr h="420624">
                <a:tc>
                  <a:txBody>
                    <a:bodyPr/>
                    <a:lstStyle/>
                    <a:p>
                      <a:pPr marL="0" indent="0" algn="l">
                        <a:buNone/>
                      </a:pPr>
                      <a:r>
                        <a:rPr lang="en-US" sz="1100" b="1" dirty="0">
                          <a:solidFill>
                            <a:srgbClr val="262A31"/>
                          </a:solidFill>
                          <a:latin typeface="Calibri" pitchFamily="34" charset="0"/>
                          <a:ea typeface="Calibri" pitchFamily="34" charset="-122"/>
                          <a:cs typeface="Calibri" pitchFamily="34" charset="-120"/>
                        </a:rPr>
                        <a:t>EcoSupply</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15.0</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62A31"/>
                          </a:solidFill>
                          <a:latin typeface="Calibri" pitchFamily="34" charset="0"/>
                          <a:ea typeface="Calibri" pitchFamily="34" charset="-122"/>
                          <a:cs typeface="Calibri" pitchFamily="34" charset="-120"/>
                        </a:rPr>
                        <a:t>87.9%</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6E2C2"/>
                    </a:solidFill>
                  </a:tcPr>
                </a:tc>
                <a:tc>
                  <a:txBody>
                    <a:bodyPr/>
                    <a:lstStyle/>
                    <a:p>
                      <a:pPr marL="0" indent="0" algn="ctr">
                        <a:buNone/>
                      </a:pPr>
                      <a:r>
                        <a:rPr lang="en-US" sz="1100" b="1" dirty="0">
                          <a:solidFill>
                            <a:srgbClr val="262A31"/>
                          </a:solidFill>
                          <a:latin typeface="Calibri" pitchFamily="34" charset="0"/>
                          <a:ea typeface="Calibri" pitchFamily="34" charset="-122"/>
                          <a:cs typeface="Calibri" pitchFamily="34" charset="-120"/>
                        </a:rPr>
                        <a:t>93.2%</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100" b="1" dirty="0">
                          <a:solidFill>
                            <a:srgbClr val="262A31"/>
                          </a:solidFill>
                          <a:latin typeface="Calibri" pitchFamily="34" charset="0"/>
                          <a:ea typeface="Calibri" pitchFamily="34" charset="-122"/>
                          <a:cs typeface="Calibri" pitchFamily="34" charset="-120"/>
                        </a:rPr>
                        <a:t>RawMatPlus</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14.2</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90.6%</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92.8%</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2.60%</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100" b="1" dirty="0">
                          <a:solidFill>
                            <a:srgbClr val="262A31"/>
                          </a:solidFill>
                          <a:latin typeface="Calibri" pitchFamily="34" charset="0"/>
                          <a:ea typeface="Calibri" pitchFamily="34" charset="-122"/>
                          <a:cs typeface="Calibri" pitchFamily="34" charset="-120"/>
                        </a:rPr>
                        <a:t>GlobalChem</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62A31"/>
                          </a:solidFill>
                          <a:latin typeface="Calibri" pitchFamily="34" charset="0"/>
                          <a:ea typeface="Calibri" pitchFamily="34" charset="-122"/>
                          <a:cs typeface="Calibri" pitchFamily="34" charset="-120"/>
                        </a:rPr>
                        <a:t>16.4</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6E2C2"/>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90.9%</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92.6%</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2.57%</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100" b="1" dirty="0">
                          <a:solidFill>
                            <a:srgbClr val="262A31"/>
                          </a:solidFill>
                          <a:latin typeface="Calibri" pitchFamily="34" charset="0"/>
                          <a:ea typeface="Calibri" pitchFamily="34" charset="-122"/>
                          <a:cs typeface="Calibri" pitchFamily="34" charset="-120"/>
                        </a:rPr>
                        <a:t>NextGen Pharma</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62A31"/>
                          </a:solidFill>
                          <a:latin typeface="Calibri" pitchFamily="34" charset="0"/>
                          <a:ea typeface="Calibri" pitchFamily="34" charset="-122"/>
                          <a:cs typeface="Calibri" pitchFamily="34" charset="-120"/>
                        </a:rPr>
                        <a:t>10.7</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6E2C2"/>
                    </a:solidFill>
                  </a:tcPr>
                </a:tc>
                <a:tc>
                  <a:txBody>
                    <a:bodyPr/>
                    <a:lstStyle/>
                    <a:p>
                      <a:pPr marL="0" indent="0" algn="ctr">
                        <a:buNone/>
                      </a:pPr>
                      <a:r>
                        <a:rPr lang="en-US" sz="1100" b="1" dirty="0">
                          <a:solidFill>
                            <a:srgbClr val="262A31"/>
                          </a:solidFill>
                          <a:latin typeface="Calibri" pitchFamily="34" charset="0"/>
                          <a:ea typeface="Calibri" pitchFamily="34" charset="-122"/>
                          <a:cs typeface="Calibri" pitchFamily="34" charset="-120"/>
                        </a:rPr>
                        <a:t>91.5%</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6E2C2"/>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91.8%</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2.22%</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a:buNone/>
                      </a:pPr>
                      <a:r>
                        <a:rPr lang="en-US" sz="1100" b="1" dirty="0">
                          <a:solidFill>
                            <a:srgbClr val="262A31"/>
                          </a:solidFill>
                          <a:latin typeface="Calibri" pitchFamily="34" charset="0"/>
                          <a:ea typeface="Calibri" pitchFamily="34" charset="-122"/>
                          <a:cs typeface="Calibri" pitchFamily="34" charset="-120"/>
                        </a:rPr>
                        <a:t>PrimeLogistics</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11.0</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88.0%</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34851"/>
                          </a:solidFill>
                          <a:latin typeface="Calibri" pitchFamily="34" charset="0"/>
                          <a:ea typeface="Calibri" pitchFamily="34" charset="-122"/>
                          <a:cs typeface="Calibri" pitchFamily="34" charset="-120"/>
                        </a:rPr>
                        <a:t>91.4%</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62A31"/>
                          </a:solidFill>
                          <a:latin typeface="Calibri" pitchFamily="34" charset="0"/>
                          <a:ea typeface="Calibri" pitchFamily="34" charset="-122"/>
                          <a:cs typeface="Calibri" pitchFamily="34" charset="-120"/>
                        </a:rPr>
                        <a:t>2.89%</a:t>
                      </a:r>
                      <a:endParaRPr lang="en-US" sz="110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6E2C2"/>
                    </a:solidFill>
                  </a:tcPr>
                </a:tc>
                <a:extLst>
                  <a:ext uri="{0D108BD9-81ED-4DB2-BD59-A6C34878D82A}">
                    <a16:rowId xmlns:a16="http://schemas.microsoft.com/office/drawing/2014/main" val="10005"/>
                  </a:ext>
                </a:extLst>
              </a:tr>
            </a:tbl>
          </a:graphicData>
        </a:graphic>
      </p:graphicFrame>
      <p:sp>
        <p:nvSpPr>
          <p:cNvPr id="5" name="Shape 2"/>
          <p:cNvSpPr/>
          <p:nvPr/>
        </p:nvSpPr>
        <p:spPr>
          <a:xfrm>
            <a:off x="6172200" y="1417320"/>
            <a:ext cx="2468880" cy="2907792"/>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4" name="Shape 3"/>
          <p:cNvSpPr/>
          <p:nvPr/>
        </p:nvSpPr>
        <p:spPr>
          <a:xfrm>
            <a:off x="6172200" y="1417320"/>
            <a:ext cx="2468880" cy="73152"/>
          </a:xfrm>
          <a:prstGeom prst="rect">
            <a:avLst/>
          </a:prstGeom>
          <a:solidFill>
            <a:srgbClr val="E0922F"/>
          </a:solidFill>
          <a:ln/>
        </p:spPr>
        <p:txBody>
          <a:bodyPr/>
          <a:lstStyle/>
          <a:p>
            <a:endParaRPr lang="en-US"/>
          </a:p>
        </p:txBody>
      </p:sp>
      <p:sp>
        <p:nvSpPr>
          <p:cNvPr id="7" name="Text 4"/>
          <p:cNvSpPr/>
          <p:nvPr/>
        </p:nvSpPr>
        <p:spPr>
          <a:xfrm>
            <a:off x="6364224" y="1563624"/>
            <a:ext cx="1828800" cy="256032"/>
          </a:xfrm>
          <a:prstGeom prst="rect">
            <a:avLst/>
          </a:prstGeom>
          <a:noFill/>
          <a:ln/>
        </p:spPr>
        <p:txBody>
          <a:bodyPr wrap="square" lIns="0" tIns="0" rIns="0" bIns="0" rtlCol="0" anchor="ctr"/>
          <a:lstStyle/>
          <a:p>
            <a:pPr marL="0" indent="0">
              <a:buNone/>
            </a:pPr>
            <a:r>
              <a:rPr lang="en-US" sz="1200" b="1" kern="0" spc="200" dirty="0">
                <a:solidFill>
                  <a:srgbClr val="E0922F"/>
                </a:solidFill>
                <a:latin typeface="Trebuchet MS" pitchFamily="34" charset="0"/>
                <a:ea typeface="Trebuchet MS" pitchFamily="34" charset="-122"/>
                <a:cs typeface="Trebuchet MS" pitchFamily="34" charset="-120"/>
              </a:rPr>
              <a:t>READ-OUT</a:t>
            </a:r>
            <a:endParaRPr lang="en-US" sz="1200" dirty="0"/>
          </a:p>
        </p:txBody>
      </p:sp>
      <p:sp>
        <p:nvSpPr>
          <p:cNvPr id="8" name="Text 5"/>
          <p:cNvSpPr/>
          <p:nvPr/>
        </p:nvSpPr>
        <p:spPr>
          <a:xfrm>
            <a:off x="6364224" y="1901952"/>
            <a:ext cx="2103120" cy="182880"/>
          </a:xfrm>
          <a:prstGeom prst="rect">
            <a:avLst/>
          </a:prstGeom>
          <a:noFill/>
          <a:ln/>
        </p:spPr>
        <p:txBody>
          <a:bodyPr wrap="square" lIns="0" tIns="0" rIns="0" bIns="0" rtlCol="0" anchor="ctr"/>
          <a:lstStyle/>
          <a:p>
            <a:pPr marL="0" indent="0">
              <a:buNone/>
            </a:pPr>
            <a:r>
              <a:rPr lang="en-US" sz="850" b="1" kern="0" spc="100" dirty="0">
                <a:solidFill>
                  <a:srgbClr val="8A9099"/>
                </a:solidFill>
                <a:latin typeface="Calibri" pitchFamily="34" charset="0"/>
                <a:ea typeface="Calibri" pitchFamily="34" charset="-122"/>
                <a:cs typeface="Calibri" pitchFamily="34" charset="-120"/>
              </a:rPr>
              <a:t>BEST ON-TIME</a:t>
            </a:r>
            <a:endParaRPr lang="en-US" sz="850" dirty="0"/>
          </a:p>
        </p:txBody>
      </p:sp>
      <p:sp>
        <p:nvSpPr>
          <p:cNvPr id="9" name="Text 6"/>
          <p:cNvSpPr/>
          <p:nvPr/>
        </p:nvSpPr>
        <p:spPr>
          <a:xfrm>
            <a:off x="6364224" y="2066544"/>
            <a:ext cx="2103120" cy="237744"/>
          </a:xfrm>
          <a:prstGeom prst="rect">
            <a:avLst/>
          </a:prstGeom>
          <a:noFill/>
          <a:ln/>
        </p:spPr>
        <p:txBody>
          <a:bodyPr wrap="square" lIns="0" tIns="0" rIns="0" bIns="0" rtlCol="0" anchor="ctr"/>
          <a:lstStyle/>
          <a:p>
            <a:pPr marL="0" indent="0">
              <a:buNone/>
            </a:pPr>
            <a:r>
              <a:rPr lang="en-US" sz="1150" b="1" dirty="0">
                <a:solidFill>
                  <a:srgbClr val="262A31"/>
                </a:solidFill>
                <a:latin typeface="Calibri" pitchFamily="34" charset="0"/>
                <a:ea typeface="Calibri" pitchFamily="34" charset="-122"/>
                <a:cs typeface="Calibri" pitchFamily="34" charset="-120"/>
              </a:rPr>
              <a:t>NextGen Pharma · 91.5%</a:t>
            </a:r>
            <a:endParaRPr lang="en-US" sz="1150" dirty="0"/>
          </a:p>
        </p:txBody>
      </p:sp>
      <p:sp>
        <p:nvSpPr>
          <p:cNvPr id="10" name="Text 7"/>
          <p:cNvSpPr/>
          <p:nvPr/>
        </p:nvSpPr>
        <p:spPr>
          <a:xfrm>
            <a:off x="6364224" y="2386584"/>
            <a:ext cx="2103120" cy="182880"/>
          </a:xfrm>
          <a:prstGeom prst="rect">
            <a:avLst/>
          </a:prstGeom>
          <a:noFill/>
          <a:ln/>
        </p:spPr>
        <p:txBody>
          <a:bodyPr wrap="square" lIns="0" tIns="0" rIns="0" bIns="0" rtlCol="0" anchor="ctr"/>
          <a:lstStyle/>
          <a:p>
            <a:pPr marL="0" indent="0">
              <a:buNone/>
            </a:pPr>
            <a:r>
              <a:rPr lang="en-US" sz="850" b="1" kern="0" spc="100" dirty="0">
                <a:solidFill>
                  <a:srgbClr val="8A9099"/>
                </a:solidFill>
                <a:latin typeface="Calibri" pitchFamily="34" charset="0"/>
                <a:ea typeface="Calibri" pitchFamily="34" charset="-122"/>
                <a:cs typeface="Calibri" pitchFamily="34" charset="-120"/>
              </a:rPr>
              <a:t>LOWEST ON-TIME</a:t>
            </a:r>
            <a:endParaRPr lang="en-US" sz="850" dirty="0"/>
          </a:p>
        </p:txBody>
      </p:sp>
      <p:sp>
        <p:nvSpPr>
          <p:cNvPr id="11" name="Text 8"/>
          <p:cNvSpPr/>
          <p:nvPr/>
        </p:nvSpPr>
        <p:spPr>
          <a:xfrm>
            <a:off x="6364224" y="2551176"/>
            <a:ext cx="2103120" cy="237744"/>
          </a:xfrm>
          <a:prstGeom prst="rect">
            <a:avLst/>
          </a:prstGeom>
          <a:noFill/>
          <a:ln/>
        </p:spPr>
        <p:txBody>
          <a:bodyPr wrap="square" lIns="0" tIns="0" rIns="0" bIns="0" rtlCol="0" anchor="ctr"/>
          <a:lstStyle/>
          <a:p>
            <a:pPr marL="0" indent="0">
              <a:buNone/>
            </a:pPr>
            <a:r>
              <a:rPr lang="en-US" sz="1150" b="1" dirty="0">
                <a:solidFill>
                  <a:srgbClr val="262A31"/>
                </a:solidFill>
                <a:latin typeface="Calibri" pitchFamily="34" charset="0"/>
                <a:ea typeface="Calibri" pitchFamily="34" charset="-122"/>
                <a:cs typeface="Calibri" pitchFamily="34" charset="-120"/>
              </a:rPr>
              <a:t>EcoSupply · 87.9%</a:t>
            </a:r>
            <a:endParaRPr lang="en-US" sz="1150" dirty="0"/>
          </a:p>
        </p:txBody>
      </p:sp>
      <p:sp>
        <p:nvSpPr>
          <p:cNvPr id="12" name="Text 9"/>
          <p:cNvSpPr/>
          <p:nvPr/>
        </p:nvSpPr>
        <p:spPr>
          <a:xfrm>
            <a:off x="6364224" y="2871216"/>
            <a:ext cx="2103120" cy="182880"/>
          </a:xfrm>
          <a:prstGeom prst="rect">
            <a:avLst/>
          </a:prstGeom>
          <a:noFill/>
          <a:ln/>
        </p:spPr>
        <p:txBody>
          <a:bodyPr wrap="square" lIns="0" tIns="0" rIns="0" bIns="0" rtlCol="0" anchor="ctr"/>
          <a:lstStyle/>
          <a:p>
            <a:pPr marL="0" indent="0">
              <a:buNone/>
            </a:pPr>
            <a:r>
              <a:rPr lang="en-US" sz="850" b="1" kern="0" spc="100" dirty="0">
                <a:solidFill>
                  <a:srgbClr val="8A9099"/>
                </a:solidFill>
                <a:latin typeface="Calibri" pitchFamily="34" charset="0"/>
                <a:ea typeface="Calibri" pitchFamily="34" charset="-122"/>
                <a:cs typeface="Calibri" pitchFamily="34" charset="-120"/>
              </a:rPr>
              <a:t>FASTEST DELIVERY</a:t>
            </a:r>
            <a:endParaRPr lang="en-US" sz="850" dirty="0"/>
          </a:p>
        </p:txBody>
      </p:sp>
      <p:sp>
        <p:nvSpPr>
          <p:cNvPr id="13" name="Text 10"/>
          <p:cNvSpPr/>
          <p:nvPr/>
        </p:nvSpPr>
        <p:spPr>
          <a:xfrm>
            <a:off x="6364224" y="3035808"/>
            <a:ext cx="2103120" cy="237744"/>
          </a:xfrm>
          <a:prstGeom prst="rect">
            <a:avLst/>
          </a:prstGeom>
          <a:noFill/>
          <a:ln/>
        </p:spPr>
        <p:txBody>
          <a:bodyPr wrap="square" lIns="0" tIns="0" rIns="0" bIns="0" rtlCol="0" anchor="ctr"/>
          <a:lstStyle/>
          <a:p>
            <a:pPr marL="0" indent="0">
              <a:buNone/>
            </a:pPr>
            <a:r>
              <a:rPr lang="en-US" sz="1150" b="1" dirty="0">
                <a:solidFill>
                  <a:srgbClr val="262A31"/>
                </a:solidFill>
                <a:latin typeface="Calibri" pitchFamily="34" charset="0"/>
                <a:ea typeface="Calibri" pitchFamily="34" charset="-122"/>
                <a:cs typeface="Calibri" pitchFamily="34" charset="-120"/>
              </a:rPr>
              <a:t>NextGen Pharma · 10.7 d</a:t>
            </a:r>
            <a:endParaRPr lang="en-US" sz="1150" dirty="0"/>
          </a:p>
        </p:txBody>
      </p:sp>
      <p:sp>
        <p:nvSpPr>
          <p:cNvPr id="14" name="Text 11"/>
          <p:cNvSpPr/>
          <p:nvPr/>
        </p:nvSpPr>
        <p:spPr>
          <a:xfrm>
            <a:off x="6364224" y="3355848"/>
            <a:ext cx="2103120" cy="182880"/>
          </a:xfrm>
          <a:prstGeom prst="rect">
            <a:avLst/>
          </a:prstGeom>
          <a:noFill/>
          <a:ln/>
        </p:spPr>
        <p:txBody>
          <a:bodyPr wrap="square" lIns="0" tIns="0" rIns="0" bIns="0" rtlCol="0" anchor="ctr"/>
          <a:lstStyle/>
          <a:p>
            <a:pPr marL="0" indent="0">
              <a:buNone/>
            </a:pPr>
            <a:r>
              <a:rPr lang="en-US" sz="850" b="1" kern="0" spc="100" dirty="0">
                <a:solidFill>
                  <a:srgbClr val="8A9099"/>
                </a:solidFill>
                <a:latin typeface="Calibri" pitchFamily="34" charset="0"/>
                <a:ea typeface="Calibri" pitchFamily="34" charset="-122"/>
                <a:cs typeface="Calibri" pitchFamily="34" charset="-120"/>
              </a:rPr>
              <a:t>SLOWEST DELIVERY</a:t>
            </a:r>
            <a:endParaRPr lang="en-US" sz="850" dirty="0"/>
          </a:p>
        </p:txBody>
      </p:sp>
      <p:sp>
        <p:nvSpPr>
          <p:cNvPr id="15" name="Text 12"/>
          <p:cNvSpPr/>
          <p:nvPr/>
        </p:nvSpPr>
        <p:spPr>
          <a:xfrm>
            <a:off x="6364224" y="3520440"/>
            <a:ext cx="2103120" cy="237744"/>
          </a:xfrm>
          <a:prstGeom prst="rect">
            <a:avLst/>
          </a:prstGeom>
          <a:noFill/>
          <a:ln/>
        </p:spPr>
        <p:txBody>
          <a:bodyPr wrap="square" lIns="0" tIns="0" rIns="0" bIns="0" rtlCol="0" anchor="ctr"/>
          <a:lstStyle/>
          <a:p>
            <a:pPr marL="0" indent="0">
              <a:buNone/>
            </a:pPr>
            <a:r>
              <a:rPr lang="en-US" sz="1150" b="1" dirty="0">
                <a:solidFill>
                  <a:srgbClr val="262A31"/>
                </a:solidFill>
                <a:latin typeface="Calibri" pitchFamily="34" charset="0"/>
                <a:ea typeface="Calibri" pitchFamily="34" charset="-122"/>
                <a:cs typeface="Calibri" pitchFamily="34" charset="-120"/>
              </a:rPr>
              <a:t>GlobalChem · 16.4 d</a:t>
            </a:r>
            <a:endParaRPr lang="en-US" sz="1150" dirty="0"/>
          </a:p>
        </p:txBody>
      </p:sp>
      <p:sp>
        <p:nvSpPr>
          <p:cNvPr id="16" name="Text 13"/>
          <p:cNvSpPr/>
          <p:nvPr/>
        </p:nvSpPr>
        <p:spPr>
          <a:xfrm>
            <a:off x="6364224" y="3840480"/>
            <a:ext cx="2103120" cy="182880"/>
          </a:xfrm>
          <a:prstGeom prst="rect">
            <a:avLst/>
          </a:prstGeom>
          <a:noFill/>
          <a:ln/>
        </p:spPr>
        <p:txBody>
          <a:bodyPr wrap="square" lIns="0" tIns="0" rIns="0" bIns="0" rtlCol="0" anchor="ctr"/>
          <a:lstStyle/>
          <a:p>
            <a:pPr marL="0" indent="0">
              <a:buNone/>
            </a:pPr>
            <a:r>
              <a:rPr lang="en-US" sz="850" b="1" kern="0" spc="100" dirty="0">
                <a:solidFill>
                  <a:srgbClr val="8A9099"/>
                </a:solidFill>
                <a:latin typeface="Calibri" pitchFamily="34" charset="0"/>
                <a:ea typeface="Calibri" pitchFamily="34" charset="-122"/>
                <a:cs typeface="Calibri" pitchFamily="34" charset="-120"/>
              </a:rPr>
              <a:t>HIGHEST DEFECT RATE</a:t>
            </a:r>
            <a:endParaRPr lang="en-US" sz="850" dirty="0"/>
          </a:p>
        </p:txBody>
      </p:sp>
      <p:sp>
        <p:nvSpPr>
          <p:cNvPr id="17" name="Text 14"/>
          <p:cNvSpPr/>
          <p:nvPr/>
        </p:nvSpPr>
        <p:spPr>
          <a:xfrm>
            <a:off x="6364224" y="4005072"/>
            <a:ext cx="2103120" cy="237744"/>
          </a:xfrm>
          <a:prstGeom prst="rect">
            <a:avLst/>
          </a:prstGeom>
          <a:noFill/>
          <a:ln/>
        </p:spPr>
        <p:txBody>
          <a:bodyPr wrap="square" lIns="0" tIns="0" rIns="0" bIns="0" rtlCol="0" anchor="ctr"/>
          <a:lstStyle/>
          <a:p>
            <a:pPr marL="0" indent="0">
              <a:buNone/>
            </a:pPr>
            <a:r>
              <a:rPr lang="en-US" sz="1150" b="1" dirty="0">
                <a:solidFill>
                  <a:srgbClr val="262A31"/>
                </a:solidFill>
                <a:latin typeface="Calibri" pitchFamily="34" charset="0"/>
                <a:ea typeface="Calibri" pitchFamily="34" charset="-122"/>
                <a:cs typeface="Calibri" pitchFamily="34" charset="-120"/>
              </a:rPr>
              <a:t>PrimeLogistics · 2.89%</a:t>
            </a:r>
            <a:endParaRPr lang="en-US" sz="1150" dirty="0"/>
          </a:p>
        </p:txBody>
      </p:sp>
      <p:sp>
        <p:nvSpPr>
          <p:cNvPr id="18" name="Text 15"/>
          <p:cNvSpPr/>
          <p:nvPr/>
        </p:nvSpPr>
        <p:spPr>
          <a:xfrm>
            <a:off x="548640" y="4462272"/>
            <a:ext cx="5321808" cy="228600"/>
          </a:xfrm>
          <a:prstGeom prst="rect">
            <a:avLst/>
          </a:prstGeom>
          <a:noFill/>
          <a:ln/>
        </p:spPr>
        <p:txBody>
          <a:bodyPr wrap="square" lIns="0" tIns="0" rIns="0" bIns="0" rtlCol="0" anchor="ctr"/>
          <a:lstStyle/>
          <a:p>
            <a:pPr marL="0" indent="0">
              <a:buNone/>
            </a:pPr>
            <a:r>
              <a:rPr lang="en-US" sz="900" i="1" dirty="0">
                <a:solidFill>
                  <a:srgbClr val="8A9099"/>
                </a:solidFill>
                <a:latin typeface="Calibri" pitchFamily="34" charset="0"/>
                <a:ea typeface="Calibri" pitchFamily="34" charset="-122"/>
                <a:cs typeface="Calibri" pitchFamily="34" charset="-120"/>
              </a:rPr>
              <a:t>Highlighted cells flag each metric's weakest or notable supplier.</a:t>
            </a:r>
            <a:endParaRPr lang="en-US" sz="900" dirty="0"/>
          </a:p>
        </p:txBody>
      </p:sp>
      <p:sp>
        <p:nvSpPr>
          <p:cNvPr id="19" name="Text 16"/>
          <p:cNvSpPr/>
          <p:nvPr/>
        </p:nvSpPr>
        <p:spPr>
          <a:xfrm>
            <a:off x="548640" y="4828032"/>
            <a:ext cx="5486400" cy="228600"/>
          </a:xfrm>
          <a:prstGeom prst="rect">
            <a:avLst/>
          </a:prstGeom>
          <a:noFill/>
          <a:ln/>
        </p:spPr>
        <p:txBody>
          <a:bodyPr wrap="square" lIns="0" tIns="0" rIns="0" bIns="0" rtlCol="0" anchor="ctr"/>
          <a:lstStyle/>
          <a:p>
            <a:pPr marL="0" indent="0">
              <a:buNone/>
            </a:pPr>
            <a:r>
              <a:rPr lang="en-US" sz="800" dirty="0">
                <a:solidFill>
                  <a:srgbClr val="8A9099"/>
                </a:solidFill>
                <a:latin typeface="Calibri" pitchFamily="34" charset="0"/>
                <a:ea typeface="Calibri" pitchFamily="34" charset="-122"/>
                <a:cs typeface="Calibri" pitchFamily="34" charset="-120"/>
              </a:rPr>
              <a:t>Supply Chain Issue Compliance Report</a:t>
            </a:r>
            <a:endParaRPr lang="en-US" sz="800" dirty="0"/>
          </a:p>
        </p:txBody>
      </p:sp>
      <p:sp>
        <p:nvSpPr>
          <p:cNvPr id="20" name="Text 17"/>
          <p:cNvSpPr/>
          <p:nvPr/>
        </p:nvSpPr>
        <p:spPr>
          <a:xfrm>
            <a:off x="5486400" y="4828032"/>
            <a:ext cx="2743200" cy="228600"/>
          </a:xfrm>
          <a:prstGeom prst="rect">
            <a:avLst/>
          </a:prstGeom>
          <a:noFill/>
          <a:ln/>
        </p:spPr>
        <p:txBody>
          <a:bodyPr wrap="square" lIns="0" tIns="0" rIns="0" bIns="0" rtlCol="0" anchor="ctr"/>
          <a:lstStyle/>
          <a:p>
            <a:pPr marL="0" indent="0" algn="r">
              <a:buNone/>
            </a:pPr>
            <a:r>
              <a:rPr lang="en-US" sz="800" dirty="0">
                <a:solidFill>
                  <a:srgbClr val="8A9099"/>
                </a:solidFill>
                <a:latin typeface="Calibri" pitchFamily="34" charset="0"/>
                <a:ea typeface="Calibri" pitchFamily="34" charset="-122"/>
                <a:cs typeface="Calibri" pitchFamily="34" charset="-120"/>
              </a:rPr>
              <a:t>Confidential  |  Compliance &amp; Quality  |  June 2026</a:t>
            </a:r>
            <a:endParaRPr lang="en-US" sz="800" dirty="0"/>
          </a:p>
        </p:txBody>
      </p:sp>
      <p:sp>
        <p:nvSpPr>
          <p:cNvPr id="21" name="Text 18"/>
          <p:cNvSpPr/>
          <p:nvPr/>
        </p:nvSpPr>
        <p:spPr>
          <a:xfrm>
            <a:off x="8321040" y="4828032"/>
            <a:ext cx="274320" cy="228600"/>
          </a:xfrm>
          <a:prstGeom prst="rect">
            <a:avLst/>
          </a:prstGeom>
          <a:noFill/>
          <a:ln/>
        </p:spPr>
        <p:txBody>
          <a:bodyPr wrap="square" lIns="0" tIns="0" rIns="0" bIns="0" rtlCol="0" anchor="ctr"/>
          <a:lstStyle/>
          <a:p>
            <a:pPr marL="0" indent="0" algn="r">
              <a:buNone/>
            </a:pPr>
            <a:r>
              <a:rPr lang="en-US" sz="800" dirty="0">
                <a:solidFill>
                  <a:srgbClr val="8A9099"/>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D"/>
        </a:solidFill>
        <a:effectLst/>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marL="0" indent="0">
              <a:buNone/>
            </a:pPr>
            <a:r>
              <a:rPr lang="en-US" sz="1100" b="1" kern="0" spc="300" dirty="0">
                <a:solidFill>
                  <a:srgbClr val="E0922F"/>
                </a:solidFill>
                <a:latin typeface="Trebuchet MS" pitchFamily="34" charset="0"/>
                <a:ea typeface="Trebuchet MS" pitchFamily="34" charset="-122"/>
                <a:cs typeface="Trebuchet MS" pitchFamily="34" charset="-120"/>
              </a:rPr>
              <a:t>RISK &amp; ROOT CAUSE</a:t>
            </a:r>
            <a:endParaRPr lang="en-US" sz="1100" dirty="0"/>
          </a:p>
        </p:txBody>
      </p:sp>
      <p:sp>
        <p:nvSpPr>
          <p:cNvPr id="3" name="Text 1"/>
          <p:cNvSpPr/>
          <p:nvPr/>
        </p:nvSpPr>
        <p:spPr>
          <a:xfrm>
            <a:off x="548640" y="566928"/>
            <a:ext cx="8046720" cy="603504"/>
          </a:xfrm>
          <a:prstGeom prst="rect">
            <a:avLst/>
          </a:prstGeom>
          <a:noFill/>
          <a:ln/>
        </p:spPr>
        <p:txBody>
          <a:bodyPr wrap="square" lIns="0" tIns="0" rIns="0" bIns="0" rtlCol="0" anchor="ctr"/>
          <a:lstStyle/>
          <a:p>
            <a:pPr marL="0" indent="0">
              <a:buNone/>
            </a:pPr>
            <a:r>
              <a:rPr lang="en-US" sz="2700" b="1" dirty="0">
                <a:solidFill>
                  <a:srgbClr val="262A31"/>
                </a:solidFill>
                <a:latin typeface="Trebuchet MS" pitchFamily="34" charset="0"/>
                <a:ea typeface="Trebuchet MS" pitchFamily="34" charset="-122"/>
                <a:cs typeface="Trebuchet MS" pitchFamily="34" charset="-120"/>
              </a:rPr>
              <a:t>Compliance implications and root causes</a:t>
            </a:r>
            <a:endParaRPr lang="en-US" sz="2700" dirty="0"/>
          </a:p>
        </p:txBody>
      </p:sp>
      <p:sp>
        <p:nvSpPr>
          <p:cNvPr id="4" name="Shape 2"/>
          <p:cNvSpPr/>
          <p:nvPr/>
        </p:nvSpPr>
        <p:spPr>
          <a:xfrm>
            <a:off x="548640" y="1417320"/>
            <a:ext cx="3950208" cy="3017520"/>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5" name="Shape 3"/>
          <p:cNvSpPr/>
          <p:nvPr/>
        </p:nvSpPr>
        <p:spPr>
          <a:xfrm>
            <a:off x="548640" y="1417320"/>
            <a:ext cx="3950208" cy="457200"/>
          </a:xfrm>
          <a:prstGeom prst="rect">
            <a:avLst/>
          </a:prstGeom>
          <a:solidFill>
            <a:srgbClr val="E0922F"/>
          </a:solidFill>
          <a:ln/>
        </p:spPr>
        <p:txBody>
          <a:bodyPr/>
          <a:lstStyle/>
          <a:p>
            <a:endParaRPr lang="en-US"/>
          </a:p>
        </p:txBody>
      </p:sp>
      <p:sp>
        <p:nvSpPr>
          <p:cNvPr id="6" name="Text 4"/>
          <p:cNvSpPr/>
          <p:nvPr/>
        </p:nvSpPr>
        <p:spPr>
          <a:xfrm>
            <a:off x="713232" y="1435608"/>
            <a:ext cx="3657600" cy="420624"/>
          </a:xfrm>
          <a:prstGeom prst="rect">
            <a:avLst/>
          </a:prstGeom>
          <a:noFill/>
          <a:ln/>
        </p:spPr>
        <p:txBody>
          <a:bodyPr wrap="square" lIns="0" tIns="0" rIns="0" bIns="0" rtlCol="0" anchor="ctr"/>
          <a:lstStyle/>
          <a:p>
            <a:pPr marL="0" indent="0">
              <a:buNone/>
            </a:pPr>
            <a:r>
              <a:rPr lang="en-US" sz="1400" b="1" dirty="0">
                <a:solidFill>
                  <a:srgbClr val="262A31"/>
                </a:solidFill>
                <a:latin typeface="Trebuchet MS" pitchFamily="34" charset="0"/>
                <a:ea typeface="Trebuchet MS" pitchFamily="34" charset="-122"/>
                <a:cs typeface="Trebuchet MS" pitchFamily="34" charset="-120"/>
              </a:rPr>
              <a:t>Compliance exposure</a:t>
            </a:r>
            <a:endParaRPr lang="en-US" sz="1400" dirty="0"/>
          </a:p>
        </p:txBody>
      </p:sp>
      <p:sp>
        <p:nvSpPr>
          <p:cNvPr id="7" name="Text 5"/>
          <p:cNvSpPr/>
          <p:nvPr/>
        </p:nvSpPr>
        <p:spPr>
          <a:xfrm>
            <a:off x="713232" y="1984248"/>
            <a:ext cx="3621024" cy="2331720"/>
          </a:xfrm>
          <a:prstGeom prst="rect">
            <a:avLst/>
          </a:prstGeom>
          <a:noFill/>
          <a:ln/>
        </p:spPr>
        <p:txBody>
          <a:bodyPr wrap="square" rtlCol="0" anchor="t"/>
          <a:lstStyle/>
          <a:p>
            <a:pPr marL="177800" indent="-177800">
              <a:spcAft>
                <a:spcPts val="700"/>
              </a:spcAft>
              <a:buSzPct val="100000"/>
              <a:buChar char="•"/>
            </a:pPr>
            <a:r>
              <a:rPr lang="en-US" sz="1150" dirty="0">
                <a:solidFill>
                  <a:srgbClr val="434851"/>
                </a:solidFill>
                <a:latin typeface="Calibri" pitchFamily="34" charset="0"/>
                <a:ea typeface="Calibri" pitchFamily="34" charset="-122"/>
                <a:cs typeface="Calibri" pitchFamily="34" charset="-120"/>
              </a:rPr>
              <a:t>Delays in critical and medium-risk parts disrupt schedules, increase reliance on expedited logistics, and shrink the margin for quality review and release.</a:t>
            </a:r>
            <a:endParaRPr lang="en-US" sz="1150" dirty="0"/>
          </a:p>
          <a:p>
            <a:pPr marL="177800" indent="-177800">
              <a:spcAft>
                <a:spcPts val="700"/>
              </a:spcAft>
              <a:buSzPct val="100000"/>
              <a:buChar char="•"/>
            </a:pPr>
            <a:r>
              <a:rPr lang="en-US" sz="1150" dirty="0">
                <a:solidFill>
                  <a:srgbClr val="434851"/>
                </a:solidFill>
                <a:latin typeface="Calibri" pitchFamily="34" charset="0"/>
                <a:ea typeface="Calibri" pitchFamily="34" charset="-122"/>
                <a:cs typeface="Calibri" pitchFamily="34" charset="-120"/>
              </a:rPr>
              <a:t>BIND567 and COMP043 delay patterns threaten consistent supply for regulated products — central to FDA expectations on reliability, traceability, and availability.</a:t>
            </a:r>
            <a:endParaRPr lang="en-US" sz="1150" dirty="0"/>
          </a:p>
          <a:p>
            <a:pPr marL="177800" indent="-177800">
              <a:buSzPct val="100000"/>
              <a:buChar char="•"/>
            </a:pPr>
            <a:r>
              <a:rPr lang="en-US" sz="1150" dirty="0">
                <a:solidFill>
                  <a:srgbClr val="434851"/>
                </a:solidFill>
                <a:latin typeface="Calibri" pitchFamily="34" charset="0"/>
                <a:ea typeface="Calibri" pitchFamily="34" charset="-122"/>
                <a:cs typeface="Calibri" pitchFamily="34" charset="-120"/>
              </a:rPr>
              <a:t>Exposure is amplified where delays meet high defects (PrimeLogistics) or weak on-time delivery (EcoSupply). Document decisions, remediation, and inventory exceptions to defend audits and inspections.</a:t>
            </a:r>
            <a:endParaRPr lang="en-US" sz="1150" dirty="0"/>
          </a:p>
        </p:txBody>
      </p:sp>
      <p:sp>
        <p:nvSpPr>
          <p:cNvPr id="8" name="Shape 6"/>
          <p:cNvSpPr/>
          <p:nvPr/>
        </p:nvSpPr>
        <p:spPr>
          <a:xfrm>
            <a:off x="4645152" y="1417320"/>
            <a:ext cx="3950208" cy="3017520"/>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9" name="Shape 7"/>
          <p:cNvSpPr/>
          <p:nvPr/>
        </p:nvSpPr>
        <p:spPr>
          <a:xfrm>
            <a:off x="4645152" y="1417320"/>
            <a:ext cx="3950208" cy="457200"/>
          </a:xfrm>
          <a:prstGeom prst="rect">
            <a:avLst/>
          </a:prstGeom>
          <a:solidFill>
            <a:srgbClr val="262A31"/>
          </a:solidFill>
          <a:ln/>
        </p:spPr>
        <p:txBody>
          <a:bodyPr/>
          <a:lstStyle/>
          <a:p>
            <a:endParaRPr lang="en-US"/>
          </a:p>
        </p:txBody>
      </p:sp>
      <p:sp>
        <p:nvSpPr>
          <p:cNvPr id="10" name="Text 8"/>
          <p:cNvSpPr/>
          <p:nvPr/>
        </p:nvSpPr>
        <p:spPr>
          <a:xfrm>
            <a:off x="4809744" y="1435608"/>
            <a:ext cx="3657600" cy="420624"/>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Root causes</a:t>
            </a:r>
            <a:endParaRPr lang="en-US" sz="1400" dirty="0"/>
          </a:p>
        </p:txBody>
      </p:sp>
      <p:sp>
        <p:nvSpPr>
          <p:cNvPr id="11" name="Text 9"/>
          <p:cNvSpPr/>
          <p:nvPr/>
        </p:nvSpPr>
        <p:spPr>
          <a:xfrm>
            <a:off x="4809744" y="1984248"/>
            <a:ext cx="3621024" cy="2331720"/>
          </a:xfrm>
          <a:prstGeom prst="rect">
            <a:avLst/>
          </a:prstGeom>
          <a:noFill/>
          <a:ln/>
        </p:spPr>
        <p:txBody>
          <a:bodyPr wrap="square" rtlCol="0" anchor="t"/>
          <a:lstStyle/>
          <a:p>
            <a:pPr marL="177800" indent="-177800">
              <a:spcAft>
                <a:spcPts val="700"/>
              </a:spcAft>
              <a:buSzPct val="100000"/>
              <a:buChar char="•"/>
            </a:pPr>
            <a:r>
              <a:rPr lang="en-US" sz="1150" dirty="0">
                <a:solidFill>
                  <a:srgbClr val="434851"/>
                </a:solidFill>
                <a:latin typeface="Calibri" pitchFamily="34" charset="0"/>
                <a:ea typeface="Calibri" pitchFamily="34" charset="-122"/>
                <a:cs typeface="Calibri" pitchFamily="34" charset="-120"/>
              </a:rPr>
              <a:t>Uneven supplier execution — EcoSupply reliability masks on-time gaps; PrimeLogistics shows defects and lead-time variance; GlobalChem is structurally slow.</a:t>
            </a:r>
            <a:endParaRPr lang="en-US" sz="1150" dirty="0"/>
          </a:p>
          <a:p>
            <a:pPr marL="177800" indent="-177800">
              <a:spcAft>
                <a:spcPts val="700"/>
              </a:spcAft>
              <a:buSzPct val="100000"/>
              <a:buChar char="•"/>
            </a:pPr>
            <a:r>
              <a:rPr lang="en-US" sz="1150" dirty="0">
                <a:solidFill>
                  <a:srgbClr val="434851"/>
                </a:solidFill>
                <a:latin typeface="Calibri" pitchFamily="34" charset="0"/>
                <a:ea typeface="Calibri" pitchFamily="34" charset="-122"/>
                <a:cs typeface="Calibri" pitchFamily="34" charset="-120"/>
              </a:rPr>
              <a:t>Planning and prioritisation gaps — medium-risk parts wait longest, signalling an escalation gap in procurement workflows.</a:t>
            </a:r>
            <a:endParaRPr lang="en-US" sz="1150" dirty="0"/>
          </a:p>
          <a:p>
            <a:pPr marL="177800" indent="-177800">
              <a:buSzPct val="100000"/>
              <a:buChar char="•"/>
            </a:pPr>
            <a:r>
              <a:rPr lang="en-US" sz="1150" dirty="0">
                <a:solidFill>
                  <a:srgbClr val="434851"/>
                </a:solidFill>
                <a:latin typeface="Calibri" pitchFamily="34" charset="0"/>
                <a:ea typeface="Calibri" pitchFamily="34" charset="-122"/>
                <a:cs typeface="Calibri" pitchFamily="34" charset="-120"/>
              </a:rPr>
              <a:t>Forecasting inaccuracy, insufficient safety stock for select parts, and delayed activation of mitigation such as expedited shipping or alternate sourcing.</a:t>
            </a:r>
            <a:endParaRPr lang="en-US" sz="1150" dirty="0"/>
          </a:p>
        </p:txBody>
      </p:sp>
      <p:sp>
        <p:nvSpPr>
          <p:cNvPr id="12" name="Text 10"/>
          <p:cNvSpPr/>
          <p:nvPr/>
        </p:nvSpPr>
        <p:spPr>
          <a:xfrm>
            <a:off x="548640" y="4828032"/>
            <a:ext cx="5486400" cy="228600"/>
          </a:xfrm>
          <a:prstGeom prst="rect">
            <a:avLst/>
          </a:prstGeom>
          <a:noFill/>
          <a:ln/>
        </p:spPr>
        <p:txBody>
          <a:bodyPr wrap="square" lIns="0" tIns="0" rIns="0" bIns="0" rtlCol="0" anchor="ctr"/>
          <a:lstStyle/>
          <a:p>
            <a:pPr marL="0" indent="0">
              <a:buNone/>
            </a:pPr>
            <a:r>
              <a:rPr lang="en-US" sz="800" dirty="0">
                <a:solidFill>
                  <a:srgbClr val="8A9099"/>
                </a:solidFill>
                <a:latin typeface="Calibri" pitchFamily="34" charset="0"/>
                <a:ea typeface="Calibri" pitchFamily="34" charset="-122"/>
                <a:cs typeface="Calibri" pitchFamily="34" charset="-120"/>
              </a:rPr>
              <a:t>Supply Chain Issue Compliance Report</a:t>
            </a:r>
            <a:endParaRPr lang="en-US" sz="800" dirty="0"/>
          </a:p>
        </p:txBody>
      </p:sp>
      <p:sp>
        <p:nvSpPr>
          <p:cNvPr id="13" name="Text 11"/>
          <p:cNvSpPr/>
          <p:nvPr/>
        </p:nvSpPr>
        <p:spPr>
          <a:xfrm>
            <a:off x="5486400" y="4828032"/>
            <a:ext cx="2743200" cy="228600"/>
          </a:xfrm>
          <a:prstGeom prst="rect">
            <a:avLst/>
          </a:prstGeom>
          <a:noFill/>
          <a:ln/>
        </p:spPr>
        <p:txBody>
          <a:bodyPr wrap="square" lIns="0" tIns="0" rIns="0" bIns="0" rtlCol="0" anchor="ctr"/>
          <a:lstStyle/>
          <a:p>
            <a:pPr marL="0" indent="0" algn="r">
              <a:buNone/>
            </a:pPr>
            <a:r>
              <a:rPr lang="en-US" sz="800" dirty="0">
                <a:solidFill>
                  <a:srgbClr val="8A9099"/>
                </a:solidFill>
                <a:latin typeface="Calibri" pitchFamily="34" charset="0"/>
                <a:ea typeface="Calibri" pitchFamily="34" charset="-122"/>
                <a:cs typeface="Calibri" pitchFamily="34" charset="-120"/>
              </a:rPr>
              <a:t>Confidential  |  Compliance &amp; Quality  |  June 2026</a:t>
            </a:r>
            <a:endParaRPr lang="en-US" sz="800" dirty="0"/>
          </a:p>
        </p:txBody>
      </p:sp>
      <p:sp>
        <p:nvSpPr>
          <p:cNvPr id="14" name="Text 12"/>
          <p:cNvSpPr/>
          <p:nvPr/>
        </p:nvSpPr>
        <p:spPr>
          <a:xfrm>
            <a:off x="8321040" y="4828032"/>
            <a:ext cx="274320" cy="228600"/>
          </a:xfrm>
          <a:prstGeom prst="rect">
            <a:avLst/>
          </a:prstGeom>
          <a:noFill/>
          <a:ln/>
        </p:spPr>
        <p:txBody>
          <a:bodyPr wrap="square" lIns="0" tIns="0" rIns="0" bIns="0" rtlCol="0" anchor="ctr"/>
          <a:lstStyle/>
          <a:p>
            <a:pPr marL="0" indent="0" algn="r">
              <a:buNone/>
            </a:pPr>
            <a:r>
              <a:rPr lang="en-US" sz="800" dirty="0">
                <a:solidFill>
                  <a:srgbClr val="8A9099"/>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D"/>
        </a:solidFill>
        <a:effectLst/>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marL="0" indent="0">
              <a:buNone/>
            </a:pPr>
            <a:r>
              <a:rPr lang="en-US" sz="1100" b="1" kern="0" spc="300" dirty="0">
                <a:solidFill>
                  <a:srgbClr val="E0922F"/>
                </a:solidFill>
                <a:latin typeface="Trebuchet MS" pitchFamily="34" charset="0"/>
                <a:ea typeface="Trebuchet MS" pitchFamily="34" charset="-122"/>
                <a:cs typeface="Trebuchet MS" pitchFamily="34" charset="-120"/>
              </a:rPr>
              <a:t>MITIGATION</a:t>
            </a:r>
            <a:endParaRPr lang="en-US" sz="1100" dirty="0"/>
          </a:p>
        </p:txBody>
      </p:sp>
      <p:sp>
        <p:nvSpPr>
          <p:cNvPr id="3" name="Text 1"/>
          <p:cNvSpPr/>
          <p:nvPr/>
        </p:nvSpPr>
        <p:spPr>
          <a:xfrm>
            <a:off x="548640" y="566928"/>
            <a:ext cx="8046720" cy="603504"/>
          </a:xfrm>
          <a:prstGeom prst="rect">
            <a:avLst/>
          </a:prstGeom>
          <a:noFill/>
          <a:ln/>
        </p:spPr>
        <p:txBody>
          <a:bodyPr wrap="square" lIns="0" tIns="0" rIns="0" bIns="0" rtlCol="0" anchor="ctr"/>
          <a:lstStyle/>
          <a:p>
            <a:pPr marL="0" indent="0">
              <a:buNone/>
            </a:pPr>
            <a:r>
              <a:rPr lang="en-US" sz="2700" b="1" dirty="0">
                <a:solidFill>
                  <a:srgbClr val="262A31"/>
                </a:solidFill>
                <a:latin typeface="Trebuchet MS" pitchFamily="34" charset="0"/>
                <a:ea typeface="Trebuchet MS" pitchFamily="34" charset="-122"/>
                <a:cs typeface="Trebuchet MS" pitchFamily="34" charset="-120"/>
              </a:rPr>
              <a:t>Recommended mitigation strategies</a:t>
            </a:r>
            <a:endParaRPr lang="en-US" sz="2700" dirty="0"/>
          </a:p>
        </p:txBody>
      </p:sp>
      <p:sp>
        <p:nvSpPr>
          <p:cNvPr id="4" name="Shape 2"/>
          <p:cNvSpPr/>
          <p:nvPr/>
        </p:nvSpPr>
        <p:spPr>
          <a:xfrm>
            <a:off x="548640" y="1280160"/>
            <a:ext cx="8046720" cy="1280160"/>
          </a:xfrm>
          <a:prstGeom prst="rect">
            <a:avLst/>
          </a:prstGeom>
          <a:solidFill>
            <a:srgbClr val="FFFFFF"/>
          </a:solidFill>
          <a:ln w="12700">
            <a:solidFill>
              <a:srgbClr val="D8D4CC"/>
            </a:solidFill>
            <a:prstDash val="solid"/>
          </a:ln>
          <a:effectLst>
            <a:outerShdw blurRad="88900" dist="38100" dir="8100000" algn="bl" rotWithShape="0">
              <a:srgbClr val="000000">
                <a:alpha val="16000"/>
              </a:srgbClr>
            </a:outerShdw>
          </a:effectLst>
        </p:spPr>
        <p:txBody>
          <a:bodyPr/>
          <a:lstStyle/>
          <a:p>
            <a:endParaRPr lang="en-US"/>
          </a:p>
        </p:txBody>
      </p:sp>
      <p:sp>
        <p:nvSpPr>
          <p:cNvPr id="5" name="Shape 3"/>
          <p:cNvSpPr/>
          <p:nvPr/>
        </p:nvSpPr>
        <p:spPr>
          <a:xfrm>
            <a:off x="548640" y="1280160"/>
            <a:ext cx="73152" cy="1280160"/>
          </a:xfrm>
          <a:prstGeom prst="rect">
            <a:avLst/>
          </a:prstGeom>
          <a:solidFill>
            <a:srgbClr val="E0922F"/>
          </a:solidFill>
          <a:ln/>
        </p:spPr>
        <p:txBody>
          <a:bodyPr/>
          <a:lstStyle/>
          <a:p>
            <a:endParaRPr lang="en-US"/>
          </a:p>
        </p:txBody>
      </p:sp>
      <p:sp>
        <p:nvSpPr>
          <p:cNvPr id="6" name="Text 4"/>
          <p:cNvSpPr/>
          <p:nvPr/>
        </p:nvSpPr>
        <p:spPr>
          <a:xfrm>
            <a:off x="786384" y="1371600"/>
            <a:ext cx="7589520" cy="237744"/>
          </a:xfrm>
          <a:prstGeom prst="rect">
            <a:avLst/>
          </a:prstGeom>
          <a:noFill/>
          <a:ln/>
        </p:spPr>
        <p:txBody>
          <a:bodyPr wrap="square" lIns="0" tIns="0" rIns="0" bIns="0" rtlCol="0" anchor="ctr"/>
          <a:lstStyle/>
          <a:p>
            <a:pPr marL="0" indent="0">
              <a:buNone/>
            </a:pPr>
            <a:r>
              <a:rPr lang="en-US" sz="1100" b="1" kern="0" spc="200" dirty="0">
                <a:solidFill>
                  <a:srgbClr val="E0922F"/>
                </a:solidFill>
                <a:latin typeface="Trebuchet MS" pitchFamily="34" charset="0"/>
                <a:ea typeface="Trebuchet MS" pitchFamily="34" charset="-122"/>
                <a:cs typeface="Trebuchet MS" pitchFamily="34" charset="-120"/>
              </a:rPr>
              <a:t>PORTFOLIO-WIDE ACTIONS</a:t>
            </a:r>
            <a:endParaRPr lang="en-US" sz="1100" dirty="0"/>
          </a:p>
        </p:txBody>
      </p:sp>
      <p:sp>
        <p:nvSpPr>
          <p:cNvPr id="7" name="Text 5"/>
          <p:cNvSpPr/>
          <p:nvPr/>
        </p:nvSpPr>
        <p:spPr>
          <a:xfrm>
            <a:off x="786384" y="1645920"/>
            <a:ext cx="7644384" cy="841248"/>
          </a:xfrm>
          <a:prstGeom prst="rect">
            <a:avLst/>
          </a:prstGeom>
          <a:noFill/>
          <a:ln/>
        </p:spPr>
        <p:txBody>
          <a:bodyPr wrap="square" lIns="0" tIns="0" rIns="0" bIns="0" rtlCol="0" anchor="t"/>
          <a:lstStyle/>
          <a:p>
            <a:pPr marL="177800" indent="-177800">
              <a:spcAft>
                <a:spcPts val="400"/>
              </a:spcAft>
              <a:buSzPct val="100000"/>
              <a:buChar char="•"/>
            </a:pPr>
            <a:r>
              <a:rPr lang="en-US" sz="1150" b="1" dirty="0">
                <a:solidFill>
                  <a:srgbClr val="262A31"/>
                </a:solidFill>
                <a:latin typeface="Calibri" pitchFamily="34" charset="0"/>
                <a:ea typeface="Calibri" pitchFamily="34" charset="-122"/>
                <a:cs typeface="Calibri" pitchFamily="34" charset="-120"/>
              </a:rPr>
              <a:t>Expand supplier scorecards</a:t>
            </a:r>
            <a:r>
              <a:rPr lang="en-US" sz="1150" dirty="0">
                <a:solidFill>
                  <a:srgbClr val="434851"/>
                </a:solidFill>
                <a:latin typeface="Calibri" pitchFamily="34" charset="0"/>
                <a:ea typeface="Calibri" pitchFamily="34" charset="-122"/>
                <a:cs typeface="Calibri" pitchFamily="34" charset="-120"/>
              </a:rPr>
              <a:t> to weight on-time delivery, lead-time variance, and defect trends — not reliability alone.</a:t>
            </a:r>
            <a:endParaRPr lang="en-US" sz="1150" dirty="0"/>
          </a:p>
          <a:p>
            <a:pPr marL="177800" indent="-177800">
              <a:spcAft>
                <a:spcPts val="400"/>
              </a:spcAft>
              <a:buSzPct val="100000"/>
              <a:buChar char="•"/>
            </a:pPr>
            <a:r>
              <a:rPr lang="en-US" sz="1150" b="1" dirty="0">
                <a:solidFill>
                  <a:srgbClr val="262A31"/>
                </a:solidFill>
                <a:latin typeface="Calibri" pitchFamily="34" charset="0"/>
                <a:ea typeface="Calibri" pitchFamily="34" charset="-122"/>
                <a:cs typeface="Calibri" pitchFamily="34" charset="-120"/>
              </a:rPr>
              <a:t>Reprioritise medium-risk parts</a:t>
            </a:r>
            <a:r>
              <a:rPr lang="en-US" sz="1150" dirty="0">
                <a:solidFill>
                  <a:srgbClr val="434851"/>
                </a:solidFill>
                <a:latin typeface="Calibri" pitchFamily="34" charset="0"/>
                <a:ea typeface="Calibri" pitchFamily="34" charset="-122"/>
                <a:cs typeface="Calibri" pitchFamily="34" charset="-120"/>
              </a:rPr>
              <a:t> that support time-sensitive or compliance-relevant production.</a:t>
            </a:r>
            <a:endParaRPr lang="en-US" sz="1150" dirty="0"/>
          </a:p>
          <a:p>
            <a:pPr marL="177800" indent="-177800">
              <a:spcAft>
                <a:spcPts val="400"/>
              </a:spcAft>
              <a:buSzPct val="100000"/>
              <a:buChar char="•"/>
            </a:pPr>
            <a:r>
              <a:rPr lang="en-US" sz="1150" b="1" dirty="0">
                <a:solidFill>
                  <a:srgbClr val="262A31"/>
                </a:solidFill>
                <a:latin typeface="Calibri" pitchFamily="34" charset="0"/>
                <a:ea typeface="Calibri" pitchFamily="34" charset="-122"/>
                <a:cs typeface="Calibri" pitchFamily="34" charset="-120"/>
              </a:rPr>
              <a:t>Reset safety stock and reorder points</a:t>
            </a:r>
            <a:r>
              <a:rPr lang="en-US" sz="1150" dirty="0">
                <a:solidFill>
                  <a:srgbClr val="434851"/>
                </a:solidFill>
                <a:latin typeface="Calibri" pitchFamily="34" charset="0"/>
                <a:ea typeface="Calibri" pitchFamily="34" charset="-122"/>
                <a:cs typeface="Calibri" pitchFamily="34" charset="-120"/>
              </a:rPr>
              <a:t> for delay-prone parts and define escalation triggers.</a:t>
            </a:r>
            <a:endParaRPr lang="en-US" sz="1150" dirty="0"/>
          </a:p>
        </p:txBody>
      </p:sp>
      <p:sp>
        <p:nvSpPr>
          <p:cNvPr id="8" name="Text 6"/>
          <p:cNvSpPr/>
          <p:nvPr/>
        </p:nvSpPr>
        <p:spPr>
          <a:xfrm>
            <a:off x="548640" y="2615184"/>
            <a:ext cx="8046720" cy="237744"/>
          </a:xfrm>
          <a:prstGeom prst="rect">
            <a:avLst/>
          </a:prstGeom>
          <a:noFill/>
          <a:ln/>
        </p:spPr>
        <p:txBody>
          <a:bodyPr wrap="square" lIns="0" tIns="0" rIns="0" bIns="0" rtlCol="0" anchor="ctr"/>
          <a:lstStyle/>
          <a:p>
            <a:pPr marL="0" indent="0">
              <a:buNone/>
            </a:pPr>
            <a:r>
              <a:rPr lang="en-US" sz="1100" b="1" kern="0" spc="200" dirty="0">
                <a:solidFill>
                  <a:srgbClr val="3C424C"/>
                </a:solidFill>
                <a:latin typeface="Trebuchet MS" pitchFamily="34" charset="0"/>
                <a:ea typeface="Trebuchet MS" pitchFamily="34" charset="-122"/>
                <a:cs typeface="Trebuchet MS" pitchFamily="34" charset="-120"/>
              </a:rPr>
              <a:t>COMPONENT-SPECIFIC ACTIONS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889504"/>
          <a:ext cx="8046720" cy="1627632"/>
        </p:xfrm>
        <a:graphic>
          <a:graphicData uri="http://schemas.openxmlformats.org/drawingml/2006/table">
            <a:tbl>
              <a:tblPr/>
              <a:tblGrid>
                <a:gridCol w="1371600">
                  <a:extLst>
                    <a:ext uri="{9D8B030D-6E8A-4147-A177-3AD203B41FA5}">
                      <a16:colId xmlns:a16="http://schemas.microsoft.com/office/drawing/2014/main" val="20000"/>
                    </a:ext>
                  </a:extLst>
                </a:gridCol>
                <a:gridCol w="6675120">
                  <a:extLst>
                    <a:ext uri="{9D8B030D-6E8A-4147-A177-3AD203B41FA5}">
                      <a16:colId xmlns:a16="http://schemas.microsoft.com/office/drawing/2014/main" val="20001"/>
                    </a:ext>
                  </a:extLst>
                </a:gridCol>
              </a:tblGrid>
              <a:tr h="256032">
                <a:tc>
                  <a:txBody>
                    <a:bodyPr/>
                    <a:lstStyle/>
                    <a:p>
                      <a:pPr marL="0" indent="0" algn="l">
                        <a:buNone/>
                      </a:pPr>
                      <a:r>
                        <a:rPr lang="en-US" sz="1050" b="1" dirty="0">
                          <a:solidFill>
                            <a:srgbClr val="FFFFFF"/>
                          </a:solidFill>
                          <a:latin typeface="Trebuchet MS" pitchFamily="34" charset="0"/>
                          <a:ea typeface="Trebuchet MS" pitchFamily="34" charset="-122"/>
                          <a:cs typeface="Trebuchet MS" pitchFamily="34" charset="-120"/>
                        </a:rPr>
                        <a:t>Component</a:t>
                      </a:r>
                      <a:endParaRPr lang="en-US" sz="1050" dirty="0">
                        <a:latin typeface="Trebuchet MS" charset="0"/>
                        <a:ea typeface="Trebuchet MS" charset="0"/>
                        <a:cs typeface="Trebuchet MS"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262A31"/>
                    </a:solidFill>
                  </a:tcPr>
                </a:tc>
                <a:tc>
                  <a:txBody>
                    <a:bodyPr/>
                    <a:lstStyle/>
                    <a:p>
                      <a:pPr marL="0" indent="0" algn="l">
                        <a:buNone/>
                      </a:pPr>
                      <a:r>
                        <a:rPr lang="en-US" sz="1050" b="1" dirty="0">
                          <a:solidFill>
                            <a:srgbClr val="FFFFFF"/>
                          </a:solidFill>
                          <a:latin typeface="Trebuchet MS" pitchFamily="34" charset="0"/>
                          <a:ea typeface="Trebuchet MS" pitchFamily="34" charset="-122"/>
                          <a:cs typeface="Trebuchet MS" pitchFamily="34" charset="-120"/>
                        </a:rPr>
                        <a:t>Recommended action</a:t>
                      </a:r>
                      <a:endParaRPr lang="en-US" sz="1050" dirty="0">
                        <a:latin typeface="Trebuchet MS" charset="0"/>
                        <a:ea typeface="Trebuchet MS" charset="0"/>
                        <a:cs typeface="Trebuchet MS"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262A31"/>
                    </a:solidFill>
                  </a:tcPr>
                </a:tc>
                <a:extLst>
                  <a:ext uri="{0D108BD9-81ED-4DB2-BD59-A6C34878D82A}">
                    <a16:rowId xmlns:a16="http://schemas.microsoft.com/office/drawing/2014/main" val="10000"/>
                  </a:ext>
                </a:extLst>
              </a:tr>
              <a:tr h="274320">
                <a:tc>
                  <a:txBody>
                    <a:bodyPr/>
                    <a:lstStyle/>
                    <a:p>
                      <a:pPr marL="0" indent="0" algn="l">
                        <a:buNone/>
                      </a:pPr>
                      <a:r>
                        <a:rPr lang="en-US" sz="1050" b="1" dirty="0">
                          <a:solidFill>
                            <a:srgbClr val="262A31"/>
                          </a:solidFill>
                          <a:latin typeface="Calibri" pitchFamily="34" charset="0"/>
                          <a:ea typeface="Calibri" pitchFamily="34" charset="-122"/>
                          <a:cs typeface="Calibri" pitchFamily="34" charset="-120"/>
                        </a:rPr>
                        <a:t>BIND567</a:t>
                      </a:r>
                      <a:endParaRPr lang="en-US" sz="105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34851"/>
                          </a:solidFill>
                          <a:latin typeface="Calibri" pitchFamily="34" charset="0"/>
                          <a:ea typeface="Calibri" pitchFamily="34" charset="-122"/>
                          <a:cs typeface="Calibri" pitchFamily="34" charset="-120"/>
                        </a:rPr>
                        <a:t>Negotiate expedited shipping with EcoSupply; raise inventory buffer.</a:t>
                      </a:r>
                      <a:endParaRPr lang="en-US" sz="105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050" b="1" dirty="0">
                          <a:solidFill>
                            <a:srgbClr val="262A31"/>
                          </a:solidFill>
                          <a:latin typeface="Calibri" pitchFamily="34" charset="0"/>
                          <a:ea typeface="Calibri" pitchFamily="34" charset="-122"/>
                          <a:cs typeface="Calibri" pitchFamily="34" charset="-120"/>
                        </a:rPr>
                        <a:t>CARB123</a:t>
                      </a:r>
                      <a:endParaRPr lang="en-US" sz="105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34851"/>
                          </a:solidFill>
                          <a:latin typeface="Calibri" pitchFamily="34" charset="0"/>
                          <a:ea typeface="Calibri" pitchFamily="34" charset="-122"/>
                          <a:cs typeface="Calibri" pitchFamily="34" charset="-120"/>
                        </a:rPr>
                        <a:t>Review sourcing and planning assumptions; stabilise procurement approach.</a:t>
                      </a:r>
                      <a:endParaRPr lang="en-US" sz="105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50" b="1" dirty="0">
                          <a:solidFill>
                            <a:srgbClr val="262A31"/>
                          </a:solidFill>
                          <a:latin typeface="Calibri" pitchFamily="34" charset="0"/>
                          <a:ea typeface="Calibri" pitchFamily="34" charset="-122"/>
                          <a:cs typeface="Calibri" pitchFamily="34" charset="-120"/>
                        </a:rPr>
                        <a:t>COAT890</a:t>
                      </a:r>
                      <a:endParaRPr lang="en-US" sz="105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34851"/>
                          </a:solidFill>
                          <a:latin typeface="Calibri" pitchFamily="34" charset="0"/>
                          <a:ea typeface="Calibri" pitchFamily="34" charset="-122"/>
                          <a:cs typeface="Calibri" pitchFamily="34" charset="-120"/>
                        </a:rPr>
                        <a:t>Strengthen supplier follow-up; assess alternate sourcing.</a:t>
                      </a:r>
                      <a:endParaRPr lang="en-US" sz="105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050" b="1" dirty="0">
                          <a:solidFill>
                            <a:srgbClr val="262A31"/>
                          </a:solidFill>
                          <a:latin typeface="Calibri" pitchFamily="34" charset="0"/>
                          <a:ea typeface="Calibri" pitchFamily="34" charset="-122"/>
                          <a:cs typeface="Calibri" pitchFamily="34" charset="-120"/>
                        </a:rPr>
                        <a:t>COMP042</a:t>
                      </a:r>
                      <a:endParaRPr lang="en-US" sz="105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34851"/>
                          </a:solidFill>
                          <a:latin typeface="Calibri" pitchFamily="34" charset="0"/>
                          <a:ea typeface="Calibri" pitchFamily="34" charset="-122"/>
                          <a:cs typeface="Calibri" pitchFamily="34" charset="-120"/>
                        </a:rPr>
                        <a:t>Partner with PrimeLogistics on demand planning; adjust order cycles for lead-time variance.</a:t>
                      </a:r>
                      <a:endParaRPr lang="en-US" sz="105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1050" b="1" dirty="0">
                          <a:solidFill>
                            <a:srgbClr val="262A31"/>
                          </a:solidFill>
                          <a:latin typeface="Calibri" pitchFamily="34" charset="0"/>
                          <a:ea typeface="Calibri" pitchFamily="34" charset="-122"/>
                          <a:cs typeface="Calibri" pitchFamily="34" charset="-120"/>
                        </a:rPr>
                        <a:t>COMP043</a:t>
                      </a:r>
                      <a:endParaRPr lang="en-US" sz="105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34851"/>
                          </a:solidFill>
                          <a:latin typeface="Calibri" pitchFamily="34" charset="0"/>
                          <a:ea typeface="Calibri" pitchFamily="34" charset="-122"/>
                          <a:cs typeface="Calibri" pitchFamily="34" charset="-120"/>
                        </a:rPr>
                        <a:t>Improve forecasting with NextGen Pharma; add dynamic inventory replenishment.</a:t>
                      </a:r>
                      <a:endParaRPr lang="en-US" sz="1050" dirty="0">
                        <a:latin typeface="Calibri" charset="0"/>
                        <a:ea typeface="Calibri" charset="0"/>
                        <a:cs typeface="Calibri" charset="0"/>
                      </a:endParaRPr>
                    </a:p>
                  </a:txBody>
                  <a:tcPr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7"/>
          <p:cNvSpPr/>
          <p:nvPr/>
        </p:nvSpPr>
        <p:spPr>
          <a:xfrm>
            <a:off x="548640" y="4590288"/>
            <a:ext cx="8046720" cy="201168"/>
          </a:xfrm>
          <a:prstGeom prst="rect">
            <a:avLst/>
          </a:prstGeom>
          <a:noFill/>
          <a:ln/>
        </p:spPr>
        <p:txBody>
          <a:bodyPr wrap="square" lIns="0" tIns="0" rIns="0" bIns="0" rtlCol="0" anchor="ctr"/>
          <a:lstStyle/>
          <a:p>
            <a:pPr marL="0" indent="0">
              <a:buNone/>
            </a:pPr>
            <a:r>
              <a:rPr lang="en-US" sz="950" i="1" dirty="0">
                <a:solidFill>
                  <a:srgbClr val="8A9099"/>
                </a:solidFill>
                <a:latin typeface="Calibri" pitchFamily="34" charset="0"/>
                <a:ea typeface="Calibri" pitchFamily="34" charset="-122"/>
                <a:cs typeface="Calibri" pitchFamily="34" charset="-120"/>
              </a:rPr>
              <a:t>All mitigation steps should be documented and tracked through formal supplier governance or quality review.</a:t>
            </a:r>
            <a:endParaRPr lang="en-US" sz="950" dirty="0"/>
          </a:p>
        </p:txBody>
      </p:sp>
      <p:sp>
        <p:nvSpPr>
          <p:cNvPr id="11" name="Text 8"/>
          <p:cNvSpPr/>
          <p:nvPr/>
        </p:nvSpPr>
        <p:spPr>
          <a:xfrm>
            <a:off x="548640" y="4828032"/>
            <a:ext cx="5486400" cy="228600"/>
          </a:xfrm>
          <a:prstGeom prst="rect">
            <a:avLst/>
          </a:prstGeom>
          <a:noFill/>
          <a:ln/>
        </p:spPr>
        <p:txBody>
          <a:bodyPr wrap="square" lIns="0" tIns="0" rIns="0" bIns="0" rtlCol="0" anchor="ctr"/>
          <a:lstStyle/>
          <a:p>
            <a:pPr marL="0" indent="0">
              <a:buNone/>
            </a:pPr>
            <a:r>
              <a:rPr lang="en-US" sz="800" dirty="0">
                <a:solidFill>
                  <a:srgbClr val="8A9099"/>
                </a:solidFill>
                <a:latin typeface="Calibri" pitchFamily="34" charset="0"/>
                <a:ea typeface="Calibri" pitchFamily="34" charset="-122"/>
                <a:cs typeface="Calibri" pitchFamily="34" charset="-120"/>
              </a:rPr>
              <a:t>Supply Chain Issue Compliance Report</a:t>
            </a:r>
            <a:endParaRPr lang="en-US" sz="800" dirty="0"/>
          </a:p>
        </p:txBody>
      </p:sp>
      <p:sp>
        <p:nvSpPr>
          <p:cNvPr id="12" name="Text 9"/>
          <p:cNvSpPr/>
          <p:nvPr/>
        </p:nvSpPr>
        <p:spPr>
          <a:xfrm>
            <a:off x="5486400" y="4828032"/>
            <a:ext cx="2743200" cy="228600"/>
          </a:xfrm>
          <a:prstGeom prst="rect">
            <a:avLst/>
          </a:prstGeom>
          <a:noFill/>
          <a:ln/>
        </p:spPr>
        <p:txBody>
          <a:bodyPr wrap="square" lIns="0" tIns="0" rIns="0" bIns="0" rtlCol="0" anchor="ctr"/>
          <a:lstStyle/>
          <a:p>
            <a:pPr marL="0" indent="0" algn="r">
              <a:buNone/>
            </a:pPr>
            <a:r>
              <a:rPr lang="en-US" sz="800" dirty="0">
                <a:solidFill>
                  <a:srgbClr val="8A9099"/>
                </a:solidFill>
                <a:latin typeface="Calibri" pitchFamily="34" charset="0"/>
                <a:ea typeface="Calibri" pitchFamily="34" charset="-122"/>
                <a:cs typeface="Calibri" pitchFamily="34" charset="-120"/>
              </a:rPr>
              <a:t>Confidential  |  Compliance &amp; Quality  |  June 2026</a:t>
            </a:r>
            <a:endParaRPr lang="en-US" sz="800" dirty="0"/>
          </a:p>
        </p:txBody>
      </p:sp>
      <p:sp>
        <p:nvSpPr>
          <p:cNvPr id="13" name="Text 10"/>
          <p:cNvSpPr/>
          <p:nvPr/>
        </p:nvSpPr>
        <p:spPr>
          <a:xfrm>
            <a:off x="8321040" y="4828032"/>
            <a:ext cx="274320" cy="228600"/>
          </a:xfrm>
          <a:prstGeom prst="rect">
            <a:avLst/>
          </a:prstGeom>
          <a:noFill/>
          <a:ln/>
        </p:spPr>
        <p:txBody>
          <a:bodyPr wrap="square" lIns="0" tIns="0" rIns="0" bIns="0" rtlCol="0" anchor="ctr"/>
          <a:lstStyle/>
          <a:p>
            <a:pPr marL="0" indent="0" algn="r">
              <a:buNone/>
            </a:pPr>
            <a:r>
              <a:rPr lang="en-US" sz="800" dirty="0">
                <a:solidFill>
                  <a:srgbClr val="8A9099"/>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ca48ea3-8c75-4d36-b64f-70604b11fd22}" enabled="1" method="Standard" siteId="{3ac94b33-9135-4821-9502-eafda6592a35}" contentBits="0" removed="0"/>
</clbl:labelList>
</file>

<file path=docProps/app.xml><?xml version="1.0" encoding="utf-8"?>
<Properties xmlns="http://schemas.openxmlformats.org/officeDocument/2006/extended-properties" xmlns:vt="http://schemas.openxmlformats.org/officeDocument/2006/docPropsVTypes">
  <TotalTime>19</TotalTime>
  <Words>1634</Words>
  <Application>Microsoft Office PowerPoint</Application>
  <PresentationFormat>On-screen Show (16:9)</PresentationFormat>
  <Paragraphs>160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JnJ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Narayanan, Arvinth [GTSUS]</dc:creator>
  <cp:lastModifiedBy>Narayanan, Arvinth [GTSUS]</cp:lastModifiedBy>
  <cp:revision>1</cp:revision>
  <dcterms:created xsi:type="dcterms:W3CDTF">2026-06-11T21:20:13Z</dcterms:created>
  <dcterms:modified xsi:type="dcterms:W3CDTF">2026-06-11T21:40:00Z</dcterms:modified>
</cp:coreProperties>
</file>